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c792e2c9484428" /><Relationship Type="http://schemas.openxmlformats.org/officeDocument/2006/relationships/extended-properties" Target="/docProps/app.xml" Id="R6e010f25d7ed4545" /><Relationship Type="http://schemas.openxmlformats.org/officeDocument/2006/relationships/officeDocument" Target="/ppt/presentation.xml" Id="R0cde4baa71f74d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f4fe8933304bdf"/>
  </p:sldMasterIdLst>
  <p:notesMasterIdLst>
    <p:notesMasterId xmlns:r="http://schemas.openxmlformats.org/officeDocument/2006/relationships" r:id="R2342f334f7e64bc1"/>
  </p:notesMasterIdLst>
  <p:sldIdLst>
    <p:sldId xmlns:r="http://schemas.openxmlformats.org/officeDocument/2006/relationships" id="256" r:id="R0b3b16ce99c44cad"/>
    <p:sldId xmlns:r="http://schemas.openxmlformats.org/officeDocument/2006/relationships" id="257" r:id="R0cbe7f2cf2f34082"/>
    <p:sldId xmlns:r="http://schemas.openxmlformats.org/officeDocument/2006/relationships" id="258" r:id="R94f786ceac104bc5"/>
    <p:sldId xmlns:r="http://schemas.openxmlformats.org/officeDocument/2006/relationships" id="259" r:id="R44b5ff707a1a4dcb"/>
    <p:sldId xmlns:r="http://schemas.openxmlformats.org/officeDocument/2006/relationships" id="260" r:id="Ra8d044d836e44205"/>
    <p:sldId xmlns:r="http://schemas.openxmlformats.org/officeDocument/2006/relationships" id="261" r:id="R926198232a2343ba"/>
    <p:sldId xmlns:r="http://schemas.openxmlformats.org/officeDocument/2006/relationships" id="262" r:id="R4f45b64d7d8c44f8"/>
    <p:sldId xmlns:r="http://schemas.openxmlformats.org/officeDocument/2006/relationships" id="263" r:id="R40dbf02fb89247b1"/>
    <p:sldId xmlns:r="http://schemas.openxmlformats.org/officeDocument/2006/relationships" id="264" r:id="R031eb338e7184def"/>
    <p:sldId xmlns:r="http://schemas.openxmlformats.org/officeDocument/2006/relationships" id="265" r:id="Rf308b9a1b81346c8"/>
    <p:sldId xmlns:r="http://schemas.openxmlformats.org/officeDocument/2006/relationships" id="266" r:id="R5dad1a3f833c42e7"/>
    <p:sldId xmlns:r="http://schemas.openxmlformats.org/officeDocument/2006/relationships" id="267" r:id="R0b70e041dd29467e"/>
    <p:sldId xmlns:r="http://schemas.openxmlformats.org/officeDocument/2006/relationships" id="268" r:id="R1d40f07e44974c91"/>
    <p:sldId xmlns:r="http://schemas.openxmlformats.org/officeDocument/2006/relationships" id="269" r:id="R34248f4af4c640ac"/>
    <p:sldId xmlns:r="http://schemas.openxmlformats.org/officeDocument/2006/relationships" id="270" r:id="Rcf9831692b5d4a58"/>
    <p:sldId xmlns:r="http://schemas.openxmlformats.org/officeDocument/2006/relationships" id="271" r:id="R240dd05bf36540a4"/>
    <p:sldId xmlns:r="http://schemas.openxmlformats.org/officeDocument/2006/relationships" id="272" r:id="R5cf3565a01774c2f"/>
    <p:sldId xmlns:r="http://schemas.openxmlformats.org/officeDocument/2006/relationships" id="273" r:id="R74af283b273a4664"/>
    <p:sldId xmlns:r="http://schemas.openxmlformats.org/officeDocument/2006/relationships" id="274" r:id="R49a3c5a55a6849ec"/>
    <p:sldId xmlns:r="http://schemas.openxmlformats.org/officeDocument/2006/relationships" id="275" r:id="Rdbb27bb214d642b8"/>
    <p:sldId xmlns:r="http://schemas.openxmlformats.org/officeDocument/2006/relationships" id="276" r:id="Rd3337fb9367b459c"/>
    <p:sldId xmlns:r="http://schemas.openxmlformats.org/officeDocument/2006/relationships" id="277" r:id="Rf664f20307734f10"/>
    <p:sldId xmlns:r="http://schemas.openxmlformats.org/officeDocument/2006/relationships" id="278" r:id="Rc6b087bf5d7b4132"/>
    <p:sldId xmlns:r="http://schemas.openxmlformats.org/officeDocument/2006/relationships" id="279" r:id="R8feb460eda79405d"/>
    <p:sldId xmlns:r="http://schemas.openxmlformats.org/officeDocument/2006/relationships" id="280" r:id="R97527cb995ef43f9"/>
    <p:sldId xmlns:r="http://schemas.openxmlformats.org/officeDocument/2006/relationships" id="281" r:id="Rd8fbf89a3c844d09"/>
    <p:sldId xmlns:r="http://schemas.openxmlformats.org/officeDocument/2006/relationships" id="282" r:id="R422325133b934251"/>
    <p:sldId xmlns:r="http://schemas.openxmlformats.org/officeDocument/2006/relationships" id="283" r:id="Rf3441e445ec047a9"/>
    <p:sldId xmlns:r="http://schemas.openxmlformats.org/officeDocument/2006/relationships" id="284" r:id="Re3e425ca1f354bf3"/>
    <p:sldId xmlns:r="http://schemas.openxmlformats.org/officeDocument/2006/relationships" id="285" r:id="R74da160d6d3e4338"/>
    <p:sldId xmlns:r="http://schemas.openxmlformats.org/officeDocument/2006/relationships" id="286" r:id="R0c985811a35f47a4"/>
    <p:sldId xmlns:r="http://schemas.openxmlformats.org/officeDocument/2006/relationships" id="287" r:id="R5a80b6fd7bf842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ee4669c5364726" /><Relationship Type="http://schemas.openxmlformats.org/officeDocument/2006/relationships/slideMaster" Target="/ppt/slideMasters/slideMaster1.xml" Id="Rd5f4fe8933304bdf" /><Relationship Type="http://schemas.openxmlformats.org/officeDocument/2006/relationships/notesMaster" Target="/ppt/notesMasters/notesMaster1.xml" Id="R2342f334f7e64bc1" /><Relationship Type="http://schemas.openxmlformats.org/officeDocument/2006/relationships/presProps" Target="/ppt/presProps.xml" Id="R18e0fd1babe34d28" /><Relationship Type="http://schemas.openxmlformats.org/officeDocument/2006/relationships/tableStyles" Target="/ppt/tableStyles.xml" Id="Re13a1958386a4180" /><Relationship Type="http://schemas.openxmlformats.org/officeDocument/2006/relationships/slide" Target="/ppt/slides/slide1.xml" Id="R0b3b16ce99c44cad" /><Relationship Type="http://schemas.openxmlformats.org/officeDocument/2006/relationships/slide" Target="/ppt/slides/slide2.xml" Id="R0cbe7f2cf2f34082" /><Relationship Type="http://schemas.openxmlformats.org/officeDocument/2006/relationships/slide" Target="/ppt/slides/slide3.xml" Id="R94f786ceac104bc5" /><Relationship Type="http://schemas.openxmlformats.org/officeDocument/2006/relationships/slide" Target="/ppt/slides/slide4.xml" Id="R44b5ff707a1a4dcb" /><Relationship Type="http://schemas.openxmlformats.org/officeDocument/2006/relationships/slide" Target="/ppt/slides/slide5.xml" Id="Ra8d044d836e44205" /><Relationship Type="http://schemas.openxmlformats.org/officeDocument/2006/relationships/slide" Target="/ppt/slides/slide6.xml" Id="R926198232a2343ba" /><Relationship Type="http://schemas.openxmlformats.org/officeDocument/2006/relationships/slide" Target="/ppt/slides/slide7.xml" Id="R4f45b64d7d8c44f8" /><Relationship Type="http://schemas.openxmlformats.org/officeDocument/2006/relationships/slide" Target="/ppt/slides/slide8.xml" Id="R40dbf02fb89247b1" /><Relationship Type="http://schemas.openxmlformats.org/officeDocument/2006/relationships/slide" Target="/ppt/slides/slide9.xml" Id="R031eb338e7184def" /><Relationship Type="http://schemas.openxmlformats.org/officeDocument/2006/relationships/slide" Target="/ppt/slides/slide10.xml" Id="Rf308b9a1b81346c8" /><Relationship Type="http://schemas.openxmlformats.org/officeDocument/2006/relationships/slide" Target="/ppt/slides/slide11.xml" Id="R5dad1a3f833c42e7" /><Relationship Type="http://schemas.openxmlformats.org/officeDocument/2006/relationships/slide" Target="/ppt/slides/slide12.xml" Id="R0b70e041dd29467e" /><Relationship Type="http://schemas.openxmlformats.org/officeDocument/2006/relationships/slide" Target="/ppt/slides/slide13.xml" Id="R1d40f07e44974c91" /><Relationship Type="http://schemas.openxmlformats.org/officeDocument/2006/relationships/slide" Target="/ppt/slides/slide14.xml" Id="R34248f4af4c640ac" /><Relationship Type="http://schemas.openxmlformats.org/officeDocument/2006/relationships/slide" Target="/ppt/slides/slide15.xml" Id="Rcf9831692b5d4a58" /><Relationship Type="http://schemas.openxmlformats.org/officeDocument/2006/relationships/slide" Target="/ppt/slides/slide16.xml" Id="R240dd05bf36540a4" /><Relationship Type="http://schemas.openxmlformats.org/officeDocument/2006/relationships/slide" Target="/ppt/slides/slide17.xml" Id="R5cf3565a01774c2f" /><Relationship Type="http://schemas.openxmlformats.org/officeDocument/2006/relationships/slide" Target="/ppt/slides/slide18.xml" Id="R74af283b273a4664" /><Relationship Type="http://schemas.openxmlformats.org/officeDocument/2006/relationships/slide" Target="/ppt/slides/slide19.xml" Id="R49a3c5a55a6849ec" /><Relationship Type="http://schemas.openxmlformats.org/officeDocument/2006/relationships/slide" Target="/ppt/slides/slide20.xml" Id="Rdbb27bb214d642b8" /><Relationship Type="http://schemas.openxmlformats.org/officeDocument/2006/relationships/slide" Target="/ppt/slides/slide21.xml" Id="Rd3337fb9367b459c" /><Relationship Type="http://schemas.openxmlformats.org/officeDocument/2006/relationships/slide" Target="/ppt/slides/slide22.xml" Id="Rf664f20307734f10" /><Relationship Type="http://schemas.openxmlformats.org/officeDocument/2006/relationships/slide" Target="/ppt/slides/slide23.xml" Id="Rc6b087bf5d7b4132" /><Relationship Type="http://schemas.openxmlformats.org/officeDocument/2006/relationships/slide" Target="/ppt/slides/slide24.xml" Id="R8feb460eda79405d" /><Relationship Type="http://schemas.openxmlformats.org/officeDocument/2006/relationships/slide" Target="/ppt/slides/slide25.xml" Id="R97527cb995ef43f9" /><Relationship Type="http://schemas.openxmlformats.org/officeDocument/2006/relationships/slide" Target="/ppt/slides/slide26.xml" Id="Rd8fbf89a3c844d09" /><Relationship Type="http://schemas.openxmlformats.org/officeDocument/2006/relationships/slide" Target="/ppt/slides/slide27.xml" Id="R422325133b934251" /><Relationship Type="http://schemas.openxmlformats.org/officeDocument/2006/relationships/slide" Target="/ppt/slides/slide28.xml" Id="Rf3441e445ec047a9" /><Relationship Type="http://schemas.openxmlformats.org/officeDocument/2006/relationships/slide" Target="/ppt/slides/slide29.xml" Id="Re3e425ca1f354bf3" /><Relationship Type="http://schemas.openxmlformats.org/officeDocument/2006/relationships/slide" Target="/ppt/slides/slide30.xml" Id="R74da160d6d3e4338" /><Relationship Type="http://schemas.openxmlformats.org/officeDocument/2006/relationships/slide" Target="/ppt/slides/slide31.xml" Id="R0c985811a35f47a4" /><Relationship Type="http://schemas.openxmlformats.org/officeDocument/2006/relationships/slide" Target="/ppt/slides/slide32.xml" Id="R5a80b6fd7bf842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0c84d2b18846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7ea0c66ce34ed0" /><Relationship Type="http://schemas.openxmlformats.org/officeDocument/2006/relationships/notesMaster" Target="/ppt/notesMasters/notesMaster1.xml" Id="Rfbdcd8696f6c49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3bf16d645e482e" /><Relationship Type="http://schemas.openxmlformats.org/officeDocument/2006/relationships/notesMaster" Target="/ppt/notesMasters/notesMaster1.xml" Id="Ra9273a97321b43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a1f91d90fe4481" /><Relationship Type="http://schemas.openxmlformats.org/officeDocument/2006/relationships/notesMaster" Target="/ppt/notesMasters/notesMaster1.xml" Id="R796061b599e04a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7aacbfc5c5437e" /><Relationship Type="http://schemas.openxmlformats.org/officeDocument/2006/relationships/notesMaster" Target="/ppt/notesMasters/notesMaster1.xml" Id="R4ae75d74df1b4d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f3fb6811cd4dc3" /><Relationship Type="http://schemas.openxmlformats.org/officeDocument/2006/relationships/notesMaster" Target="/ppt/notesMasters/notesMaster1.xml" Id="R70080ca16aea42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5acfe18c91400f" /><Relationship Type="http://schemas.openxmlformats.org/officeDocument/2006/relationships/notesMaster" Target="/ppt/notesMasters/notesMaster1.xml" Id="R6cd24b4e772f46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59775d345be4e15" /><Relationship Type="http://schemas.openxmlformats.org/officeDocument/2006/relationships/notesMaster" Target="/ppt/notesMasters/notesMaster1.xml" Id="R66b1d78d94404ab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6b3beae84d04925" /><Relationship Type="http://schemas.openxmlformats.org/officeDocument/2006/relationships/notesMaster" Target="/ppt/notesMasters/notesMaster1.xml" Id="Rae5d09c20497479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71493ed54f04221" /><Relationship Type="http://schemas.openxmlformats.org/officeDocument/2006/relationships/notesMaster" Target="/ppt/notesMasters/notesMaster1.xml" Id="R7d702e1550af433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8e9894f39f44b72" /><Relationship Type="http://schemas.openxmlformats.org/officeDocument/2006/relationships/notesMaster" Target="/ppt/notesMasters/notesMaster1.xml" Id="R24b870dfbafe4ca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4d604090809413b" /><Relationship Type="http://schemas.openxmlformats.org/officeDocument/2006/relationships/notesMaster" Target="/ppt/notesMasters/notesMaster1.xml" Id="R80543ad4b23f488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b9af23b70104dbc" /><Relationship Type="http://schemas.openxmlformats.org/officeDocument/2006/relationships/notesMaster" Target="/ppt/notesMasters/notesMaster1.xml" Id="R6bd6e0d6d01c450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d8cf3efaf18458d" /><Relationship Type="http://schemas.openxmlformats.org/officeDocument/2006/relationships/notesMaster" Target="/ppt/notesMasters/notesMaster1.xml" Id="Rca28808c2e684c1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0dc9b61fe0a4713" /><Relationship Type="http://schemas.openxmlformats.org/officeDocument/2006/relationships/notesMaster" Target="/ppt/notesMasters/notesMaster1.xml" Id="R20e31e162298433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f6f7642244c4590" /><Relationship Type="http://schemas.openxmlformats.org/officeDocument/2006/relationships/notesMaster" Target="/ppt/notesMasters/notesMaster1.xml" Id="Rf6137e9bdea1476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a0a617a997748bf" /><Relationship Type="http://schemas.openxmlformats.org/officeDocument/2006/relationships/notesMaster" Target="/ppt/notesMasters/notesMaster1.xml" Id="R1e67564e1b62453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491c168d0bd45db" /><Relationship Type="http://schemas.openxmlformats.org/officeDocument/2006/relationships/notesMaster" Target="/ppt/notesMasters/notesMaster1.xml" Id="Ra38ce32303a541d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f669e810efd4900" /><Relationship Type="http://schemas.openxmlformats.org/officeDocument/2006/relationships/notesMaster" Target="/ppt/notesMasters/notesMaster1.xml" Id="R5e52e8a25f14487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ef10521788a43c7" /><Relationship Type="http://schemas.openxmlformats.org/officeDocument/2006/relationships/notesMaster" Target="/ppt/notesMasters/notesMaster1.xml" Id="R7ccce6d123b64e4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8983020d8fc4d2e" /><Relationship Type="http://schemas.openxmlformats.org/officeDocument/2006/relationships/notesMaster" Target="/ppt/notesMasters/notesMaster1.xml" Id="R2b3d6c62cef3448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b4ff312e221490d" /><Relationship Type="http://schemas.openxmlformats.org/officeDocument/2006/relationships/notesMaster" Target="/ppt/notesMasters/notesMaster1.xml" Id="R0851c4848ec7473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5a45192befe4058" /><Relationship Type="http://schemas.openxmlformats.org/officeDocument/2006/relationships/notesMaster" Target="/ppt/notesMasters/notesMaster1.xml" Id="R640e83c0d32a4bf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2d72b64ffa84c85" /><Relationship Type="http://schemas.openxmlformats.org/officeDocument/2006/relationships/notesMaster" Target="/ppt/notesMasters/notesMaster1.xml" Id="R9ef6f0be0d3346d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d0ff000f8c54617" /><Relationship Type="http://schemas.openxmlformats.org/officeDocument/2006/relationships/notesMaster" Target="/ppt/notesMasters/notesMaster1.xml" Id="Rb584d5c03de8430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903803d136a4dff" /><Relationship Type="http://schemas.openxmlformats.org/officeDocument/2006/relationships/notesMaster" Target="/ppt/notesMasters/notesMaster1.xml" Id="R9fb0f1d80563487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be312553cab4fd5" /><Relationship Type="http://schemas.openxmlformats.org/officeDocument/2006/relationships/notesMaster" Target="/ppt/notesMasters/notesMaster1.xml" Id="R01835662c58a4d7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17fd465984d4052" /><Relationship Type="http://schemas.openxmlformats.org/officeDocument/2006/relationships/notesMaster" Target="/ppt/notesMasters/notesMaster1.xml" Id="R540cb28f72424ab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b4af245956c4518" /><Relationship Type="http://schemas.openxmlformats.org/officeDocument/2006/relationships/notesMaster" Target="/ppt/notesMasters/notesMaster1.xml" Id="R88a866ee432641d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1c1ed5d05c3481c" /><Relationship Type="http://schemas.openxmlformats.org/officeDocument/2006/relationships/notesMaster" Target="/ppt/notesMasters/notesMaster1.xml" Id="R5276989e549444e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f585b4588b44efa" /><Relationship Type="http://schemas.openxmlformats.org/officeDocument/2006/relationships/notesMaster" Target="/ppt/notesMasters/notesMaster1.xml" Id="R9722909bd56f42f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1603037ebe8497b" /><Relationship Type="http://schemas.openxmlformats.org/officeDocument/2006/relationships/notesMaster" Target="/ppt/notesMasters/notesMaster1.xml" Id="R76651633418648f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306871d931c4c3b" /><Relationship Type="http://schemas.openxmlformats.org/officeDocument/2006/relationships/notesMaster" Target="/ppt/notesMasters/notesMaster1.xml" Id="R5a037b7e638545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面向 AI 建站新手与独立开发者。六套方案共同承担需求、事实、实现、验证和真实运行，按项目阶段采用最小版本。网站问题与 AI 协作问题在同一方案内解决，固定流程和生成模板直接嵌入方案。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 用 AI 持续建设一个网站：六套可复用方案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面向：AI 建站新手与独立开发者  </a:t>
            </a:r>
          </a:p>
          <a:p xmlns:a="http://schemas.openxmlformats.org/drawingml/2006/main">
            <a:r>
              <a:t>经验来源：存在小站的建设、整改与长期协作  </a:t>
            </a:r>
          </a:p>
          <a:p xmlns:a="http://schemas.openxmlformats.org/drawingml/2006/main">
            <a:r>
              <a:t>整理日期：2026 年 10 月 9 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这份分享怎样使用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存在小站从持仓和交易导入开始，逐渐增加了多账户、收益分析、公告解析、可转债及后台任务。功能增长以后，我们反复遇到数据链路重复、身份与日期口径不一致、样式各自发展、修复顾此失彼，以及换一个 AI 会话就重新解释项目的问题。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这些问题相互关联。统一知识库同时承担项目接续、按需阅读、共享事实和旧结论替换；统一数据入口同时解决重复请求、失败保留、扩展和历史追溯；统一验收同时约束 AI 的考虑范围、协作边界和防复发。因此，分享按六套方案组织，每套方案内都有工作机制、最小起步配置、固定门禁和生成提示词。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可复用方案 | 主要产物 | 同时解决的困难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1. 项目知识与上下文 | 简短规则、权威架构、主题索引、按需路由与交接 | 记忆接续、重复读取、token 消耗、不同 Agent 的事实冲突 |</a:t>
            </a:r>
          </a:p>
          <a:p xmlns:a="http://schemas.openxmlformats.org/drawingml/2006/main">
            <a:r>
              <a:t>| 2. 业务架构与扩展 | 核心流程、模块职责、数据归属与扩展契约 | 技术选型、合理冗余、功能增长、重复研发链路 |</a:t>
            </a:r>
          </a:p>
          <a:p xmlns:a="http://schemas.openxmlformats.org/drawingml/2006/main">
            <a:r>
              <a:t>| 3. 统一数据与任务 | 数据契约、统一采集/写入、增量、续跑与质量判定 | 数据折腾、重复 API、日期错位、伪成功和历史恢复 |</a:t>
            </a:r>
          </a:p>
          <a:p xmlns:a="http://schemas.openxmlformats.org/drawingml/2006/main">
            <a:r>
              <a:t>| 4. 共享前端 | 设计规则、共享实现、代表性页面与状态规范 | 风格不统一、手机返工、交互遗漏和重复取数 |</a:t>
            </a:r>
          </a:p>
          <a:p xmlns:a="http://schemas.openxmlformats.org/drawingml/2006/main">
            <a:r>
              <a:t>| 5. 任务验证与协作 | 任务契约、共同验收、根因核查、自动门禁与集成责任 | AI 反复犯错、考虑不周、跷跷板修复、多 Agent 冲突 |</a:t>
            </a:r>
          </a:p>
          <a:p xmlns:a="http://schemas.openxmlformats.org/drawingml/2006/main">
            <a:r>
              <a:t>| 6. 发布恢复与反馈 | 运行验收、标准发布、备份恢复、成本与用户反馈 | 文件改了服务没更新、发布失真、不可恢复和无效投入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六套方案共同使用一份项目事实和一份任务契约。需求由方案 2 定义，方案 1 提供当前知识，方案 3、4 提供公共实现，方案 5 约束变更与验证，方案 6 证明实际运行并提供下一轮反馈。新的决定、根因和未完成项再回到方案 1 的原权威位置。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**新项目先采用最小版本；已有项目先核对现状并复用现有入口。** 每节的 `【】` 用自己的实际信息替换，未知写“待核验”，尚未建立写“未建立”。本文的新项目目录、契约和提示词是参考设计；本项目既有能力由仓库证据说明，分享材料不替代[当前技术架构](技术架构.md)和[研发规则](../AGENTS.md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D:\存在小站\docs\技术架构.md</a:t>
            </a:r>
          </a:p>
          <a:p xmlns:a="http://schemas.openxmlformats.org/drawingml/2006/main">
            <a:r>
              <a:t>视觉来源：沿用先前 ImageGen 生成的分层结构概念插图，不是实际系统截图。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这些方案共同使用同一项目事实与任务契约。问题用于覆盖检查，正文按公共机制组织。同一方案同时解决网站研发和 AI 协作问题。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新手按真实复杂度建设，已有项目先复用原入口。六套方案不是六个独立系统。具体阶段建议见正文。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新手怎样选择建设深度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项目阶段 | 当前应该拥有 | 满足条件后再增加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第一个完整功能 | 核心流程与模块职责、三个知识文件、正确数据归属、代表性页面、共同验收与运行/恢复说明 | 暂不预建完整路由器、调度平台或多 Agent 管理 |</a:t>
            </a:r>
          </a:p>
          <a:p xmlns:a="http://schemas.openxmlformats.org/drawingml/2006/main">
            <a:r>
              <a:t>| 多页面、多来源或后台工作 | 共享实现、来源契约、增量与失败保护、任务续跑、主题索引和有效检查 | 阅读/同步频繁遗漏时加机器路由，复杂依赖时加分区契约 |</a:t>
            </a:r>
          </a:p>
          <a:p xmlns:a="http://schemas.openxmlformats.org/drawingml/2006/main">
            <a:r>
              <a:t>| 长期迭代或多人协作 | 决策/事故/交接、规则追踪、CI、集成责任和标准发布 | 独立扩容/发布需求明确后评估进程或服务拆分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**新项目采用最小配置，已有项目沿原入口补缺口。** 不需要把六套方案全建成独立系统；它们是同一项目的职责与工作机制。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事实归属、阅读路由、替代规则和精简交接共同解决接续与重复读取。文档提供约束，防复发仍需方案 5 的有效检查。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完整方案与可复制契约：</a:t>
            </a:r>
          </a:p>
          <a:p xmlns:a="http://schemas.openxmlformats.org/drawingml/2006/main">
            <a:r>
              <a:t>## 方案 1：项目知识与上下文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为什么需要这套方案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随着模块和开发助手增加，聊天记录逐渐不能稳定地回答“当前已有能力是什么、上次为什么这样修、这次该读哪里”。把所有历史塞进每次任务又会增加 token 和判断负担，旧阶段说明还可能与当前事实冲突。统一知识的需求就来自这些接续问题。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这套方案通过**事实归属、阅读入口、更新规则和精简交接**共同解决问题。它帮助 AI 读到正确约束，也减少重复材料；防复发还需要方案 5 把关键条件接入检查。不能指望只多写文档就让错误消失。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怎样工作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能力 | 保存什么 | 在任务中怎样使用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根目录规则 | 开始读什么、不可破坏什么、交付怎样证明 | AI 先读简短入口，再按引用展开 |</a:t>
            </a:r>
          </a:p>
          <a:p xmlns:a="http://schemas.openxmlformats.org/drawingml/2006/main">
            <a:r>
              <a:t>| 当前架构 | 实际模块、数据、接口、任务、配置与运行边界 | 给设计提供已有能力和可复用入口 |</a:t>
            </a:r>
          </a:p>
          <a:p xmlns:a="http://schemas.openxmlformats.org/drawingml/2006/main">
            <a:r>
              <a:t>| 知识索引 | 主题、权威位置、未闭环入口 | 定位资料，避免重抄全部事实 |</a:t>
            </a:r>
          </a:p>
          <a:p xmlns:a="http://schemas.openxmlformats.org/drawingml/2006/main">
            <a:r>
              <a:t>| 按需路由 | 任务关键词/变更路径对应的 read、update、checks | 开始选资料，结束按实际文件反查更新 |</a:t>
            </a:r>
          </a:p>
          <a:p xmlns:a="http://schemas.openxmlformats.org/drawingml/2006/main">
            <a:r>
              <a:t>| 决策、事故、任务卡 | 长期取舍、根因证据、真实剩余工作 | 有需要时回查或交接，不进入默认全量阅读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次任务的阅读顺序是：读规则和索引，匹配主题，再读相关架构章节、代码与必要证据。根因不明、跨模块、数据、权限、安全、调度和部署变更，应扩大阅读。任务结束后根据实际变更文件核对需要更新的权威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实现更新原架构；长期取舍进入决策；重大或重复根因进入事故；跨会话剩余事项进入任务卡。旧结论被替代时就地修正，历史保留独立证据并退出默认阅读。索引保持短，平台私有记忆只保存指向仓库的接续指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这样减少的是重复上下文和返工。没有测量前不承诺节省固定百分比的 token，也不能为了少读而漏掉必要的权限、数据或恢复约束。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新手的最小起步配置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先建三个文件：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~~~text</a:t>
            </a:r>
          </a:p>
          <a:p xmlns:a="http://schemas.openxmlformats.org/drawingml/2006/main">
            <a:r>
              <a:t>AGENTS.md             简短研发规则与执行配置</a:t>
            </a:r>
          </a:p>
          <a:p xmlns:a="http://schemas.openxmlformats.org/drawingml/2006/main">
            <a:r>
              <a:t>docs/知识索引.md       主题入口与未完成入口</a:t>
            </a:r>
          </a:p>
          <a:p xmlns:a="http://schemas.openxmlformats.org/drawingml/2006/main">
            <a:r>
              <a:t>docs/技术架构.md       当前实际实现与验收边界</a:t>
            </a:r>
          </a:p>
          <a:p xmlns:a="http://schemas.openxmlformats.org/drawingml/2006/main">
            <a:r>
              <a:t>~~~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决定和事故增长后再增加对应目录。漏读、错读或文档同步开始频繁出错时，再增加机器路由；先用索引表也能工作，不必预建向量数据库。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可复制到自己项目根目录的规则起步版：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~~~md</a:t>
            </a:r>
          </a:p>
          <a:p xmlns:a="http://schemas.openxmlformats.org/drawingml/2006/main">
            <a:r>
              <a:t># 项目研发规则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真实配置</a:t>
            </a:r>
          </a:p>
          <a:p xmlns:a="http://schemas.openxmlformats.org/drawingml/2006/main">
            <a:r>
              <a:t>- 主要语言/运行时：【】；业务时区：【】；版本来源：【】。</a:t>
            </a:r>
          </a:p>
          <a:p xmlns:a="http://schemas.openxmlformats.org/drawingml/2006/main">
            <a:r>
              <a:t>- 知识入口：docs/知识索引.md；当前架构：docs/技术架构.md。</a:t>
            </a:r>
          </a:p>
          <a:p xmlns:a="http://schemas.openxmlformats.org/drawingml/2006/main">
            <a:r>
              <a:t>- 主题路由：【实际路径，或未建立，先按索引选择】。</a:t>
            </a:r>
          </a:p>
          <a:p xmlns:a="http://schemas.openxmlformats.org/drawingml/2006/main">
            <a:r>
              <a:t>- 共享 UI/业务服务/数据写入入口：【实际路径】。</a:t>
            </a:r>
          </a:p>
          <a:p xmlns:a="http://schemas.openxmlformats.org/drawingml/2006/main">
            <a:r>
              <a:t>- 相关测试/最终检查/知识检查：【真实命令，或未建立】。</a:t>
            </a:r>
          </a:p>
          <a:p xmlns:a="http://schemas.openxmlformats.org/drawingml/2006/main">
            <a:r>
              <a:t>- 本地启动与刷新：【】；健康接口：【】。</a:t>
            </a:r>
          </a:p>
          <a:p xmlns:a="http://schemas.openxmlformats.org/drawingml/2006/main">
            <a:r>
              <a:t>- 标准发布文档：【】；生产写入授权范围：【】。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固定工作流</a:t>
            </a:r>
          </a:p>
          <a:p xmlns:a="http://schemas.openxmlformats.org/drawingml/2006/main">
            <a:r>
              <a:t>1. 开始先确认根目录、Git 基线和未提交改动，保留其他人的文件。</a:t>
            </a:r>
          </a:p>
          <a:p xmlns:a="http://schemas.openxmlformats.org/drawingml/2006/main">
            <a:r>
              <a:t>2. 读规则与知识索引，按主题读取权威架构及必要代码和证据。</a:t>
            </a:r>
          </a:p>
          <a:p xmlns:a="http://schemas.openxmlformats.org/drawingml/2006/main">
            <a:r>
              <a:t>3. 设计前明确已有能力、可复用能力、真正缺口。</a:t>
            </a:r>
          </a:p>
          <a:p xmlns:a="http://schemas.openxmlformats.org/drawingml/2006/main">
            <a:r>
              <a:t>4. 分析数据源、数据库、服务、接口、页面/任务、权限和运行环境。</a:t>
            </a:r>
          </a:p>
          <a:p xmlns:a="http://schemas.openxmlformats.org/drawingml/2006/main">
            <a:r>
              <a:t>5. 优先扩展公共入口，数据、计算、调度和样式不另建近似实现。</a:t>
            </a:r>
          </a:p>
          <a:p xmlns:a="http://schemas.openxmlformats.org/drawingml/2006/main">
            <a:r>
              <a:t>6. 写清本次改善、必须保持的条件和完成标准。</a:t>
            </a:r>
          </a:p>
          <a:p xmlns:a="http://schemas.openxmlformats.org/drawingml/2006/main">
            <a:r>
              <a:t>7. Bug 定位公共根因并核查同类，代码/存量数据/运行恢复分别验收。</a:t>
            </a:r>
          </a:p>
          <a:p xmlns:a="http://schemas.openxmlformats.org/drawingml/2006/main">
            <a:r>
              <a:t>8. 执行适用检查并记录版本与跳过项，未实测能力不称通过。</a:t>
            </a:r>
          </a:p>
          <a:p xmlns:a="http://schemas.openxmlformats.org/drawingml/2006/main">
            <a:r>
              <a:t>9. 代码变化后刷新本地运行，核对健康、接口和资源版本。</a:t>
            </a:r>
          </a:p>
          <a:p xmlns:a="http://schemas.openxmlformats.org/drawingml/2006/main">
            <a:r>
              <a:t>10. 按实际变更更新原权威段落，修正索引、引用和替代关系。</a:t>
            </a:r>
          </a:p>
          <a:p xmlns:a="http://schemas.openxmlformats.org/drawingml/2006/main">
            <a:r>
              <a:t>11. 只暂存本任务文件，按既有授权及标准流程发布。</a:t>
            </a:r>
          </a:p>
          <a:p xmlns:a="http://schemas.openxmlformats.org/drawingml/2006/main">
            <a:r>
              <a:t>12. 生产数据写入只在明确授权范围内执行，不自行扩大。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接续与知识维护</a:t>
            </a:r>
          </a:p>
          <a:p xmlns:a="http://schemas.openxmlformats.org/drawingml/2006/main">
            <a:r>
              <a:t>- 项目事实以同一 Git 仓库为准，平台记忆只保存接续指针。</a:t>
            </a:r>
          </a:p>
          <a:p xmlns:a="http://schemas.openxmlformats.org/drawingml/2006/main">
            <a:r>
              <a:t>- 交接保留目标、基线、变更、确认结论、证据、未知项与下一步。</a:t>
            </a:r>
          </a:p>
          <a:p xmlns:a="http://schemas.openxmlformats.org/drawingml/2006/main">
            <a:r>
              <a:t>- 当前事实不无限追加流水；旧根因、来源、授权和未完成项保留。</a:t>
            </a:r>
          </a:p>
          <a:p xmlns:a="http://schemas.openxmlformats.org/drawingml/2006/main">
            <a:r>
              <a:t>- 重大或重复问题绑定实现与反例检查，同类第三次出现升级通用检查。</a:t>
            </a:r>
          </a:p>
          <a:p xmlns:a="http://schemas.openxmlformats.org/drawingml/2006/main">
            <a:r>
              <a:t>~~~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规则中的命令必须已经存在；未建立检查时写明人工核对方式和待补齐项。Windows PowerShell 的 npm 命令使用 `npm.cmd`，其他环境填写实际入口。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机器路由出现后，单条记录可以采用下面的结构。路径和关键词只是新项目示例：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~~~json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"data-change",</a:t>
            </a:r>
          </a:p>
          <a:p xmlns:a="http://schemas.openxmlformats.org/drawingml/2006/main">
            <a:r>
              <a:t>  "keywords": ["数据导入", "同步", "数据质量"],</a:t>
            </a:r>
          </a:p>
          <a:p xmlns:a="http://schemas.openxmlformats.org/drawingml/2006/main">
            <a:r>
              <a:t>  "paths": ["src/data/**", "src/jobs/**"],</a:t>
            </a:r>
          </a:p>
          <a:p xmlns:a="http://schemas.openxmlformats.org/drawingml/2006/main">
            <a:r>
              <a:t>  "read": ["docs/技术架构.md"],</a:t>
            </a:r>
          </a:p>
          <a:p xmlns:a="http://schemas.openxmlformats.org/drawingml/2006/main">
            <a:r>
              <a:t>  "update": ["docs/技术架构.md"],</a:t>
            </a:r>
          </a:p>
          <a:p xmlns:a="http://schemas.openxmlformats.org/drawingml/2006/main">
            <a:r>
              <a:t>  "checks": ["【项目已实现的数据检查命令】"]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~~~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这是路由记录的形状，不是已经可运行的路由器。匹配规则、通配方式、完整文件结构和检查脚本需由自己的项目实现。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固定门禁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触发 | 通过证据 | 未通过怎样处理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开始任务 | 知道当前权威位置、已读相关入口、区分事实与未知 | 先补调查，扩大必要阅读 |</a:t>
            </a:r>
          </a:p>
          <a:p xmlns:a="http://schemas.openxmlformats.org/drawingml/2006/main">
            <a:r>
              <a:t>| 修改当前事实或规则 | 原段落、索引、引用及相关路由一致 | 就地修正，不再追加相反结论 |</a:t>
            </a:r>
          </a:p>
          <a:p xmlns:a="http://schemas.openxmlformats.org/drawingml/2006/main">
            <a:r>
              <a:t>| 接入机器路由 | 用代表性变更证明会命中 read/update/checks，缺文件或漏同步能失败 | 尚未实现的部分标待补齐 |</a:t>
            </a:r>
          </a:p>
          <a:p xmlns:a="http://schemas.openxmlformats.org/drawingml/2006/main">
            <a:r>
              <a:t>| 任务交接 | 另一会话能从基线、证据与下一步继续，未完成项有去向 | 不用整段聊天掩盖缺失状态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本项目已经使用 `AGENTS.md`、索引、权威架构和 `governance/knowledge-map.json`。`check:knowledge` 检查入口、路由同步、版本、任务矩阵和部分最低实现要求；文档语义与知识必要性仍需人工核对。[知识入口](知识索引.md)、[知识治理规则](技术架构.md)、[路由实现](../governance/knowledge-map.json)、[检查脚本](../scripts/check-knowledge.j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让 AI 按自己的项目生成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~~~text</a:t>
            </a:r>
          </a:p>
          <a:p xmlns:a="http://schemas.openxmlformats.org/drawingml/2006/main">
            <a:r>
              <a:t>请为【项目】适配“项目知识与上下文”方案。</a:t>
            </a:r>
          </a:p>
          <a:p xmlns:a="http://schemas.openxmlformats.org/drawingml/2006/main">
            <a:r>
              <a:t>先检查已有规则、文档、目录、检查脚本和未完成任务，不新建平行知识库。</a:t>
            </a:r>
          </a:p>
          <a:p xmlns:a="http://schemas.openxmlformats.org/drawingml/2006/main">
            <a:r>
              <a:t>找出事实冲突、重复读取、漏读和接续中断的真实位置。</a:t>
            </a:r>
          </a:p>
          <a:p xmlns:a="http://schemas.openxmlformats.org/drawingml/2006/main">
            <a:r>
              <a:t>输出简短 AGENTS.md、主题索引、当前架构的章节安排和精简交接格式。</a:t>
            </a:r>
          </a:p>
          <a:p xmlns:a="http://schemas.openxmlformats.org/drawingml/2006/main">
            <a:r>
              <a:t>已有文件优先就地更新，引用唯一权威位置，不复制全部历史。</a:t>
            </a:r>
          </a:p>
          <a:p xmlns:a="http://schemas.openxmlformats.org/drawingml/2006/main">
            <a:r>
              <a:t>按当前规模判断是否需要机器路由，说明匹配与更新检查怎样实现。</a:t>
            </a:r>
          </a:p>
          <a:p xmlns:a="http://schemas.openxmlformats.org/drawingml/2006/main">
            <a:r>
              <a:t>分别标记已存在、可复用、待建设，并给出一个任务的阅读与收尾示例。</a:t>
            </a:r>
          </a:p>
          <a:p xmlns:a="http://schemas.openxmlformats.org/drawingml/2006/main">
            <a:r>
              <a:t>保留必要阅读和原未完成项，不能把减少 token 等同于删除约束。</a:t>
            </a:r>
          </a:p>
          <a:p xmlns:a="http://schemas.openxmlformats.org/drawingml/2006/main">
            <a:r>
              <a:t>~~~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D:\存在小站\AGENTS.md</a:t>
            </a:r>
          </a:p>
          <a:p xmlns:a="http://schemas.openxmlformats.org/drawingml/2006/main">
            <a:r>
              <a:t>D:\存在小站\docs\知识索引.md</a:t>
            </a:r>
          </a:p>
          <a:p xmlns:a="http://schemas.openxmlformats.org/drawingml/2006/main">
            <a:r>
              <a:t>D:\存在小站\docs\技术架构.md</a:t>
            </a:r>
          </a:p>
          <a:p xmlns:a="http://schemas.openxmlformats.org/drawingml/2006/main">
            <a:r>
              <a:t>D:\存在小站\governance\knowledge-map.json</a:t>
            </a:r>
          </a:p>
          <a:p xmlns:a="http://schemas.openxmlformats.org/drawingml/2006/main">
            <a:r>
              <a:t>D:\存在小站\scripts\check-knowledge.js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起步三个文件足够，规模增长后增加决定、事故与交接。索引导航，不重复抄架构；平台记忆只有指针。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D:\存在小站\AGENTS.md</a:t>
            </a:r>
          </a:p>
          <a:p xmlns:a="http://schemas.openxmlformats.org/drawingml/2006/main">
            <a:r>
              <a:t>D:\存在小站\docs\知识索引.md</a:t>
            </a:r>
          </a:p>
          <a:p xmlns:a="http://schemas.openxmlformats.org/drawingml/2006/main">
            <a:r>
              <a:t>D:\存在小站\docs\技术架构.md</a:t>
            </a:r>
          </a:p>
          <a:p xmlns:a="http://schemas.openxmlformats.org/drawingml/2006/main">
            <a:r>
              <a:t>D:\存在小站\governance\knowledge-map.json</a:t>
            </a:r>
          </a:p>
          <a:p xmlns:a="http://schemas.openxmlformats.org/drawingml/2006/main">
            <a:r>
              <a:t>D:\存在小站\scripts\check-knowledge.js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开始按主题读取，收尾按实际改动反查 update。根因不明、跨模块、数据、权限、安全、调度或部署应扩大阅读。减少重复上下文同时保留必需约束。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D:\存在小站\AGENTS.md</a:t>
            </a:r>
          </a:p>
          <a:p xmlns:a="http://schemas.openxmlformats.org/drawingml/2006/main">
            <a:r>
              <a:t>D:\存在小站\docs\知识索引.md</a:t>
            </a:r>
          </a:p>
          <a:p xmlns:a="http://schemas.openxmlformats.org/drawingml/2006/main">
            <a:r>
              <a:t>D:\存在小站\docs\技术架构.md</a:t>
            </a:r>
          </a:p>
          <a:p xmlns:a="http://schemas.openxmlformats.org/drawingml/2006/main">
            <a:r>
              <a:t>D:\存在小站\governance\knowledge-map.json</a:t>
            </a:r>
          </a:p>
          <a:p xmlns:a="http://schemas.openxmlformats.org/drawingml/2006/main">
            <a:r>
              <a:t>D:\存在小站\scripts\check-knowledge.js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复制根规则起步版并替换真实配置。未建立的路由和命令保持未建立。路由记录只是形状，需要真实匹配实现与检查。生成模板见备注。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项目适配提示词：</a:t>
            </a:r>
          </a:p>
          <a:p xmlns:a="http://schemas.openxmlformats.org/drawingml/2006/main">
            <a:r>
              <a:t>### 让 AI 按自己的项目生成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~~~text</a:t>
            </a:r>
          </a:p>
          <a:p xmlns:a="http://schemas.openxmlformats.org/drawingml/2006/main">
            <a:r>
              <a:t>请为【项目】适配“项目知识与上下文”方案。</a:t>
            </a:r>
          </a:p>
          <a:p xmlns:a="http://schemas.openxmlformats.org/drawingml/2006/main">
            <a:r>
              <a:t>先检查已有规则、文档、目录、检查脚本和未完成任务，不新建平行知识库。</a:t>
            </a:r>
          </a:p>
          <a:p xmlns:a="http://schemas.openxmlformats.org/drawingml/2006/main">
            <a:r>
              <a:t>找出事实冲突、重复读取、漏读和接续中断的真实位置。</a:t>
            </a:r>
          </a:p>
          <a:p xmlns:a="http://schemas.openxmlformats.org/drawingml/2006/main">
            <a:r>
              <a:t>输出简短 AGENTS.md、主题索引、当前架构的章节安排和精简交接格式。</a:t>
            </a:r>
          </a:p>
          <a:p xmlns:a="http://schemas.openxmlformats.org/drawingml/2006/main">
            <a:r>
              <a:t>已有文件优先就地更新，引用唯一权威位置，不复制全部历史。</a:t>
            </a:r>
          </a:p>
          <a:p xmlns:a="http://schemas.openxmlformats.org/drawingml/2006/main">
            <a:r>
              <a:t>按当前规模判断是否需要机器路由，说明匹配与更新检查怎样实现。</a:t>
            </a:r>
          </a:p>
          <a:p xmlns:a="http://schemas.openxmlformats.org/drawingml/2006/main">
            <a:r>
              <a:t>分别标记已存在、可复用、待建设，并给出一个任务的阅读与收尾示例。</a:t>
            </a:r>
          </a:p>
          <a:p xmlns:a="http://schemas.openxmlformats.org/drawingml/2006/main">
            <a:r>
              <a:t>保留必要阅读和原未完成项，不能把减少 token 等同于删除约束。</a:t>
            </a:r>
          </a:p>
          <a:p xmlns:a="http://schemas.openxmlformats.org/drawingml/2006/main">
            <a:r>
              <a:t>~~~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D:\存在小站\AGENTS.md</a:t>
            </a:r>
          </a:p>
          <a:p xmlns:a="http://schemas.openxmlformats.org/drawingml/2006/main">
            <a:r>
              <a:t>D:\存在小站\docs\知识索引.md</a:t>
            </a:r>
          </a:p>
          <a:p xmlns:a="http://schemas.openxmlformats.org/drawingml/2006/main">
            <a:r>
              <a:t>D:\存在小站\docs\技术架构.md</a:t>
            </a:r>
          </a:p>
          <a:p xmlns:a="http://schemas.openxmlformats.org/drawingml/2006/main">
            <a:r>
              <a:t>D:\存在小站\governance\knowledge-map.json</a:t>
            </a:r>
          </a:p>
          <a:p xmlns:a="http://schemas.openxmlformats.org/drawingml/2006/main">
            <a:r>
              <a:t>D:\存在小站\scripts\check-knowledge.js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先限定真实核心流程，再根据公开内容、交互、写入、后台任务和维护成本比较架构。本项目原生前端、Express、PostgreSQL、Python 和 Web/Worker 不是其他项目必须照搬的选择。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完整方案与可复制契约：</a:t>
            </a:r>
          </a:p>
          <a:p xmlns:a="http://schemas.openxmlformats.org/drawingml/2006/main">
            <a:r>
              <a:t>## 方案 2：业务架构与扩展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为什么需要这套方案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网站最容易返工的部分往往是数据归属、模块调用、用户权限和公共实现。只让 AI 一页一页写功能，这些决定会随着页面分散，后面增加市场、来源、任务或用户时就要反复拆改。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本项目现在采用原生 HTML/CSS/JS、Express、PostgreSQL 和 Python，生产区分 Web 与 Worker。经验可复用的是明确职责和统一入口；框架本身应根据新项目场景、维护能力和成本选择，不要求别的网站照搬，也不意味着本项目已迁移为 Vue 或 React。[当前技术栈与调用结构](技术架构.md)、[薄启动入口](../server.js)、[Web 组装](../server/app.js)、[Worker 入口](../server/worker.js)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怎样工作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先确定一个核心用户流程，明确第一版做什么、暂不做什么以及什么行为算成功。然后根据公开内容、交互、写入、后台工作和维护条件比较候选架构。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场景条件 | 可评估的起步结构 | 判断重点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展示为主、少量内容 | 静态页面或静态生成 | 内容维护与发布复杂度 |</a:t>
            </a:r>
          </a:p>
          <a:p xmlns:a="http://schemas.openxmlformats.org/drawingml/2006/main">
            <a:r>
              <a:t>| 登录后的交互工具 | 组件化前端，配 API 与业务服务 | 共享状态、表格/表单、私有数据 |</a:t>
            </a:r>
          </a:p>
          <a:p xmlns:a="http://schemas.openxmlformats.org/drawingml/2006/main">
            <a:r>
              <a:t>| 公开内容加复杂交互 | 带服务端渲染能力的框架方案 | 搜索收录、渲染、缓存与部署边界 |</a:t>
            </a:r>
          </a:p>
          <a:p xmlns:a="http://schemas.openxmlformats.org/drawingml/2006/main">
            <a:r>
              <a:t>| 有大量采集或耗时计算 | 业务应用与可独立运行的任务入口 | 请求时延、可靠续跑和资源隔离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熟悉 JS/TS 可以比较 Vue + Vite、React 框架方案和 Node 后端；熟悉 Python 可以比较 Django。使用全栈框架时，业务服务也可组织在同一应用内，不必再造重复后端。维护者能理解和接续的结构，应成为选型条件。[Vue 工具链](https://vuejs.org/guide/scaling-up/tooling.html)、[React 新应用建议](https://react.dev/learn/creating-a-react-app)、[Next.js 服务端与客户端边界](https://nextjs.org/docs/app/getting-started/server-and-client-components)、[Django 概览](https://docs.djangoproject.com/en/5.2/intro/overview/)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起步可采用一个仓库、一个按模块组织的应用。内部职责分开：前端处理展示与页面状态，API 处理身份/权限和契约，业务服务处理规则与事务，数据访问/适配处理标准事实与来源转换，任务入口处理目标日期、进度和续跑。服务函数不绑定 HTTP 请求对象，后续才能由页面、Worker 或补跑复用。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合理冗余怎样预留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将来可能变化 | 起步保留的边界 | 出现什么需求再扩展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市场、来源或外部代码 | 内部对象 ID、来源映射、单位与币种 | 增加真实市场或来源时扩充映射与契约 |</a:t>
            </a:r>
          </a:p>
          <a:p xmlns:a="http://schemas.openxmlformats.org/drawingml/2006/main">
            <a:r>
              <a:t>| 字段与上游格式 | 稳定正式列、原始证据、必要 JSONB 扩展区 | 高频筛选/计算字段成熟后迁移为正式列 |</a:t>
            </a:r>
          </a:p>
          <a:p xmlns:a="http://schemas.openxmlformats.org/drawingml/2006/main">
            <a:r>
              <a:t>| 指标或解析规则 | 输入证据、计算/解析版本、历史时点 | 需要回放解释或重算时增加版本化产物 |</a:t>
            </a:r>
          </a:p>
          <a:p xmlns:a="http://schemas.openxmlformats.org/drawingml/2006/main">
            <a:r>
              <a:t>| 业务模块 | 明确服务接口与目录职责 | 功能增长时按职责拆模块 |</a:t>
            </a:r>
          </a:p>
          <a:p xmlns:a="http://schemas.openxmlformats.org/drawingml/2006/main">
            <a:r>
              <a:t>| 性能与任务规模 | 可测查询、业务服务和独立任务入口 | 有独立扩容、发布或故障隔离需求再拆进程/服务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不稳定来源字段可以留扩展区，但高频业务字段要正式建模。预留 `field1/field2`、把一切改成通用键值表，或者同时维护两份可修改的权威事实，都不能代替扩展设计。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新手的最小配置与可复制契约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第一版只需在当前架构中写清模块与核心数据归属，并跑通一个完整功能。下面是设计契约，可保存到任务记录或相应架构段落：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~~~text</a:t>
            </a:r>
          </a:p>
          <a:p xmlns:a="http://schemas.openxmlformats.org/drawingml/2006/main">
            <a:r>
              <a:t>核心用户与一次完整流程：【】。</a:t>
            </a:r>
          </a:p>
          <a:p xmlns:a="http://schemas.openxmlformats.org/drawingml/2006/main">
            <a:r>
              <a:t>第一版范围：【】；暂不做：【】；用户完成标志：【】。</a:t>
            </a:r>
          </a:p>
          <a:p xmlns:a="http://schemas.openxmlformats.org/drawingml/2006/main">
            <a:r>
              <a:t>公开内容/SEO、交互、并发写入、后台任务需求：【】。</a:t>
            </a:r>
          </a:p>
          <a:p xmlns:a="http://schemas.openxmlformats.org/drawingml/2006/main">
            <a:r>
              <a:t>维护语言、部署条件、资源和费用约束：【】。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候选 A/B：【各自维护与部署成本，以及最终选择依据】。</a:t>
            </a:r>
          </a:p>
          <a:p xmlns:a="http://schemas.openxmlformats.org/drawingml/2006/main">
            <a:r>
              <a:t>模块职责与入口：【前端/API/服务/数据访问/来源适配/任务】。</a:t>
            </a:r>
          </a:p>
          <a:p xmlns:a="http://schemas.openxmlformats.org/drawingml/2006/main">
            <a:r>
              <a:t>核心对象与用户归属：【】；唯一权威写入位置：【】。</a:t>
            </a:r>
          </a:p>
          <a:p xmlns:a="http://schemas.openxmlformats.org/drawingml/2006/main">
            <a:r>
              <a:t>字段身份、单位、币种、日期、版本与唯一约束：【】。</a:t>
            </a:r>
          </a:p>
          <a:p xmlns:a="http://schemas.openxmlformats.org/drawingml/2006/main">
            <a:r>
              <a:t>可复用能力与真正缺口：【】。</a:t>
            </a:r>
          </a:p>
          <a:p xmlns:a="http://schemas.openxmlformats.org/drawingml/2006/main">
            <a:r>
              <a:t>扩展边界：【现在必建 / 预留即可 / 触发后建设】。</a:t>
            </a:r>
          </a:p>
          <a:p xmlns:a="http://schemas.openxmlformats.org/drawingml/2006/main">
            <a:r>
              <a:t>影响链路：【来源、数据库、服务、接口、页面/任务、权限、环境】。</a:t>
            </a:r>
          </a:p>
          <a:p xmlns:a="http://schemas.openxmlformats.org/drawingml/2006/main">
            <a:r>
              <a:t>迁移与兼容：【新链路验证、存量对账、切换及旧入口退出条件】。</a:t>
            </a:r>
          </a:p>
          <a:p xmlns:a="http://schemas.openxmlformats.org/drawingml/2006/main">
            <a:r>
              <a:t>验收与知识同步：【共同条件、证据和原权威章节】。</a:t>
            </a:r>
          </a:p>
          <a:p xmlns:a="http://schemas.openxmlformats.org/drawingml/2006/main">
            <a:r>
              <a:t>~~~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固定门禁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方案开始前核对现有代码、数据链路和任务；能指出已有能力、复用入口与真正缺口后再设计。新增平行服务、事实表、数据源或调度器必须说明现有入口为什么不能承载。结构替换需验证新链路、存量和接口兼容，再按明确范围切换；不能让新旧两套永久互相兜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用户数据归属从模型设计时进入契约，由服务端检查。密钥放在受控配置中，前端、文档和日志不保存敏感值。权限规则在方案 5 验证，运行与发布在方案 6 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让 AI 按自己的项目生成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~~~text</a:t>
            </a:r>
          </a:p>
          <a:p xmlns:a="http://schemas.openxmlformats.org/drawingml/2006/main">
            <a:r>
              <a:t>请为【项目和核心用户流程】适配“业务架构与扩展”方案。</a:t>
            </a:r>
          </a:p>
          <a:p xmlns:a="http://schemas.openxmlformats.org/drawingml/2006/main">
            <a:r>
              <a:t>先按知识入口核对已有代码、技术栈、数据归属和运行边界。</a:t>
            </a:r>
          </a:p>
          <a:p xmlns:a="http://schemas.openxmlformats.org/drawingml/2006/main">
            <a:r>
              <a:t>新项目比较两个适合场景的架构；已有项目优先扩展现有结构。</a:t>
            </a:r>
          </a:p>
          <a:p xmlns:a="http://schemas.openxmlformats.org/drawingml/2006/main">
            <a:r>
              <a:t>说明模块职责、统一业务入口、对象身份、权限与数据契约。</a:t>
            </a:r>
          </a:p>
          <a:p xmlns:a="http://schemas.openxmlformats.org/drawingml/2006/main">
            <a:r>
              <a:t>分别列现在必建、预留边界、以后触发条件，不预建全部未来基础设施。</a:t>
            </a:r>
          </a:p>
          <a:p xmlns:a="http://schemas.openxmlformats.org/drawingml/2006/main">
            <a:r>
              <a:t>说明新增平行能力的必要性，以及迁移、兼容与旧入口退出方式。</a:t>
            </a:r>
          </a:p>
          <a:p xmlns:a="http://schemas.openxmlformats.org/drawingml/2006/main">
            <a:r>
              <a:t>输出一个核心功能的完整影响链路、验收条件和应同步的原文档。</a:t>
            </a:r>
          </a:p>
          <a:p xmlns:a="http://schemas.openxmlformats.org/drawingml/2006/main">
            <a:r>
              <a:t>未知能力保持待核验，架构图和建议不能被写成已经实现。</a:t>
            </a:r>
          </a:p>
          <a:p xmlns:a="http://schemas.openxmlformats.org/drawingml/2006/main">
            <a:r>
              <a:t>~~~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D:\存在小站\docs\技术架构.md</a:t>
            </a:r>
          </a:p>
          <a:p xmlns:a="http://schemas.openxmlformats.org/drawingml/2006/main">
            <a:r>
              <a:t>D:\存在小站\server.js</a:t>
            </a:r>
          </a:p>
          <a:p xmlns:a="http://schemas.openxmlformats.org/drawingml/2006/main">
            <a:r>
              <a:t>D:\存在小站\server\app.js</a:t>
            </a:r>
          </a:p>
          <a:p xmlns:a="http://schemas.openxmlformats.org/drawingml/2006/main">
            <a:r>
              <a:t>D:\存在小站\server\worker.js</a:t>
            </a:r>
          </a:p>
          <a:p xmlns:a="http://schemas.openxmlformats.org/drawingml/2006/main">
            <a:r>
              <a:t>https://vuejs.org/guide/scaling-up/tooling.html</a:t>
            </a:r>
          </a:p>
          <a:p xmlns:a="http://schemas.openxmlformats.org/drawingml/2006/main">
            <a:r>
              <a:t>https://react.dev/learn/creating-a-react-app</a:t>
            </a:r>
          </a:p>
          <a:p xmlns:a="http://schemas.openxmlformats.org/drawingml/2006/main">
            <a:r>
              <a:t>https://nextjs.org/docs/app/getting-started/server-and-client-components</a:t>
            </a:r>
          </a:p>
          <a:p xmlns:a="http://schemas.openxmlformats.org/drawingml/2006/main">
            <a:r>
              <a:t>https://docs.djangoproject.com/en/5.2/intro/overview/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起步可采用模块化单体。API 与业务规则分开，服务不绑定 HTTP 对象，后续可以从任务复用。前后端分层不要求立即分开部署。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D:\存在小站\docs\技术架构.md</a:t>
            </a:r>
          </a:p>
          <a:p xmlns:a="http://schemas.openxmlformats.org/drawingml/2006/main">
            <a:r>
              <a:t>D:\存在小站\server.js</a:t>
            </a:r>
          </a:p>
          <a:p xmlns:a="http://schemas.openxmlformats.org/drawingml/2006/main">
            <a:r>
              <a:t>D:\存在小站\server\app.js</a:t>
            </a:r>
          </a:p>
          <a:p xmlns:a="http://schemas.openxmlformats.org/drawingml/2006/main">
            <a:r>
              <a:t>D:\存在小站\server\worker.js</a:t>
            </a:r>
          </a:p>
          <a:p xmlns:a="http://schemas.openxmlformats.org/drawingml/2006/main">
            <a:r>
              <a:t>https://vuejs.org/guide/scaling-up/tooling.html</a:t>
            </a:r>
          </a:p>
          <a:p xmlns:a="http://schemas.openxmlformats.org/drawingml/2006/main">
            <a:r>
              <a:t>https://react.dev/learn/creating-a-react-app</a:t>
            </a:r>
          </a:p>
          <a:p xmlns:a="http://schemas.openxmlformats.org/drawingml/2006/main">
            <a:r>
              <a:t>https://nextjs.org/docs/app/getting-started/server-and-client-components</a:t>
            </a:r>
          </a:p>
          <a:p xmlns:a="http://schemas.openxmlformats.org/drawingml/2006/main">
            <a:r>
              <a:t>https://docs.djangoproject.com/en/5.2/intro/overview/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起步保留身份、证据、版本、迁移和服务边界，真正需求出现后扩展。高频稳定字段正式建模，不用 field1/field2 或万能键值表代替。不得长期维护两套可修改的事实。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D:\存在小站\docs\技术架构.md</a:t>
            </a:r>
          </a:p>
          <a:p xmlns:a="http://schemas.openxmlformats.org/drawingml/2006/main">
            <a:r>
              <a:t>D:\存在小站\server.js</a:t>
            </a:r>
          </a:p>
          <a:p xmlns:a="http://schemas.openxmlformats.org/drawingml/2006/main">
            <a:r>
              <a:t>D:\存在小站\server\app.js</a:t>
            </a:r>
          </a:p>
          <a:p xmlns:a="http://schemas.openxmlformats.org/drawingml/2006/main">
            <a:r>
              <a:t>D:\存在小站\server\worker.js</a:t>
            </a:r>
          </a:p>
          <a:p xmlns:a="http://schemas.openxmlformats.org/drawingml/2006/main">
            <a:r>
              <a:t>https://vuejs.org/guide/scaling-up/tooling.html</a:t>
            </a:r>
          </a:p>
          <a:p xmlns:a="http://schemas.openxmlformats.org/drawingml/2006/main">
            <a:r>
              <a:t>https://react.dev/learn/creating-a-react-app</a:t>
            </a:r>
          </a:p>
          <a:p xmlns:a="http://schemas.openxmlformats.org/drawingml/2006/main">
            <a:r>
              <a:t>https://nextjs.org/docs/app/getting-started/server-and-client-components</a:t>
            </a:r>
          </a:p>
          <a:p xmlns:a="http://schemas.openxmlformats.org/drawingml/2006/main">
            <a:r>
              <a:t>https://docs.djangoproject.com/en/5.2/intro/overview/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生成方案前检查已有代码与运行边界，列出现有、复用和缺口。核心流程、第一版范围、技术候选、数据归属、扩展与完整验收进入同一契约。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项目适配提示词：</a:t>
            </a:r>
          </a:p>
          <a:p xmlns:a="http://schemas.openxmlformats.org/drawingml/2006/main">
            <a:r>
              <a:t>### 让 AI 按自己的项目生成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~~~text</a:t>
            </a:r>
          </a:p>
          <a:p xmlns:a="http://schemas.openxmlformats.org/drawingml/2006/main">
            <a:r>
              <a:t>请为【项目和核心用户流程】适配“业务架构与扩展”方案。</a:t>
            </a:r>
          </a:p>
          <a:p xmlns:a="http://schemas.openxmlformats.org/drawingml/2006/main">
            <a:r>
              <a:t>先按知识入口核对已有代码、技术栈、数据归属和运行边界。</a:t>
            </a:r>
          </a:p>
          <a:p xmlns:a="http://schemas.openxmlformats.org/drawingml/2006/main">
            <a:r>
              <a:t>新项目比较两个适合场景的架构；已有项目优先扩展现有结构。</a:t>
            </a:r>
          </a:p>
          <a:p xmlns:a="http://schemas.openxmlformats.org/drawingml/2006/main">
            <a:r>
              <a:t>说明模块职责、统一业务入口、对象身份、权限与数据契约。</a:t>
            </a:r>
          </a:p>
          <a:p xmlns:a="http://schemas.openxmlformats.org/drawingml/2006/main">
            <a:r>
              <a:t>分别列现在必建、预留边界、以后触发条件，不预建全部未来基础设施。</a:t>
            </a:r>
          </a:p>
          <a:p xmlns:a="http://schemas.openxmlformats.org/drawingml/2006/main">
            <a:r>
              <a:t>说明新增平行能力的必要性，以及迁移、兼容与旧入口退出方式。</a:t>
            </a:r>
          </a:p>
          <a:p xmlns:a="http://schemas.openxmlformats.org/drawingml/2006/main">
            <a:r>
              <a:t>输出一个核心功能的完整影响链路、验收条件和应同步的原文档。</a:t>
            </a:r>
          </a:p>
          <a:p xmlns:a="http://schemas.openxmlformats.org/drawingml/2006/main">
            <a:r>
              <a:t>未知能力保持待核验，架构图和建议不能被写成已经实现。</a:t>
            </a:r>
          </a:p>
          <a:p xmlns:a="http://schemas.openxmlformats.org/drawingml/2006/main">
            <a:r>
              <a:t>~~~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D:\存在小站\docs\技术架构.md</a:t>
            </a:r>
          </a:p>
          <a:p xmlns:a="http://schemas.openxmlformats.org/drawingml/2006/main">
            <a:r>
              <a:t>D:\存在小站\server.js</a:t>
            </a:r>
          </a:p>
          <a:p xmlns:a="http://schemas.openxmlformats.org/drawingml/2006/main">
            <a:r>
              <a:t>D:\存在小站\server\app.js</a:t>
            </a:r>
          </a:p>
          <a:p xmlns:a="http://schemas.openxmlformats.org/drawingml/2006/main">
            <a:r>
              <a:t>D:\存在小站\server\worker.js</a:t>
            </a:r>
          </a:p>
          <a:p xmlns:a="http://schemas.openxmlformats.org/drawingml/2006/main">
            <a:r>
              <a:t>https://vuejs.org/guide/scaling-up/tooling.html</a:t>
            </a:r>
          </a:p>
          <a:p xmlns:a="http://schemas.openxmlformats.org/drawingml/2006/main">
            <a:r>
              <a:t>https://react.dev/learn/creating-a-react-app</a:t>
            </a:r>
          </a:p>
          <a:p xmlns:a="http://schemas.openxmlformats.org/drawingml/2006/main">
            <a:r>
              <a:t>https://nextjs.org/docs/app/getting-started/server-and-client-components</a:t>
            </a:r>
          </a:p>
          <a:p xmlns:a="http://schemas.openxmlformats.org/drawingml/2006/main">
            <a:r>
              <a:t>https://docs.djangoproject.com/en/5.2/intro/overview/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统一身份与写入，原始证据、标准事实、派生结果与页面读取分层。层次可以放同一数据库，不要求起步全建快照或复杂调度。SQLite 和 PostgreSQL 根据并发写入与运行方式评估。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完整方案与可复制契约：</a:t>
            </a:r>
          </a:p>
          <a:p xmlns:a="http://schemas.openxmlformats.org/drawingml/2006/main">
            <a:r>
              <a:t>## 方案 3：统一数据与任务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为什么需要这套方案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数据问题经常从一个页面暴露，根因却在身份映射、来源采集、落库、日期、任务状态或历史兼容路径。只有页面 JSON，难以追溯；每个功能自行采集，又会重复联网、采用不同口径。任务加了固定批次数后若仍宣称完成，还会把遗漏长期隐藏。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存在小站经历过结构化数据收敛、历史身份冲突、页面读取绕过数据层，以及固定批次导致资料补全不完整。由此形成的共同方案是：统一身份和写入，分开证据/事实/计算/展示，采集与读取分开，完成按目标覆盖和质量证明。[数据读写边界](技术架构.md)、[身份冲突案例](incidents/INC-0003-历史证券主档冲突导致持仓行情缺失.md)、[固定批次案例](incidents/INC-0018-IPO资料补全固定8条及多重隐性上限.m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怎样工作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数据职责 | 保存内容 | 为什么有用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原始证据 | 响应、原文/文件、来源、采集时间与哈希 | 能解释来源、重解析与核对更正 |</a:t>
            </a:r>
          </a:p>
          <a:p xmlns:a="http://schemas.openxmlformats.org/drawingml/2006/main">
            <a:r>
              <a:t>| 标准事实 | 对象身份、用户归属、业务字段与日期 | 让不同功能使用同一口径 |</a:t>
            </a:r>
          </a:p>
          <a:p xmlns:a="http://schemas.openxmlformats.org/drawingml/2006/main">
            <a:r>
              <a:t>| 派生结果 | 指标、输入时点、计算版本及必要快照 | 可复用、可解释历史结果 |</a:t>
            </a:r>
          </a:p>
          <a:p xmlns:a="http://schemas.openxmlformats.org/drawingml/2006/main">
            <a:r>
              <a:t>| 页面读取 | 权限内查询、缓存与必要视图 | 页面不重复采集，不成为第二份事实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这是职责分层，起步可以放在同一个数据库。简单页面不必预建专属快照。单机低并发工具可评估 SQLite；明确多进程或并发写入时可评估 PostgreSQL。[SQLite 使用场景](https://www.sqlite.org/whentouse.html)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对象使用稳定内部 ID，并通过统一映射连接供应商代码；代码保留前导零。用户所有权进入模型与查询条件。业务日期、事件时间、采集时间分开，金额等精确数值与传输计算保持一致，高频查询字段用正式列，未标准化字段可放 JSONB；需要逐字节保存的原文单独保留。[PostgreSQL 数值类型](https://www.postgresql.org/docs/current/datatype-numeric.html)、[JSONB 边界](https://www.postgresql.org/docs/current/datatype-json.html)、[数据库约束](https://www.postgresql.org/docs/current/ddl-constraints.html)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外部数据首次完整拉取后落库，后续按游标、业务日或报告期增量处理，保留必要重叠窗口用于更正。页面、重复计算和普通刷新读数据库/统一缓存。自动任务、人工补跑与启动补偿共用一个 Runner，来源请求共用 Guard 和接口策略，不能各自维护永久熔断状态。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失败不能覆盖有效事实；空值、零值、已核实无新增、失败无数据和部分完成分别表达。只有成功核验的完整窗口才能推进覆盖水位，补旧数据不能回退较新水位。`MAX(date)` 只能证明最新日期，缺口还需检查日期差集。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复杂任务逐模式/阶段声明目标日、对象集合、产出数据集、依赖分区与完成条件。分批是执行方式，剩余进度必须持久化，未清空不能宣告成功。下游依据具体分区质量，而不是上游任务的笼统成功。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新手的最小配置与可复制契约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先建设一个可靠写入入口、一张正确的核心事实表、必要原始证据和一次可重跑导入。出现外部采集再加增量和请求保护；出现多阶段后台任务再加持久化进度与分区发布，不需要直接复制大型调度系统。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~~~text</a:t>
            </a:r>
          </a:p>
          <a:p xmlns:a="http://schemas.openxmlformats.org/drawingml/2006/main">
            <a:r>
              <a:t>数据能力与已有入口：【】；下游消费者：【】。</a:t>
            </a:r>
          </a:p>
          <a:p xmlns:a="http://schemas.openxmlformats.org/drawingml/2006/main">
            <a:r>
              <a:t>核心对象/用户归属/外部身份映射：【】。</a:t>
            </a:r>
          </a:p>
          <a:p xmlns:a="http://schemas.openxmlformats.org/drawingml/2006/main">
            <a:r>
              <a:t>字段、单位、币种、业务时区、来源与版本：【】。</a:t>
            </a:r>
          </a:p>
          <a:p xmlns:a="http://schemas.openxmlformats.org/drawingml/2006/main">
            <a:r>
              <a:t>正式列、原始证据和扩展字段边界：【】。</a:t>
            </a:r>
          </a:p>
          <a:p xmlns:a="http://schemas.openxmlformats.org/drawingml/2006/main">
            <a:r>
              <a:t>唯一键、去重、索引和质量条件：【】。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采集与更新：</a:t>
            </a:r>
          </a:p>
          <a:p xmlns:a="http://schemas.openxmlformats.org/drawingml/2006/main">
            <a:r>
              <a:t>- 首次范围、日常增量、重叠、更正与缺口核查：【】。</a:t>
            </a:r>
          </a:p>
          <a:p xmlns:a="http://schemas.openxmlformats.org/drawingml/2006/main">
            <a:r>
              <a:t>- 单一采集/落库入口、缓存与消费者读取方式：【】。</a:t>
            </a:r>
          </a:p>
          <a:p xmlns:a="http://schemas.openxmlformats.org/drawingml/2006/main">
            <a:r>
              <a:t>- 失败保留、定点重试、来源与接口状态：【】。</a:t>
            </a:r>
          </a:p>
          <a:p xmlns:a="http://schemas.openxmlformats.org/drawingml/2006/main">
            <a:r>
              <a:t>- 官方接口限制及依据：【已核实值或未知，不编造额度】。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任务与发布：</a:t>
            </a:r>
          </a:p>
          <a:p xmlns:a="http://schemas.openxmlformats.org/drawingml/2006/main">
            <a:r>
              <a:t>- 自动、人工补跑与补偿共用 Runner：【】。</a:t>
            </a:r>
          </a:p>
          <a:p xmlns:a="http://schemas.openxmlformats.org/drawingml/2006/main">
            <a:r>
              <a:t>- 目标日传递、适用对象与排除理由：【】。</a:t>
            </a:r>
          </a:p>
          <a:p xmlns:a="http://schemas.openxmlformats.org/drawingml/2006/main">
            <a:r>
              <a:t>- 各阶段产出、依赖分区、质量与完成条件：【】。</a:t>
            </a:r>
          </a:p>
          <a:p xmlns:a="http://schemas.openxmlformats.org/drawingml/2006/main">
            <a:r>
              <a:t>- 止损、剩余队列/游标、剩余数量、下一次续跑：【】。</a:t>
            </a:r>
          </a:p>
          <a:p xmlns:a="http://schemas.openxmlformats.org/drawingml/2006/main">
            <a:r>
              <a:t>- 无新增、失败、部分和完全完成状态：【】。</a:t>
            </a:r>
          </a:p>
          <a:p xmlns:a="http://schemas.openxmlformats.org/drawingml/2006/main">
            <a:r>
              <a:t>- 告警作用域及匹配恢复证据：【】。</a:t>
            </a:r>
          </a:p>
          <a:p xmlns:a="http://schemas.openxmlformats.org/drawingml/2006/main">
            <a:r>
              <a:t>~~~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固定门禁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触发 | 必须成立的条件 | 验证方法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重复读取/执行 | 普通页面不回源，重复导入不重复写入 | 请求记录、唯一约束和重复执行测试 |</a:t>
            </a:r>
          </a:p>
          <a:p xmlns:a="http://schemas.openxmlformats.org/drawingml/2006/main">
            <a:r>
              <a:t>| 来源失败/异常 | 有效事实保留，失败不推进覆盖水位 | 注入失败、缺页与异常值后查数据/游标 |</a:t>
            </a:r>
          </a:p>
          <a:p xmlns:a="http://schemas.openxmlformats.org/drawingml/2006/main">
            <a:r>
              <a:t>| 历史补漏 | 较新水位不回退，中间缺口仍可发现 | 旧日期重跑和日期差集 |</a:t>
            </a:r>
          </a:p>
          <a:p xmlns:a="http://schemas.openxmlformats.org/drawingml/2006/main">
            <a:r>
              <a:t>| 分批或多阶段任务 | 保存剩余工作，阶段产出与目标日正确 | 中断/续跑、重启及部分失败测试 |</a:t>
            </a:r>
          </a:p>
          <a:p xmlns:a="http://schemas.openxmlformats.org/drawingml/2006/main">
            <a:r>
              <a:t>| 发布成功 | 本阶段声明产出均发布且质量通过 | 查询产出与依赖分区，不只看任务状态 |</a:t>
            </a:r>
          </a:p>
          <a:p xmlns:a="http://schemas.openxmlformats.org/drawingml/2006/main">
            <a:r>
              <a:t>| 关闭告警 | 证据匹配任务、分区或来源接口作用域 | 新成功/质量恢复证据，空查询不算恢复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限制、内部等待和批次止损分开处理。未知配额保持未知，不能通过猜额度制造等待与熔断。接口权限拒绝或限流只作用于实际接口；确认凭据整体问题后才扩大范围。解析必须核对对象身份、原文证据和时间线，不能用宽泛关键词或无依据默认值把缺项补成“完整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项目的统一采集、Guard、Runner、数据分区和相关不变量已有实现，但具体来源质量、遗留数据和生产恢复仍按各自证据核验。[统一公告采集决策](decisions/ADR-0001-公告数据源优先级与统一采集.md)、[任务与质量不变量](decisions/ADR-0002-后台任务与数据质量不变量.md)、[恢复证据门禁](decisions/ADR-0003-告警与任务治理门禁补强.m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让 AI 按自己的项目生成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~~~text</a:t>
            </a:r>
          </a:p>
          <a:p xmlns:a="http://schemas.openxmlformats.org/drawingml/2006/main">
            <a:r>
              <a:t>请为【项目和数据需求】适配“统一数据与任务”方案。</a:t>
            </a:r>
          </a:p>
          <a:p xmlns:a="http://schemas.openxmlformats.org/drawingml/2006/main">
            <a:r>
              <a:t>先画出当前来源到数据库、服务、接口、页面/任务的实际链路。</a:t>
            </a:r>
          </a:p>
          <a:p xmlns:a="http://schemas.openxmlformats.org/drawingml/2006/main">
            <a:r>
              <a:t>找出重复采集、重复事实、身份/日期口径冲突及失败覆盖风险。</a:t>
            </a:r>
          </a:p>
          <a:p xmlns:a="http://schemas.openxmlformats.org/drawingml/2006/main">
            <a:r>
              <a:t>优先扩展已有入口，输出本项目数据契约及最小可靠写入方案。</a:t>
            </a:r>
          </a:p>
          <a:p xmlns:a="http://schemas.openxmlformats.org/drawingml/2006/main">
            <a:r>
              <a:t>若确有后台阶段，定义目标日、依赖、产出、剩余进度与完成证据。</a:t>
            </a:r>
          </a:p>
          <a:p xmlns:a="http://schemas.openxmlformats.org/drawingml/2006/main">
            <a:r>
              <a:t>分别给正常、重复、失败、空结果、缺页、更正、中断续跑设计验收。</a:t>
            </a:r>
          </a:p>
          <a:p xmlns:a="http://schemas.openxmlformats.org/drawingml/2006/main">
            <a:r>
              <a:t>明确存量数据、迁移、缓存、权限与告警恢复范围。</a:t>
            </a:r>
          </a:p>
          <a:p xmlns:a="http://schemas.openxmlformats.org/drawingml/2006/main">
            <a:r>
              <a:t>未知接口额度不编造，未核验缺项不补成零或推测事实。</a:t>
            </a:r>
          </a:p>
          <a:p xmlns:a="http://schemas.openxmlformats.org/drawingml/2006/main">
            <a:r>
              <a:t>~~~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D:\存在小站\docs\技术架构.md</a:t>
            </a:r>
          </a:p>
          <a:p xmlns:a="http://schemas.openxmlformats.org/drawingml/2006/main">
            <a:r>
              <a:t>D:\存在小站\docs\decisions\ADR-0001-公告数据源优先级与统一采集.md</a:t>
            </a:r>
          </a:p>
          <a:p xmlns:a="http://schemas.openxmlformats.org/drawingml/2006/main">
            <a:r>
              <a:t>D:\存在小站\docs\decisions\ADR-0002-后台任务与数据质量不变量.md</a:t>
            </a:r>
          </a:p>
          <a:p xmlns:a="http://schemas.openxmlformats.org/drawingml/2006/main">
            <a:r>
              <a:t>D:\存在小站\docs\decisions\ADR-0003-告警与任务治理门禁补强.md</a:t>
            </a:r>
          </a:p>
          <a:p xmlns:a="http://schemas.openxmlformats.org/drawingml/2006/main">
            <a:r>
              <a:t>https://www.sqlite.org/whentouse.html</a:t>
            </a:r>
          </a:p>
          <a:p xmlns:a="http://schemas.openxmlformats.org/drawingml/2006/main">
            <a:r>
              <a:t>https://www.postgresql.org/docs/current/datatype-numeric.html</a:t>
            </a:r>
          </a:p>
          <a:p xmlns:a="http://schemas.openxmlformats.org/drawingml/2006/main">
            <a:r>
              <a:t>https://www.postgresql.org/docs/current/datatype-json.html</a:t>
            </a:r>
          </a:p>
          <a:p xmlns:a="http://schemas.openxmlformats.org/drawingml/2006/main">
            <a:r>
              <a:t>https://www.postgresql.org/docs/current/ddl-constraints.html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首批落库，日常增量和更正，页面只读库或统一缓存。自动、人工补跑与补偿走同一 Runner，外部请求共用 Guard。不猜未知配额，不把内部等待当上游错误。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D:\存在小站\docs\技术架构.md</a:t>
            </a:r>
          </a:p>
          <a:p xmlns:a="http://schemas.openxmlformats.org/drawingml/2006/main">
            <a:r>
              <a:t>D:\存在小站\docs\decisions\ADR-0001-公告数据源优先级与统一采集.md</a:t>
            </a:r>
          </a:p>
          <a:p xmlns:a="http://schemas.openxmlformats.org/drawingml/2006/main">
            <a:r>
              <a:t>D:\存在小站\docs\decisions\ADR-0002-后台任务与数据质量不变量.md</a:t>
            </a:r>
          </a:p>
          <a:p xmlns:a="http://schemas.openxmlformats.org/drawingml/2006/main">
            <a:r>
              <a:t>D:\存在小站\docs\decisions\ADR-0003-告警与任务治理门禁补强.md</a:t>
            </a:r>
          </a:p>
          <a:p xmlns:a="http://schemas.openxmlformats.org/drawingml/2006/main">
            <a:r>
              <a:t>https://www.sqlite.org/whentouse.html</a:t>
            </a:r>
          </a:p>
          <a:p xmlns:a="http://schemas.openxmlformats.org/drawingml/2006/main">
            <a:r>
              <a:t>https://www.postgresql.org/docs/current/datatype-numeric.html</a:t>
            </a:r>
          </a:p>
          <a:p xmlns:a="http://schemas.openxmlformats.org/drawingml/2006/main">
            <a:r>
              <a:t>https://www.postgresql.org/docs/current/datatype-json.html</a:t>
            </a:r>
          </a:p>
          <a:p xmlns:a="http://schemas.openxmlformats.org/drawingml/2006/main">
            <a:r>
              <a:t>https://www.postgresql.org/docs/current/ddl-constraints.html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执行、质量和业务状态分别保存。分批中断要有剩余进度；逐阶段产出和依赖绑定目标日。成功空结果须有核验依据。告警只依据匹配作用域的新恢复证据关闭。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D:\存在小站\docs\技术架构.md</a:t>
            </a:r>
          </a:p>
          <a:p xmlns:a="http://schemas.openxmlformats.org/drawingml/2006/main">
            <a:r>
              <a:t>D:\存在小站\docs\decisions\ADR-0001-公告数据源优先级与统一采集.md</a:t>
            </a:r>
          </a:p>
          <a:p xmlns:a="http://schemas.openxmlformats.org/drawingml/2006/main">
            <a:r>
              <a:t>D:\存在小站\docs\decisions\ADR-0002-后台任务与数据质量不变量.md</a:t>
            </a:r>
          </a:p>
          <a:p xmlns:a="http://schemas.openxmlformats.org/drawingml/2006/main">
            <a:r>
              <a:t>D:\存在小站\docs\decisions\ADR-0003-告警与任务治理门禁补强.md</a:t>
            </a:r>
          </a:p>
          <a:p xmlns:a="http://schemas.openxmlformats.org/drawingml/2006/main">
            <a:r>
              <a:t>https://www.sqlite.org/whentouse.html</a:t>
            </a:r>
          </a:p>
          <a:p xmlns:a="http://schemas.openxmlformats.org/drawingml/2006/main">
            <a:r>
              <a:t>https://www.postgresql.org/docs/current/datatype-numeric.html</a:t>
            </a:r>
          </a:p>
          <a:p xmlns:a="http://schemas.openxmlformats.org/drawingml/2006/main">
            <a:r>
              <a:t>https://www.postgresql.org/docs/current/datatype-json.html</a:t>
            </a:r>
          </a:p>
          <a:p xmlns:a="http://schemas.openxmlformats.org/drawingml/2006/main">
            <a:r>
              <a:t>https://www.postgresql.org/docs/current/ddl-constraints.html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数据能力记录身份、用户、单位、日期、证据、版本、唯一键及增量。任务记录目标范围、逐阶段依赖产出、剩余进度、状态和告警证据。完整可复制契约在本组首张备注与正文。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D:\存在小站\docs\技术架构.md</a:t>
            </a:r>
          </a:p>
          <a:p xmlns:a="http://schemas.openxmlformats.org/drawingml/2006/main">
            <a:r>
              <a:t>D:\存在小站\docs\decisions\ADR-0001-公告数据源优先级与统一采集.md</a:t>
            </a:r>
          </a:p>
          <a:p xmlns:a="http://schemas.openxmlformats.org/drawingml/2006/main">
            <a:r>
              <a:t>D:\存在小站\docs\decisions\ADR-0002-后台任务与数据质量不变量.md</a:t>
            </a:r>
          </a:p>
          <a:p xmlns:a="http://schemas.openxmlformats.org/drawingml/2006/main">
            <a:r>
              <a:t>D:\存在小站\docs\decisions\ADR-0003-告警与任务治理门禁补强.md</a:t>
            </a:r>
          </a:p>
          <a:p xmlns:a="http://schemas.openxmlformats.org/drawingml/2006/main">
            <a:r>
              <a:t>https://www.sqlite.org/whentouse.html</a:t>
            </a:r>
          </a:p>
          <a:p xmlns:a="http://schemas.openxmlformats.org/drawingml/2006/main">
            <a:r>
              <a:t>https://www.postgresql.org/docs/current/datatype-numeric.html</a:t>
            </a:r>
          </a:p>
          <a:p xmlns:a="http://schemas.openxmlformats.org/drawingml/2006/main">
            <a:r>
              <a:t>https://www.postgresql.org/docs/current/datatype-json.html</a:t>
            </a:r>
          </a:p>
          <a:p xmlns:a="http://schemas.openxmlformats.org/drawingml/2006/main">
            <a:r>
              <a:t>https://www.postgresql.org/docs/current/ddl-constraints.html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生成时从实际链路查重复事实和日期身份冲突，优先扩展已有入口。用重复、空、失败、缺页、中断、补旧和更正验证，不能靠伪造数据取得完整。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项目适配提示词：</a:t>
            </a:r>
          </a:p>
          <a:p xmlns:a="http://schemas.openxmlformats.org/drawingml/2006/main">
            <a:r>
              <a:t>### 让 AI 按自己的项目生成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~~~text</a:t>
            </a:r>
          </a:p>
          <a:p xmlns:a="http://schemas.openxmlformats.org/drawingml/2006/main">
            <a:r>
              <a:t>请为【项目和数据需求】适配“统一数据与任务”方案。</a:t>
            </a:r>
          </a:p>
          <a:p xmlns:a="http://schemas.openxmlformats.org/drawingml/2006/main">
            <a:r>
              <a:t>先画出当前来源到数据库、服务、接口、页面/任务的实际链路。</a:t>
            </a:r>
          </a:p>
          <a:p xmlns:a="http://schemas.openxmlformats.org/drawingml/2006/main">
            <a:r>
              <a:t>找出重复采集、重复事实、身份/日期口径冲突及失败覆盖风险。</a:t>
            </a:r>
          </a:p>
          <a:p xmlns:a="http://schemas.openxmlformats.org/drawingml/2006/main">
            <a:r>
              <a:t>优先扩展已有入口，输出本项目数据契约及最小可靠写入方案。</a:t>
            </a:r>
          </a:p>
          <a:p xmlns:a="http://schemas.openxmlformats.org/drawingml/2006/main">
            <a:r>
              <a:t>若确有后台阶段，定义目标日、依赖、产出、剩余进度与完成证据。</a:t>
            </a:r>
          </a:p>
          <a:p xmlns:a="http://schemas.openxmlformats.org/drawingml/2006/main">
            <a:r>
              <a:t>分别给正常、重复、失败、空结果、缺页、更正、中断续跑设计验收。</a:t>
            </a:r>
          </a:p>
          <a:p xmlns:a="http://schemas.openxmlformats.org/drawingml/2006/main">
            <a:r>
              <a:t>明确存量数据、迁移、缓存、权限与告警恢复范围。</a:t>
            </a:r>
          </a:p>
          <a:p xmlns:a="http://schemas.openxmlformats.org/drawingml/2006/main">
            <a:r>
              <a:t>未知接口额度不编造，未核验缺项不补成零或推测事实。</a:t>
            </a:r>
          </a:p>
          <a:p xmlns:a="http://schemas.openxmlformats.org/drawingml/2006/main">
            <a:r>
              <a:t>~~~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D:\存在小站\docs\技术架构.md</a:t>
            </a:r>
          </a:p>
          <a:p xmlns:a="http://schemas.openxmlformats.org/drawingml/2006/main">
            <a:r>
              <a:t>D:\存在小站\docs\decisions\ADR-0001-公告数据源优先级与统一采集.md</a:t>
            </a:r>
          </a:p>
          <a:p xmlns:a="http://schemas.openxmlformats.org/drawingml/2006/main">
            <a:r>
              <a:t>D:\存在小站\docs\decisions\ADR-0002-后台任务与数据质量不变量.md</a:t>
            </a:r>
          </a:p>
          <a:p xmlns:a="http://schemas.openxmlformats.org/drawingml/2006/main">
            <a:r>
              <a:t>D:\存在小站\docs\decisions\ADR-0003-告警与任务治理门禁补强.md</a:t>
            </a:r>
          </a:p>
          <a:p xmlns:a="http://schemas.openxmlformats.org/drawingml/2006/main">
            <a:r>
              <a:t>https://www.sqlite.org/whentouse.html</a:t>
            </a:r>
          </a:p>
          <a:p xmlns:a="http://schemas.openxmlformats.org/drawingml/2006/main">
            <a:r>
              <a:t>https://www.postgresql.org/docs/current/datatype-numeric.html</a:t>
            </a:r>
          </a:p>
          <a:p xmlns:a="http://schemas.openxmlformats.org/drawingml/2006/main">
            <a:r>
              <a:t>https://www.postgresql.org/docs/current/datatype-json.html</a:t>
            </a:r>
          </a:p>
          <a:p xmlns:a="http://schemas.openxmlformats.org/drawingml/2006/main">
            <a:r>
              <a:t>https://www.postgresql.org/docs/current/ddl-constraints.html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公共规则、公共实现、代表性页面和行为契约组合起来，AI 有明确可复用入口。原生前端或组件化框架均可以采用。每个页面不另选一套控件规范。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完整方案与可复制契约：</a:t>
            </a:r>
          </a:p>
          <a:p xmlns:a="http://schemas.openxmlformats.org/drawingml/2006/main">
            <a:r>
              <a:t>## 方案 4：共享前端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为什么需要这套方案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每次只要求 AI “统一、简洁、美观”，它仍可能为页面另选颜色、控件高度和手机布局。样式虽然相似，表格滚动、刷新保留状态、图表触屏和错误提示却不同。结果是新功能越多，统一和移动端补做越费力。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本项目后来把全局业务表格、可转债功能族及移动交互收敛到共享层。可复用的方法是把设计规则、共享实现、参考页面和验收一起交给 AI。[前端规范与共享职责](技术架构.md)、[共享样式](../public/shared/style.css)、[业务表格](../public/shared/business-table.js)、[移动交互](../public/shared/mobile-ui.js)、[图表交互](../public/shared/chart-interaction.js)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怎样工作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共享资产 | 内容 | 后续页面怎样使用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设计规则 | 色彩、字号、间距、尺寸、断点、数值与状态表达 | 按公共规则组合，例外有业务理由 |</a:t>
            </a:r>
          </a:p>
          <a:p xmlns:a="http://schemas.openxmlformats.org/drawingml/2006/main">
            <a:r>
              <a:t>| 共享实现 | 页面布局、表格、工具栏、表单、弹窗与交互 | 优先复用，不复制近似 CSS/JS |</a:t>
            </a:r>
          </a:p>
          <a:p xmlns:a="http://schemas.openxmlformats.org/drawingml/2006/main">
            <a:r>
              <a:t>| 代表性页面 | 桌面、手机、加载、空、错、权限和过期状态 | AI 开发与验收都有具体参照 |</a:t>
            </a:r>
          </a:p>
          <a:p xmlns:a="http://schemas.openxmlformats.org/drawingml/2006/main">
            <a:r>
              <a:t>| 行为契约 | 状态保留、请求顺序、局部滚动、键盘和触屏 | 统一操作结果，不只统一外观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选择一张包含主要控件的代表性页面，再扩展同类页面。组件化框架可以使用一套组件库并统一主题，原生前端可以用共享 CSS、模板和 JS 承担同样职责。公共变体放回共享入口，页面专属文件保留字段宽度等业务差异。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手机重排和宽表局部横滑使用同一份状态、权限、计算和数据，不另建移动站点。旋转、菜单展开和图表重绘使用已取数据，不偷偷触发采集。过期响应不能覆盖新选择，数据过期与请求失败要清楚展示。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新手的最小配置与可复制契约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先统一常用变量、两个共享控件和一张代表性页面。下面的数值来自本项目固定基线，新项目可明确沿用或修改，但修改后在共享入口集中管理。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~~~text</a:t>
            </a:r>
          </a:p>
          <a:p xmlns:a="http://schemas.openxmlformats.org/drawingml/2006/main">
            <a:r>
              <a:t>代表性页面及共享入口：【】。</a:t>
            </a:r>
          </a:p>
          <a:p xmlns:a="http://schemas.openxmlformats.org/drawingml/2006/main">
            <a:r>
              <a:t>全局颜色、字体、间距、圆角、控件尺寸与数值格式：【】。</a:t>
            </a:r>
          </a:p>
          <a:p xmlns:a="http://schemas.openxmlformats.org/drawingml/2006/main">
            <a:r>
              <a:t>公共表格、工具栏、表单、弹窗、图表及变体归属：【】。</a:t>
            </a:r>
          </a:p>
          <a:p xmlns:a="http://schemas.openxmlformats.org/drawingml/2006/main">
            <a:r>
              <a:t>正文/导航分界：【本项目基线为 760/900px，选择是否沿用】。</a:t>
            </a:r>
          </a:p>
          <a:p xmlns:a="http://schemas.openxmlformats.org/drawingml/2006/main">
            <a:r>
              <a:t>手机操作区域和输入字号：【本项目基线为至少 44px 与 16px】。</a:t>
            </a:r>
          </a:p>
          <a:p xmlns:a="http://schemas.openxmlformats.org/drawingml/2006/main">
            <a:r>
              <a:t>加载、空、失败、无权限、过期状态：【统一入口】。</a:t>
            </a:r>
          </a:p>
          <a:p xmlns:a="http://schemas.openxmlformats.org/drawingml/2006/main">
            <a:r>
              <a:t>页面切换/筛选状态、旧响应处理与缓存重绘：【】。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实施与验收：</a:t>
            </a:r>
          </a:p>
          <a:p xmlns:a="http://schemas.openxmlformats.org/drawingml/2006/main">
            <a:r>
              <a:t>- 先列复用能力，公共不足优先扩展共享层，不复制第二套。</a:t>
            </a:r>
          </a:p>
          <a:p xmlns:a="http://schemas.openxmlformats.org/drawingml/2006/main">
            <a:r>
              <a:t>- 桌面与手机同时设计，密集内容在容器内横滑，保留完整字段。</a:t>
            </a:r>
          </a:p>
          <a:p xmlns:a="http://schemas.openxmlformats.org/drawingml/2006/main">
            <a:r>
              <a:t>- 触屏、键盘、焦点、弹窗和图表不能只依赖悬停。</a:t>
            </a:r>
          </a:p>
          <a:p xmlns:a="http://schemas.openxmlformats.org/drawingml/2006/main">
            <a:r>
              <a:t>- 检查 320/360/390/430/768/1024/1440px 与实际断点附近布局。</a:t>
            </a:r>
          </a:p>
          <a:p xmlns:a="http://schemas.openxmlformats.org/drawingml/2006/main">
            <a:r>
              <a:t>- 自动行为、浏览器布局、真机兼容分别记录证据。</a:t>
            </a:r>
          </a:p>
          <a:p xmlns:a="http://schemas.openxmlformats.org/drawingml/2006/main">
            <a:r>
              <a:t>- 有性能/浏览器限制时运行允许的检查，其余保留未验证。</a:t>
            </a:r>
          </a:p>
          <a:p xmlns:a="http://schemas.openxmlformats.org/drawingml/2006/main">
            <a:r>
              <a:t>~~~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固定门禁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新增或修改页面时，先读取公共实现和代表性页面，再设计业务差异。验收要同时覆盖外观、状态、权限与请求行为，复核共享修改影响的同类页面。未实测 iOS Safari、Android Chrome 或微信内置浏览器时，不能宣称真机兼容通过。静态/DOM 检查与视觉检查只能证明相应范围。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让 AI 按自己的项目生成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~~~text</a:t>
            </a:r>
          </a:p>
          <a:p xmlns:a="http://schemas.openxmlformats.org/drawingml/2006/main">
            <a:r>
              <a:t>请为【项目与代表性页面】适配“共享前端”方案。</a:t>
            </a:r>
          </a:p>
          <a:p xmlns:a="http://schemas.openxmlformats.org/drawingml/2006/main">
            <a:r>
              <a:t>先检查当前主题、控件、页面状态、手机布局和公共实现。</a:t>
            </a:r>
          </a:p>
          <a:p xmlns:a="http://schemas.openxmlformats.org/drawingml/2006/main">
            <a:r>
              <a:t>列出可复用能力及真正缺口，给出一套最小设计规则和共享入口。</a:t>
            </a:r>
          </a:p>
          <a:p xmlns:a="http://schemas.openxmlformats.org/drawingml/2006/main">
            <a:r>
              <a:t>用一张代表性页面覆盖主要控件和加载/空/错/权限/过期状态。</a:t>
            </a:r>
          </a:p>
          <a:p xmlns:a="http://schemas.openxmlformats.org/drawingml/2006/main">
            <a:r>
              <a:t>说明业务差异、允许的变体、桌面手机重排及请求/状态契约。</a:t>
            </a:r>
          </a:p>
          <a:p xmlns:a="http://schemas.openxmlformats.org/drawingml/2006/main">
            <a:r>
              <a:t>输出新增页面的复用方法、同类回归范围及分层验收清单。</a:t>
            </a:r>
          </a:p>
          <a:p xmlns:a="http://schemas.openxmlformats.org/drawingml/2006/main">
            <a:r>
              <a:t>按实际授权执行布局或真机检查，未做的项目明确保留。</a:t>
            </a:r>
          </a:p>
          <a:p xmlns:a="http://schemas.openxmlformats.org/drawingml/2006/main">
            <a:r>
              <a:t>已有页面按本次修改范围逐步对齐，不为外观一次重构全站。</a:t>
            </a:r>
          </a:p>
          <a:p xmlns:a="http://schemas.openxmlformats.org/drawingml/2006/main">
            <a:r>
              <a:t>~~~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D:\存在小站\docs\技术架构.md</a:t>
            </a:r>
          </a:p>
          <a:p xmlns:a="http://schemas.openxmlformats.org/drawingml/2006/main">
            <a:r>
              <a:t>D:\存在小站\public\shared\style.css</a:t>
            </a:r>
          </a:p>
          <a:p xmlns:a="http://schemas.openxmlformats.org/drawingml/2006/main">
            <a:r>
              <a:t>D:\存在小站\public\shared\business-table.js</a:t>
            </a:r>
          </a:p>
          <a:p xmlns:a="http://schemas.openxmlformats.org/drawingml/2006/main">
            <a:r>
              <a:t>D:\存在小站\public\shared\mobile-ui.js</a:t>
            </a:r>
          </a:p>
          <a:p xmlns:a="http://schemas.openxmlformats.org/drawingml/2006/main">
            <a:r>
              <a:t>D:\存在小站\public\shared\chart-interaction.js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公共不足扩展共享入口，业务页保留字段宽度等差异。手机和桌面使用同一权限、计算和数据。密集内容局部横滑，状态和旧响应有明确契约。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D:\存在小站\docs\技术架构.md</a:t>
            </a:r>
          </a:p>
          <a:p xmlns:a="http://schemas.openxmlformats.org/drawingml/2006/main">
            <a:r>
              <a:t>D:\存在小站\public\shared\style.css</a:t>
            </a:r>
          </a:p>
          <a:p xmlns:a="http://schemas.openxmlformats.org/drawingml/2006/main">
            <a:r>
              <a:t>D:\存在小站\public\shared\business-table.js</a:t>
            </a:r>
          </a:p>
          <a:p xmlns:a="http://schemas.openxmlformats.org/drawingml/2006/main">
            <a:r>
              <a:t>D:\存在小站\public\shared\mobile-ui.js</a:t>
            </a:r>
          </a:p>
          <a:p xmlns:a="http://schemas.openxmlformats.org/drawingml/2006/main">
            <a:r>
              <a:t>D:\存在小站\public\shared\chart-interaction.js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生成最小设计规则、代表性页面、变体和状态/请求契约。行为、浏览器布局和真机分别记录，允许环境内执行，静态检查不代替真机。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项目适配提示词：</a:t>
            </a:r>
          </a:p>
          <a:p xmlns:a="http://schemas.openxmlformats.org/drawingml/2006/main">
            <a:r>
              <a:t>### 让 AI 按自己的项目生成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~~~text</a:t>
            </a:r>
          </a:p>
          <a:p xmlns:a="http://schemas.openxmlformats.org/drawingml/2006/main">
            <a:r>
              <a:t>请为【项目与代表性页面】适配“共享前端”方案。</a:t>
            </a:r>
          </a:p>
          <a:p xmlns:a="http://schemas.openxmlformats.org/drawingml/2006/main">
            <a:r>
              <a:t>先检查当前主题、控件、页面状态、手机布局和公共实现。</a:t>
            </a:r>
          </a:p>
          <a:p xmlns:a="http://schemas.openxmlformats.org/drawingml/2006/main">
            <a:r>
              <a:t>列出可复用能力及真正缺口，给出一套最小设计规则和共享入口。</a:t>
            </a:r>
          </a:p>
          <a:p xmlns:a="http://schemas.openxmlformats.org/drawingml/2006/main">
            <a:r>
              <a:t>用一张代表性页面覆盖主要控件和加载/空/错/权限/过期状态。</a:t>
            </a:r>
          </a:p>
          <a:p xmlns:a="http://schemas.openxmlformats.org/drawingml/2006/main">
            <a:r>
              <a:t>说明业务差异、允许的变体、桌面手机重排及请求/状态契约。</a:t>
            </a:r>
          </a:p>
          <a:p xmlns:a="http://schemas.openxmlformats.org/drawingml/2006/main">
            <a:r>
              <a:t>输出新增页面的复用方法、同类回归范围及分层验收清单。</a:t>
            </a:r>
          </a:p>
          <a:p xmlns:a="http://schemas.openxmlformats.org/drawingml/2006/main">
            <a:r>
              <a:t>按实际授权执行布局或真机检查，未做的项目明确保留。</a:t>
            </a:r>
          </a:p>
          <a:p xmlns:a="http://schemas.openxmlformats.org/drawingml/2006/main">
            <a:r>
              <a:t>已有页面按本次修改范围逐步对齐，不为外观一次重构全站。</a:t>
            </a:r>
          </a:p>
          <a:p xmlns:a="http://schemas.openxmlformats.org/drawingml/2006/main">
            <a:r>
              <a:t>~~~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D:\存在小站\docs\技术架构.md</a:t>
            </a:r>
          </a:p>
          <a:p xmlns:a="http://schemas.openxmlformats.org/drawingml/2006/main">
            <a:r>
              <a:t>D:\存在小站\public\shared\style.css</a:t>
            </a:r>
          </a:p>
          <a:p xmlns:a="http://schemas.openxmlformats.org/drawingml/2006/main">
            <a:r>
              <a:t>D:\存在小站\public\shared\business-table.js</a:t>
            </a:r>
          </a:p>
          <a:p xmlns:a="http://schemas.openxmlformats.org/drawingml/2006/main">
            <a:r>
              <a:t>D:\存在小站\public\shared\mobile-ui.js</a:t>
            </a:r>
          </a:p>
          <a:p xmlns:a="http://schemas.openxmlformats.org/drawingml/2006/main">
            <a:r>
              <a:t>D:\存在小站\public\shared\chart-interaction.js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任务契约、共同验收、根因核查、自动门禁和集成责任共同约束 AI。知识提供当前事实，验证将事实变成可判断条件。避免只优化当前症状而破坏原能力。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完整方案与可复制契约：</a:t>
            </a:r>
          </a:p>
          <a:p xmlns:a="http://schemas.openxmlformats.org/drawingml/2006/main">
            <a:r>
              <a:t>## 方案 5：任务验证与协作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为什么需要这套方案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反复告诉 AI 同一句话，仍可能重复出错。原因可能是约束未接续、新旧文档冲突、共享实现分散、测试预期错误、存量数据未修复，或者运行服务还在使用旧代码。只盯一个目标，还容易出现页面更快但数据变旧、任务更稳但遗漏对象、手机更窄但删了关键字段的跷跷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这套方案把**任务契约、共同验收、根因核查、自动门禁和集成责任**结合起来。方案 1 负责找到正确事实；本方案负责把事实转成可判断条件，并证明最终组合满足条件。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怎样工作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每项任务先写目标、范围、必须保留的条件与完成证据。调查沿来源、数据库、服务、接口、页面/任务、权限和环境展开，结论分别标为已确认、推测和待核验。实现优先复用方案 2—4 的公共入口。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共同验收条件把改善目标与原能力放在一起：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希望改善 | 同时必须保持 | 应采用的公共机制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页面更快 | 来源、日期、权限与口径正确 | 读取与采集分离、明确快照和刷新 |</a:t>
            </a:r>
          </a:p>
          <a:p xmlns:a="http://schemas.openxmlformats.org/drawingml/2006/main">
            <a:r>
              <a:t>| 批量任务更稳 | 所有目标最终覆盖、部分不伪报成功 | 保存进度、阶段续跑与质量发布 |</a:t>
            </a:r>
          </a:p>
          <a:p xmlns:a="http://schemas.openxmlformats.org/drawingml/2006/main">
            <a:r>
              <a:t>| 手机更好用 | 完整字段、桌面与计算仍可用 | 共享重排、局部横滑和同类回归 |</a:t>
            </a:r>
          </a:p>
          <a:p xmlns:a="http://schemas.openxmlformats.org/drawingml/2006/main">
            <a:r>
              <a:t>| 少读资料/少用 token | 必要约束与未完成事项仍可找到 | 主题路由、权威归属与精简交接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真实目标冲突时说明可提供结果、降级边界与恢复条件。不能靠弱化测试、改口径、丢工作或无依据补值来获得表面通过。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Bug 从用户样本找到最早偏差，再定位公共根因与保护失效原因。修复分别处理代码、旧数据、缓存和运行状态；核查全部适用同类范围，报告通过/失败/未核验数量。重大或重复故障在原事故位置留下证据，同类第三次出现后升级通用不变量检查。[完整链路与同类核查规则](../AGENTS.md)、[日期反复出错案例](incidents/INC-0032-全项目日期时间边界审计与整改方案.md)、[内部等待误熔断案例](incidents/INC-0006-港币汇率预算等待误熔断.m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新手的最小配置与可复制任务契约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先有一份任务契约、一组保护核心流程的正常/失败用例和一个统一检查入口。重复错误出现后，把共性规则绑定到公共实现与反例检查，再接入 CI。小的可逆修改不需要为了形式写大量镜像测试，检查应保护真实业务条件。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~~~text</a:t>
            </a:r>
          </a:p>
          <a:p xmlns:a="http://schemas.openxmlformats.org/drawingml/2006/main">
            <a:r>
              <a:t>本次目标/复现/预期：【】；基线与环境：【】。</a:t>
            </a:r>
          </a:p>
          <a:p xmlns:a="http://schemas.openxmlformats.org/drawingml/2006/main">
            <a:r>
              <a:t>范围与允许改动文件：【】；已有授权及边界：【】。</a:t>
            </a:r>
          </a:p>
          <a:p xmlns:a="http://schemas.openxmlformats.org/drawingml/2006/main">
            <a:r>
              <a:t>已有能力、可复用入口、真正缺口：【】。</a:t>
            </a:r>
          </a:p>
          <a:p xmlns:a="http://schemas.openxmlformats.org/drawingml/2006/main">
            <a:r>
              <a:t>本次改善：【】；必须同时保留的业务条件：【】。</a:t>
            </a:r>
          </a:p>
          <a:p xmlns:a="http://schemas.openxmlformats.org/drawingml/2006/main">
            <a:r>
              <a:t>完整影响链路及同类范围：【】。</a:t>
            </a:r>
          </a:p>
          <a:p xmlns:a="http://schemas.openxmlformats.org/drawingml/2006/main">
            <a:r>
              <a:t>已确认事实、假设、待核验内容：【】。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实施与防复发：</a:t>
            </a:r>
          </a:p>
          <a:p xmlns:a="http://schemas.openxmlformats.org/drawingml/2006/main">
            <a:r>
              <a:t>- 公共根因与保护失效原因：【Bug 任务填写】。</a:t>
            </a:r>
          </a:p>
          <a:p xmlns:a="http://schemas.openxmlformats.org/drawingml/2006/main">
            <a:r>
              <a:t>- 共享实现、数据库约束或其他预防入口：【】。</a:t>
            </a:r>
          </a:p>
          <a:p xmlns:a="http://schemas.openxmlformats.org/drawingml/2006/main">
            <a:r>
              <a:t>- 存量数据、缓存、运行状态和迁移处理：【】。</a:t>
            </a:r>
          </a:p>
          <a:p xmlns:a="http://schemas.openxmlformats.org/drawingml/2006/main">
            <a:r>
              <a:t>- 正常、失败、边界、旧反例与同类核查：【】。</a:t>
            </a:r>
          </a:p>
          <a:p xmlns:a="http://schemas.openxmlformats.org/drawingml/2006/main">
            <a:r>
              <a:t>- 规则位置、实现符号、检查命令与最终执行入口：【】。</a:t>
            </a:r>
          </a:p>
          <a:p xmlns:a="http://schemas.openxmlformats.org/drawingml/2006/main">
            <a:r>
              <a:t>- 命中文档、替代结论和未完成去向：【】。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完成证据：</a:t>
            </a:r>
          </a:p>
          <a:p xmlns:a="http://schemas.openxmlformats.org/drawingml/2006/main">
            <a:r>
              <a:t>检查版本/环境/命令/结果：【】。</a:t>
            </a:r>
          </a:p>
          <a:p xmlns:a="http://schemas.openxmlformats.org/drawingml/2006/main">
            <a:r>
              <a:t>同类总数/通过/失败/未核验：【】。</a:t>
            </a:r>
          </a:p>
          <a:p xmlns:a="http://schemas.openxmlformats.org/drawingml/2006/main">
            <a:r>
              <a:t>本地运行、生产、数据和恢复各自状态：【】。</a:t>
            </a:r>
          </a:p>
          <a:p xmlns:a="http://schemas.openxmlformats.org/drawingml/2006/main">
            <a:r>
              <a:t>剩余问题与下一步：【】。</a:t>
            </a:r>
          </a:p>
          <a:p xmlns:a="http://schemas.openxmlformats.org/drawingml/2006/main">
            <a:r>
              <a:t>~~~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自动门禁的固定过程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一条规则要能说明触发、条件、通过证据与失败处理。登记权威位置、实现符号、正反例、命令及最终执行入口，再用一个违反规则的最小例子证明检查会失败，修正后证明会通过。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~~~text</a:t>
            </a:r>
          </a:p>
          <a:p xmlns:a="http://schemas.openxmlformats.org/drawingml/2006/main">
            <a:r>
              <a:t>规则 ID/权威位置：【】；适用范围/业务不变量：【】。</a:t>
            </a:r>
          </a:p>
          <a:p xmlns:a="http://schemas.openxmlformats.org/drawingml/2006/main">
            <a:r>
              <a:t>状态：【仅文字 / 已实现待接入 / 已接入待验证 / 已验证】。</a:t>
            </a:r>
          </a:p>
          <a:p xmlns:a="http://schemas.openxmlformats.org/drawingml/2006/main">
            <a:r>
              <a:t>实现文件与符号：【】；正常/失败/边界/旧反例：【】。</a:t>
            </a:r>
          </a:p>
          <a:p xmlns:a="http://schemas.openxmlformats.org/drawingml/2006/main">
            <a:r>
              <a:t>本地命令与 CI/交付入口：【】；失败阻断阶段与提示：【】。</a:t>
            </a:r>
          </a:p>
          <a:p xmlns:a="http://schemas.openxmlformats.org/drawingml/2006/main">
            <a:r>
              <a:t>负责人、最后验证版本和证据：【】。</a:t>
            </a:r>
          </a:p>
          <a:p xmlns:a="http://schemas.openxmlformats.org/drawingml/2006/main">
            <a:r>
              <a:t>~~~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检查未实现或未接入时保持待补齐。不能删除断言、吞异常、允许所有失败后再称门禁通过。项目约定的关键跳过项应阻断相应交付，其他未运行项也要单独报告。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本项目已有门禁可作为迁移参考；下表确认仓库实现和接入方式，不表示本轮重新运行了全部测试或 CI。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已有能力 | 入口 | 迁移到新项目时的边界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知识、版本和任务矩阵检查 | `scripts/check-knowledge.js`，`npm.cmd run check:knowledge` | 按自己的目录、版本和规则实现，语义仍需核对 |</a:t>
            </a:r>
          </a:p>
          <a:p xmlns:a="http://schemas.openxmlformats.org/drawingml/2006/main">
            <a:r>
              <a:t>| 日期边界与回归 | `scripts/check-date-boundary.js`，`npm.cmd run check:date` | 验证真实类型、业务时区与目标日传递 |</a:t>
            </a:r>
          </a:p>
          <a:p xmlns:a="http://schemas.openxmlformats.org/drawingml/2006/main">
            <a:r>
              <a:t>| 统一回归入口 | `server/test/run-all.js`，`npm.cmd run test:all` | 隔离测试数据，记录跳过；CI 关键跳过判失败 |</a:t>
            </a:r>
          </a:p>
          <a:p xmlns:a="http://schemas.openxmlformats.org/drawingml/2006/main">
            <a:r>
              <a:t>| 前端与任务规则保护 | 移动行为、资源版本、任务保护等测试，规则追踪与矩阵 | 对自己的公共行为和不变量建检查 |</a:t>
            </a:r>
          </a:p>
          <a:p xmlns:a="http://schemas.openxmlformats.org/drawingml/2006/main">
            <a:r>
              <a:t>| CI 基础与安全 | 语法、JSON、全量测试、知识检查、依赖审计和秘密扫描 | 匹配语言与环境，扫描未命中不能证明没有泄露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外部行情合约测试在本项目 CI 中是非阻断步骤，不能当必过验证；文字知识时效、真机与生产恢复也不能由静态门禁代替。[测试入口](../server/test/run-all.js)、[CI 配置](../.github/workflows/ci.yml)、[规则追踪](../governance/rule-traceability.json)、[任务矩阵生成](../scripts/generate-job-matrix.js)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多 Agent 怎样接入同一方案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先确定共同契约与基线，再按独立工作和写入范围分工。共享样式、迁移序列、锁文件、接口契约和权威文档由明确负责人协调；一个集成者验收合并后的完整链路。每个 Agent 按方案 1 阅读和交接，不各自复制一份事实。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~~~text</a:t>
            </a:r>
          </a:p>
          <a:p xmlns:a="http://schemas.openxmlformats.org/drawingml/2006/main">
            <a:r>
              <a:t>共同目标/基线/契约/完成条件：【】。</a:t>
            </a:r>
          </a:p>
          <a:p xmlns:a="http://schemas.openxmlformats.org/drawingml/2006/main">
            <a:r>
              <a:t>集成者及共享文件/数据库/最终发布负责人：【】。</a:t>
            </a:r>
          </a:p>
          <a:p xmlns:a="http://schemas.openxmlformats.org/drawingml/2006/main">
            <a:r>
              <a:t>Agent A：目标【】；可写【】；依赖【】；检查【】。</a:t>
            </a:r>
          </a:p>
          <a:p xmlns:a="http://schemas.openxmlformats.org/drawingml/2006/main">
            <a:r>
              <a:t>Agent B：目标【】；可写【】；依赖【】；检查【】。</a:t>
            </a:r>
          </a:p>
          <a:p xmlns:a="http://schemas.openxmlformats.org/drawingml/2006/main">
            <a:r>
              <a:t>契约变更由谁协调：【】。</a:t>
            </a:r>
          </a:p>
          <a:p xmlns:a="http://schemas.openxmlformats.org/drawingml/2006/main">
            <a:r>
              <a:t>交接只保留变更、已确认结论、证据、未知项、剩余工作和下一步。</a:t>
            </a:r>
          </a:p>
          <a:p xmlns:a="http://schemas.openxmlformats.org/drawingml/2006/main">
            <a:r>
              <a:t>合并后由集成者核对完整链路、同类范围并运行最终统一验收。</a:t>
            </a:r>
          </a:p>
          <a:p xmlns:a="http://schemas.openxmlformats.org/drawingml/2006/main">
            <a:r>
              <a:t>~~~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Git worktree 可以隔离分支文件，不能自动隔离数据库、端口、凭据或外部副作用。需要写数据的工作明确测试库与迁移顺序，共用外部凭据仍走统一 Guard。小任务由一个 Agent 顺序完成即可。[Git worktree 能力](https://git-scm.com/docs/git-worktree)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人负责目标、重要取舍和授权边界，AI 负责调查与实施，集成者负责整体证据。已经授权的普通可逆工作继续推进；生产写入、不可逆动作或扩大范围按已有边界处理。没有新证据的重复尝试应调整调查方向，预算与时限只决定分批和交接，不能把未完成改称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让 AI 按自己的项目生成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~~~text</a:t>
            </a:r>
          </a:p>
          <a:p xmlns:a="http://schemas.openxmlformats.org/drawingml/2006/main">
            <a:r>
              <a:t>请为【本次功能或问题】适配“任务验证与协作”方案。</a:t>
            </a:r>
          </a:p>
          <a:p xmlns:a="http://schemas.openxmlformats.org/drawingml/2006/main">
            <a:r>
              <a:t>先读取相关权威事实并核对基线，列出目标、范围、未知和共同不变量。</a:t>
            </a:r>
          </a:p>
          <a:p xmlns:a="http://schemas.openxmlformats.org/drawingml/2006/main">
            <a:r>
              <a:t>检查完整影响链路、旧反例、同类对象及存量/运行状态。</a:t>
            </a:r>
          </a:p>
          <a:p xmlns:a="http://schemas.openxmlformats.org/drawingml/2006/main">
            <a:r>
              <a:t>把关键规则绑定公共实现、有效反例和真实检查入口。</a:t>
            </a:r>
          </a:p>
          <a:p xmlns:a="http://schemas.openxmlformats.org/drawingml/2006/main">
            <a:r>
              <a:t>区分文字规则、待接入和已验证门禁，并验证违规例子确实失败。</a:t>
            </a:r>
          </a:p>
          <a:p xmlns:a="http://schemas.openxmlformats.org/drawingml/2006/main">
            <a:r>
              <a:t>仅在工作独立时提出多 Agent 分工，固定契约、写入范围与集成责任。</a:t>
            </a:r>
          </a:p>
          <a:p xmlns:a="http://schemas.openxmlformats.org/drawingml/2006/main">
            <a:r>
              <a:t>输出具体验收证据、未验证项、知识更新位置和接续内容。</a:t>
            </a:r>
          </a:p>
          <a:p xmlns:a="http://schemas.openxmlformats.org/drawingml/2006/main">
            <a:r>
              <a:t>原有正确条件必须共同通过，不能为新方案弱化它们。</a:t>
            </a:r>
          </a:p>
          <a:p xmlns:a="http://schemas.openxmlformats.org/drawingml/2006/main">
            <a:r>
              <a:t>~~~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D:\存在小站\AGENTS.md</a:t>
            </a:r>
          </a:p>
          <a:p xmlns:a="http://schemas.openxmlformats.org/drawingml/2006/main">
            <a:r>
              <a:t>D:\存在小站\governance\rule-traceability.json</a:t>
            </a:r>
          </a:p>
          <a:p xmlns:a="http://schemas.openxmlformats.org/drawingml/2006/main">
            <a:r>
              <a:t>D:\存在小站\server\test\run-all.js</a:t>
            </a:r>
          </a:p>
          <a:p xmlns:a="http://schemas.openxmlformats.org/drawingml/2006/main">
            <a:r>
              <a:t>D:\存在小站\.github\workflows\ci.yml</a:t>
            </a:r>
          </a:p>
          <a:p xmlns:a="http://schemas.openxmlformats.org/drawingml/2006/main">
            <a:r>
              <a:t>https://git-scm.com/docs/git-worktree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契约记录目标、范围、基线、事实与未知、共同条件、影响链路、存量与运行恢复、检查及知识位置。具体证据将考虑全面落实为可复核内容。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D:\存在小站\AGENTS.md</a:t>
            </a:r>
          </a:p>
          <a:p xmlns:a="http://schemas.openxmlformats.org/drawingml/2006/main">
            <a:r>
              <a:t>D:\存在小站\governance\rule-traceability.json</a:t>
            </a:r>
          </a:p>
          <a:p xmlns:a="http://schemas.openxmlformats.org/drawingml/2006/main">
            <a:r>
              <a:t>D:\存在小站\server\test\run-all.js</a:t>
            </a:r>
          </a:p>
          <a:p xmlns:a="http://schemas.openxmlformats.org/drawingml/2006/main">
            <a:r>
              <a:t>D:\存在小站\.github\workflows\ci.yml</a:t>
            </a:r>
          </a:p>
          <a:p xmlns:a="http://schemas.openxmlformats.org/drawingml/2006/main">
            <a:r>
              <a:t>https://git-scm.com/docs/git-worktree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用户样本用于定位公共根因，沿完整链路找到最早偏差。代码、旧数据、缓存和运行状态分别处理。同类集合有数量与异常去向。第三次同类故障升级通用检查。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D:\存在小站\AGENTS.md</a:t>
            </a:r>
          </a:p>
          <a:p xmlns:a="http://schemas.openxmlformats.org/drawingml/2006/main">
            <a:r>
              <a:t>D:\存在小站\governance\rule-traceability.json</a:t>
            </a:r>
          </a:p>
          <a:p xmlns:a="http://schemas.openxmlformats.org/drawingml/2006/main">
            <a:r>
              <a:t>D:\存在小站\server\test\run-all.js</a:t>
            </a:r>
          </a:p>
          <a:p xmlns:a="http://schemas.openxmlformats.org/drawingml/2006/main">
            <a:r>
              <a:t>D:\存在小站\.github\workflows\ci.yml</a:t>
            </a:r>
          </a:p>
          <a:p xmlns:a="http://schemas.openxmlformats.org/drawingml/2006/main">
            <a:r>
              <a:t>https://git-scm.com/docs/git-worktree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规则绑定触发、业务条件、权威位置、实现符号、正反例和最终执行入口。违规例子非零失败，修正后通过。未接入状态不能叫自动门禁已完成。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D:\存在小站\AGENTS.md</a:t>
            </a:r>
          </a:p>
          <a:p xmlns:a="http://schemas.openxmlformats.org/drawingml/2006/main">
            <a:r>
              <a:t>D:\存在小站\governance\rule-traceability.json</a:t>
            </a:r>
          </a:p>
          <a:p xmlns:a="http://schemas.openxmlformats.org/drawingml/2006/main">
            <a:r>
              <a:t>D:\存在小站\server\test\run-all.js</a:t>
            </a:r>
          </a:p>
          <a:p xmlns:a="http://schemas.openxmlformats.org/drawingml/2006/main">
            <a:r>
              <a:t>D:\存在小站\.github\workflows\ci.yml</a:t>
            </a:r>
          </a:p>
          <a:p xmlns:a="http://schemas.openxmlformats.org/drawingml/2006/main">
            <a:r>
              <a:t>https://git-scm.com/docs/git-worktree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本项目存在这些脚本与 CI 接入，不代表本次执行全部测试与 CI。新项目按自己结构实现。外部行情合约非阻断，知识语义、真机和实际恢复仍需对应证据。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D:\存在小站\AGENTS.md</a:t>
            </a:r>
          </a:p>
          <a:p xmlns:a="http://schemas.openxmlformats.org/drawingml/2006/main">
            <a:r>
              <a:t>D:\存在小站\governance\rule-traceability.json</a:t>
            </a:r>
          </a:p>
          <a:p xmlns:a="http://schemas.openxmlformats.org/drawingml/2006/main">
            <a:r>
              <a:t>D:\存在小站\server\test\run-all.js</a:t>
            </a:r>
          </a:p>
          <a:p xmlns:a="http://schemas.openxmlformats.org/drawingml/2006/main">
            <a:r>
              <a:t>D:\存在小站\.github\workflows\ci.yml</a:t>
            </a:r>
          </a:p>
          <a:p xmlns:a="http://schemas.openxmlformats.org/drawingml/2006/main">
            <a:r>
              <a:t>https://git-scm.com/docs/git-worktree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先确定目标、基线、接口和写入范围，再按独立工作并行。集成者检查组合后的完整链路。worktree 不隔离数据库、端口和凭据。知识按方案 1 路由与交接，预算只影响分批。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项目适配提示词：</a:t>
            </a:r>
          </a:p>
          <a:p xmlns:a="http://schemas.openxmlformats.org/drawingml/2006/main">
            <a:r>
              <a:t>### 让 AI 按自己的项目生成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~~~text</a:t>
            </a:r>
          </a:p>
          <a:p xmlns:a="http://schemas.openxmlformats.org/drawingml/2006/main">
            <a:r>
              <a:t>请为【本次功能或问题】适配“任务验证与协作”方案。</a:t>
            </a:r>
          </a:p>
          <a:p xmlns:a="http://schemas.openxmlformats.org/drawingml/2006/main">
            <a:r>
              <a:t>先读取相关权威事实并核对基线，列出目标、范围、未知和共同不变量。</a:t>
            </a:r>
          </a:p>
          <a:p xmlns:a="http://schemas.openxmlformats.org/drawingml/2006/main">
            <a:r>
              <a:t>检查完整影响链路、旧反例、同类对象及存量/运行状态。</a:t>
            </a:r>
          </a:p>
          <a:p xmlns:a="http://schemas.openxmlformats.org/drawingml/2006/main">
            <a:r>
              <a:t>把关键规则绑定公共实现、有效反例和真实检查入口。</a:t>
            </a:r>
          </a:p>
          <a:p xmlns:a="http://schemas.openxmlformats.org/drawingml/2006/main">
            <a:r>
              <a:t>区分文字规则、待接入和已验证门禁，并验证违规例子确实失败。</a:t>
            </a:r>
          </a:p>
          <a:p xmlns:a="http://schemas.openxmlformats.org/drawingml/2006/main">
            <a:r>
              <a:t>仅在工作独立时提出多 Agent 分工，固定契约、写入范围与集成责任。</a:t>
            </a:r>
          </a:p>
          <a:p xmlns:a="http://schemas.openxmlformats.org/drawingml/2006/main">
            <a:r>
              <a:t>输出具体验收证据、未验证项、知识更新位置和接续内容。</a:t>
            </a:r>
          </a:p>
          <a:p xmlns:a="http://schemas.openxmlformats.org/drawingml/2006/main">
            <a:r>
              <a:t>原有正确条件必须共同通过，不能为新方案弱化它们。</a:t>
            </a:r>
          </a:p>
          <a:p xmlns:a="http://schemas.openxmlformats.org/drawingml/2006/main">
            <a:r>
              <a:t>~~~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D:\存在小站\AGENTS.md</a:t>
            </a:r>
          </a:p>
          <a:p xmlns:a="http://schemas.openxmlformats.org/drawingml/2006/main">
            <a:r>
              <a:t>D:\存在小站\governance\rule-traceability.json</a:t>
            </a:r>
          </a:p>
          <a:p xmlns:a="http://schemas.openxmlformats.org/drawingml/2006/main">
            <a:r>
              <a:t>D:\存在小站\server\test\run-all.js</a:t>
            </a:r>
          </a:p>
          <a:p xmlns:a="http://schemas.openxmlformats.org/drawingml/2006/main">
            <a:r>
              <a:t>D:\存在小站\.github\workflows\ci.yml</a:t>
            </a:r>
          </a:p>
          <a:p xmlns:a="http://schemas.openxmlformats.org/drawingml/2006/main">
            <a:r>
              <a:t>https://git-scm.com/docs/git-worktree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真实服务版本、资源、任务和数据均需要运行证据。发布和恢复依据标准入口与已有授权。用户核心流程、资源、费用和返工反馈决定下一轮投入。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完整方案与可复制契约：</a:t>
            </a:r>
          </a:p>
          <a:p xmlns:a="http://schemas.openxmlformats.org/drawingml/2006/main">
            <a:r>
              <a:t>## 方案 6：发布恢复与反馈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为什么需要这套方案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文件改好、测试通过和服务真正加载新代码是不同阶段。版本、静态资源、Worker、迁移或历史数据没有同步时，用户仍会遇到旧结果。只看健康接口还会漏掉字段、权限、任务分区与恢复问题。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这套方案把本地闭环、Git 范围、标准发布、运行验收和恢复连在一起，再用真实使用与成本反馈决定下次建设。它同时给 AI 一个明确的完成边界。[本项目发布流程](生产部署流程.md)、[本地环境核对](../deploy/本地验证交接文档.md)、[实际运行与配置边界](技术架构.md)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怎样工作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阶段 | 放行证据 | 失败时处理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版本与最终检查 | 变更记录、代码、适用检查相符，失败/跳过已处理 | 修复或保留阻塞，不以口头结论放行 |</a:t>
            </a:r>
          </a:p>
          <a:p xmlns:a="http://schemas.openxmlformats.org/drawingml/2006/main">
            <a:r>
              <a:t>| 本地运行 | 实际进程、健康版本、相关接口与资源一致 | 刷新正确进程，再验收 |</a:t>
            </a:r>
          </a:p>
          <a:p xmlns:a="http://schemas.openxmlformats.org/drawingml/2006/main">
            <a:r>
              <a:t>| Git 发布范围 | 精确暂存，待部署提交已到目标远端 | 排除无关文件，补齐可追溯版本 |</a:t>
            </a:r>
          </a:p>
          <a:p xmlns:a="http://schemas.openxmlformats.org/drawingml/2006/main">
            <a:r>
              <a:t>| 标准部署 | 配置/迁移/备份和服务按既定流程执行 | 按恢复条件处理，不临时覆盖文件 |</a:t>
            </a:r>
          </a:p>
          <a:p xmlns:a="http://schemas.openxmlformats.org/drawingml/2006/main">
            <a:r>
              <a:t>| 部署后验收 | 提交、服务、资源、字段、任务与质量有证据 | 任一必需项失败即未完成发布 |</a:t>
            </a:r>
          </a:p>
          <a:p xmlns:a="http://schemas.openxmlformats.org/drawingml/2006/main">
            <a:r>
              <a:t>| 恢复演练 | 隔离恢复、关键对账和核心流程通过 | 文件生成成功不能当可恢复证明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变化后按自己的配置刷新本地服务；只改文档或演示材料无需为此重启业务服务。前端看实际响应的资源版本/内容，后台确认任务定义和进程版本。生产数据同步不是每次部署的固定步骤，只有需要写入且已明确授权时，才按对象、日期和范围处理，不顺带扩大历史回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Git 只提交本次范围，先检查 `git status` 和差异，再精确 `git add -- "【本任务文件】"`，检查 `git diff --cached --name-only` 与暂存差异。数据库、私钥、环境敏感值和其他人的未跟踪文件不能顺带入库。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户、资源、导出、下载和后台入口的权限由服务端核查。备份和日志控制访问，迁移使用自己的受控入口；主机路径、服务名、认证与指纹按当前环境核实，不复制本项目个人配置。[授权检查参考](https://cheatsheetseries.owasp.org/cheatsheets/Authorization_Cheat_Sheet.html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新手的最小配置与可复制发布契约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写自己的版本来源、启动方式、健康接口、部署与恢复步骤，并完成一次代表性功能的本地验收。数据重要时从第一版就准备备份，并在隔离环境验证恢复。持续运行和复杂任务增加后再扩展自动健康、质量告警与异地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~~~text</a:t>
            </a:r>
          </a:p>
          <a:p xmlns:a="http://schemas.openxmlformats.org/drawingml/2006/main">
            <a:r>
              <a:t>本次变更/版本/目标提交：【】；本地与生产环境：【】。</a:t>
            </a:r>
          </a:p>
          <a:p xmlns:a="http://schemas.openxmlformats.org/drawingml/2006/main">
            <a:r>
              <a:t>标准发布文档/命令入口：【实际入口】。</a:t>
            </a:r>
          </a:p>
          <a:p xmlns:a="http://schemas.openxmlformats.org/drawingml/2006/main">
            <a:r>
              <a:t>相关检查、最终检查、知识同步及证据：【】。</a:t>
            </a:r>
          </a:p>
          <a:p xmlns:a="http://schemas.openxmlformats.org/drawingml/2006/main">
            <a:r>
              <a:t>本地刷新方式与健康/接口/静态资源核对：【】。</a:t>
            </a:r>
          </a:p>
          <a:p xmlns:a="http://schemas.openxmlformats.org/drawingml/2006/main">
            <a:r>
              <a:t>迁移、配置、后台任务与数据影响：【】。</a:t>
            </a:r>
          </a:p>
          <a:p xmlns:a="http://schemas.openxmlformats.org/drawingml/2006/main">
            <a:r>
              <a:t>已有生产授权与写入对象/日期/范围：【】。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发布顺序：</a:t>
            </a:r>
          </a:p>
          <a:p xmlns:a="http://schemas.openxmlformats.org/drawingml/2006/main">
            <a:r>
              <a:t>1. 同步版本和变更记录，完成适用最终验证。</a:t>
            </a:r>
          </a:p>
          <a:p xmlns:a="http://schemas.openxmlformats.org/drawingml/2006/main">
            <a:r>
              <a:t>2. 检查范围，精确暂存并按已授权流程提交推送。</a:t>
            </a:r>
          </a:p>
          <a:p xmlns:a="http://schemas.openxmlformats.org/drawingml/2006/main">
            <a:r>
              <a:t>3. 核对远端目标版本、备份与恢复条件。</a:t>
            </a:r>
          </a:p>
          <a:p xmlns:a="http://schemas.openxmlformats.org/drawingml/2006/main">
            <a:r>
              <a:t>4. 按标准部署入口处理配置/迁移并刷新实际服务。</a:t>
            </a:r>
          </a:p>
          <a:p xmlns:a="http://schemas.openxmlformats.org/drawingml/2006/main">
            <a:r>
              <a:t>5. 验收提交、健康、资源、接口字段、权限、任务与数据质量。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恢复：</a:t>
            </a:r>
          </a:p>
          <a:p xmlns:a="http://schemas.openxmlformats.org/drawingml/2006/main">
            <a:r>
              <a:t>- 触发条件、负责人、可用旧版本和步骤：【】。</a:t>
            </a:r>
          </a:p>
          <a:p xmlns:a="http://schemas.openxmlformats.org/drawingml/2006/main">
            <a:r>
              <a:t>- 数据/配置与代码怎样共同恢复：【】。</a:t>
            </a:r>
          </a:p>
          <a:p xmlns:a="http://schemas.openxmlformats.org/drawingml/2006/main">
            <a:r>
              <a:t>- 隔离恢复、关键数量/质量、核心业务验证：【】。</a:t>
            </a:r>
          </a:p>
          <a:p xmlns:a="http://schemas.openxmlformats.org/drawingml/2006/main">
            <a:r>
              <a:t>- 预期恢复时间与真实未演练项：【】。</a:t>
            </a:r>
          </a:p>
          <a:p xmlns:a="http://schemas.openxmlformats.org/drawingml/2006/main">
            <a:r>
              <a:t>- 回滚后的运行、数据与告警证据：【】。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交付回执：</a:t>
            </a:r>
          </a:p>
          <a:p xmlns:a="http://schemas.openxmlformats.org/drawingml/2006/main">
            <a:r>
              <a:t>结果/版本/环境/证据：【】；同类核查数量与异常：【】。</a:t>
            </a:r>
          </a:p>
          <a:p xmlns:a="http://schemas.openxmlformats.org/drawingml/2006/main">
            <a:r>
              <a:t>本地、生产、数据、恢复各自状态：【】。</a:t>
            </a:r>
          </a:p>
          <a:p xmlns:a="http://schemas.openxmlformats.org/drawingml/2006/main">
            <a:r>
              <a:t>知识新增、替换、合并、归档或不新增及理由：【】。</a:t>
            </a:r>
          </a:p>
          <a:p xmlns:a="http://schemas.openxmlformats.org/drawingml/2006/main">
            <a:r>
              <a:t>未验证、未完成、责任位置与下一步：【】。</a:t>
            </a:r>
          </a:p>
          <a:p xmlns:a="http://schemas.openxmlformats.org/drawingml/2006/main">
            <a:r>
              <a:t>~~~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检查选择与改动范围匹配，最终检查通过后，没有新的相关变化或未解决问题，就不反复运行昂贵检查。本项目要求运行行为变化通过全量测试；仅最终版本/变更元数据变化时按项目规则复核版本、知识和运行即可。不要把这个例外扩展到代码、依赖或数据库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成本与用户反馈怎样回到方案中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第一版按真实核心流程验证价值，再扩功能。记录用户在哪一步失败、页面/任务实际耗时、外部调用、运行资源、AI 阅读与返工情况；能测量的再比较前后。把业务需要、维护成本和测试环境纳入选择，不能只比较框架或模型单价。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相同工作频繁返工时，优先检查方案 1 的事实/路由和方案 5 的共同验收。成本主要在来源重复采集时，检查方案 3；布局重复开发时，检查方案 4。功能没有帮助核心流程时，回到方案 2 调整范围。费用、配额与资源上限按实际配置和可靠依据填写。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本项目记录了本机加密备份、隔离恢复和对账的既有验收；异地对象存储真实上传/下载恢复仍有未验收边界，不能把安装模板称为能力已验证。[备份状态与边界](技术架构.md)、[PostgreSQL 备份恢复机制](https://www.postgresql.org/docs/current/backup-dump.html)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让 AI 按自己的项目生成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~~~text</a:t>
            </a:r>
          </a:p>
          <a:p xmlns:a="http://schemas.openxmlformats.org/drawingml/2006/main">
            <a:r>
              <a:t>请为【项目和运行环境】适配“发布恢复与反馈”方案。</a:t>
            </a:r>
          </a:p>
          <a:p xmlns:a="http://schemas.openxmlformats.org/drawingml/2006/main">
            <a:r>
              <a:t>先检查真实启动、版本、检查命令、部署、权限和备份现状。</a:t>
            </a:r>
          </a:p>
          <a:p xmlns:a="http://schemas.openxmlformats.org/drawingml/2006/main">
            <a:r>
              <a:t>复用已有标准入口，输出从本地验证到部署后验收的完整顺序。</a:t>
            </a:r>
          </a:p>
          <a:p xmlns:a="http://schemas.openxmlformats.org/drawingml/2006/main">
            <a:r>
              <a:t>列出配置、迁移、任务、存量数据及共同恢复影响。</a:t>
            </a:r>
          </a:p>
          <a:p xmlns:a="http://schemas.openxmlformats.org/drawingml/2006/main">
            <a:r>
              <a:t>区分代码发布和生产数据写入，只在已有明确范围内执行后者。</a:t>
            </a:r>
          </a:p>
          <a:p xmlns:a="http://schemas.openxmlformats.org/drawingml/2006/main">
            <a:r>
              <a:t>给出代表性接口/字段/资源/任务/数据质量验收及失败恢复条件。</a:t>
            </a:r>
          </a:p>
          <a:p xmlns:a="http://schemas.openxmlformats.org/drawingml/2006/main">
            <a:r>
              <a:t>输出隔离恢复演练和交付回执，未演练项不写已验证。</a:t>
            </a:r>
          </a:p>
          <a:p xmlns:a="http://schemas.openxmlformats.org/drawingml/2006/main">
            <a:r>
              <a:t>加入核心用户流程与实际费用/资源/返工的反馈记录，不编造节省比例。</a:t>
            </a:r>
          </a:p>
          <a:p xmlns:a="http://schemas.openxmlformats.org/drawingml/2006/main">
            <a:r>
              <a:t>~~~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D:\存在小站\AGENTS.md</a:t>
            </a:r>
          </a:p>
          <a:p xmlns:a="http://schemas.openxmlformats.org/drawingml/2006/main">
            <a:r>
              <a:t>D:\存在小站\docs\生产部署流程.md</a:t>
            </a:r>
          </a:p>
          <a:p xmlns:a="http://schemas.openxmlformats.org/drawingml/2006/main">
            <a:r>
              <a:t>D:\存在小站\deploy\本地验证交接文档.md</a:t>
            </a:r>
          </a:p>
          <a:p xmlns:a="http://schemas.openxmlformats.org/drawingml/2006/main">
            <a:r>
              <a:t>D:\存在小站\docs\技术架构.md</a:t>
            </a:r>
          </a:p>
          <a:p xmlns:a="http://schemas.openxmlformats.org/drawingml/2006/main">
            <a:r>
              <a:t>https://cheatsheetseries.owasp.org/cheatsheets/Authorization_Cheat_Sheet.html</a:t>
            </a:r>
          </a:p>
          <a:p xmlns:a="http://schemas.openxmlformats.org/drawingml/2006/main">
            <a:r>
              <a:t>https://www.postgresql.org/docs/current/backup-dump.html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固定版本记录、最终检查、精确提交推送、标准部署和后验收顺序。只改文档不重启业务；代码变更刷新实际服务。生产写入按明确对象日期范围授权，不顺带全量补跑。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D:\存在小站\AGENTS.md</a:t>
            </a:r>
          </a:p>
          <a:p xmlns:a="http://schemas.openxmlformats.org/drawingml/2006/main">
            <a:r>
              <a:t>D:\存在小站\docs\生产部署流程.md</a:t>
            </a:r>
          </a:p>
          <a:p xmlns:a="http://schemas.openxmlformats.org/drawingml/2006/main">
            <a:r>
              <a:t>D:\存在小站\deploy\本地验证交接文档.md</a:t>
            </a:r>
          </a:p>
          <a:p xmlns:a="http://schemas.openxmlformats.org/drawingml/2006/main">
            <a:r>
              <a:t>D:\存在小站\docs\技术架构.md</a:t>
            </a:r>
          </a:p>
          <a:p xmlns:a="http://schemas.openxmlformats.org/drawingml/2006/main">
            <a:r>
              <a:t>https://cheatsheetseries.owasp.org/cheatsheets/Authorization_Cheat_Sheet.html</a:t>
            </a:r>
          </a:p>
          <a:p xmlns:a="http://schemas.openxmlformats.org/drawingml/2006/main">
            <a:r>
              <a:t>https://www.postgresql.org/docs/current/backup-dump.html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备份须隔离恢复与关键对账，数据和配置绑定时不能只切旧代码。本项目本机备份恢复已有验收，异地上传下载仍有未验收边界。成本根据真实使用、调用、资源和返工测量。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D:\存在小站\AGENTS.md</a:t>
            </a:r>
          </a:p>
          <a:p xmlns:a="http://schemas.openxmlformats.org/drawingml/2006/main">
            <a:r>
              <a:t>D:\存在小站\docs\生产部署流程.md</a:t>
            </a:r>
          </a:p>
          <a:p xmlns:a="http://schemas.openxmlformats.org/drawingml/2006/main">
            <a:r>
              <a:t>D:\存在小站\deploy\本地验证交接文档.md</a:t>
            </a:r>
          </a:p>
          <a:p xmlns:a="http://schemas.openxmlformats.org/drawingml/2006/main">
            <a:r>
              <a:t>D:\存在小站\docs\技术架构.md</a:t>
            </a:r>
          </a:p>
          <a:p xmlns:a="http://schemas.openxmlformats.org/drawingml/2006/main">
            <a:r>
              <a:t>https://cheatsheetseries.owasp.org/cheatsheets/Authorization_Cheat_Sheet.html</a:t>
            </a:r>
          </a:p>
          <a:p xmlns:a="http://schemas.openxmlformats.org/drawingml/2006/main">
            <a:r>
              <a:t>https://www.postgresql.org/docs/current/backup-dump.html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输出真实启动、版本、命令、部署、授权、数据影响、共同恢复和运行验收。回执分别记录结果、环境、证据、同类范围、本地生产数据恢复状态、知识变化和下一步。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项目适配提示词：</a:t>
            </a:r>
          </a:p>
          <a:p xmlns:a="http://schemas.openxmlformats.org/drawingml/2006/main">
            <a:r>
              <a:t>### 让 AI 按自己的项目生成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~~~text</a:t>
            </a:r>
          </a:p>
          <a:p xmlns:a="http://schemas.openxmlformats.org/drawingml/2006/main">
            <a:r>
              <a:t>请为【项目和运行环境】适配“发布恢复与反馈”方案。</a:t>
            </a:r>
          </a:p>
          <a:p xmlns:a="http://schemas.openxmlformats.org/drawingml/2006/main">
            <a:r>
              <a:t>先检查真实启动、版本、检查命令、部署、权限和备份现状。</a:t>
            </a:r>
          </a:p>
          <a:p xmlns:a="http://schemas.openxmlformats.org/drawingml/2006/main">
            <a:r>
              <a:t>复用已有标准入口，输出从本地验证到部署后验收的完整顺序。</a:t>
            </a:r>
          </a:p>
          <a:p xmlns:a="http://schemas.openxmlformats.org/drawingml/2006/main">
            <a:r>
              <a:t>列出配置、迁移、任务、存量数据及共同恢复影响。</a:t>
            </a:r>
          </a:p>
          <a:p xmlns:a="http://schemas.openxmlformats.org/drawingml/2006/main">
            <a:r>
              <a:t>区分代码发布和生产数据写入，只在已有明确范围内执行后者。</a:t>
            </a:r>
          </a:p>
          <a:p xmlns:a="http://schemas.openxmlformats.org/drawingml/2006/main">
            <a:r>
              <a:t>给出代表性接口/字段/资源/任务/数据质量验收及失败恢复条件。</a:t>
            </a:r>
          </a:p>
          <a:p xmlns:a="http://schemas.openxmlformats.org/drawingml/2006/main">
            <a:r>
              <a:t>输出隔离恢复演练和交付回执，未演练项不写已验证。</a:t>
            </a:r>
          </a:p>
          <a:p xmlns:a="http://schemas.openxmlformats.org/drawingml/2006/main">
            <a:r>
              <a:t>加入核心用户流程与实际费用/资源/返工的反馈记录，不编造节省比例。</a:t>
            </a:r>
          </a:p>
          <a:p xmlns:a="http://schemas.openxmlformats.org/drawingml/2006/main">
            <a:r>
              <a:t>~~~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D:\存在小站\AGENTS.md</a:t>
            </a:r>
          </a:p>
          <a:p xmlns:a="http://schemas.openxmlformats.org/drawingml/2006/main">
            <a:r>
              <a:t>D:\存在小站\docs\生产部署流程.md</a:t>
            </a:r>
          </a:p>
          <a:p xmlns:a="http://schemas.openxmlformats.org/drawingml/2006/main">
            <a:r>
              <a:t>D:\存在小站\deploy\本地验证交接文档.md</a:t>
            </a:r>
          </a:p>
          <a:p xmlns:a="http://schemas.openxmlformats.org/drawingml/2006/main">
            <a:r>
              <a:t>D:\存在小站\docs\技术架构.md</a:t>
            </a:r>
          </a:p>
          <a:p xmlns:a="http://schemas.openxmlformats.org/drawingml/2006/main">
            <a:r>
              <a:t>https://cheatsheetseries.owasp.org/cheatsheets/Authorization_Cheat_Sheet.html</a:t>
            </a:r>
          </a:p>
          <a:p xmlns:a="http://schemas.openxmlformats.org/drawingml/2006/main">
            <a:r>
              <a:t>https://www.postgresql.org/docs/current/backup-dump.html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新增外部数据导入列表，用同一份任务契约连接六套方案。先明确目标与已有入口，再准备按需事实和可靠数据，最后共享展示、共同验收、真实运行和知识更新。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六套方案怎样用于同一个功能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假设要新增一个“从外部导入数据并展示列表”的功能，可以沿同一份任务契约推进：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步骤 | 使用的方案 | 要形成的具体结果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明确需要 | 2 | 谁使用、第一版做什么、哪些能力已有，什么行为算完成 |</a:t>
            </a:r>
          </a:p>
          <a:p xmlns:a="http://schemas.openxmlformats.org/drawingml/2006/main">
            <a:r>
              <a:t>| 建立上下文 | 1 | 定位相关架构、来源/字段契约与旧反例，只读必要资料 |</a:t>
            </a:r>
          </a:p>
          <a:p xmlns:a="http://schemas.openxmlformats.org/drawingml/2006/main">
            <a:r>
              <a:t>| 建立可靠数据 | 3 | 复用导入/采集入口，定义身份、日期、唯一键、增量与失败保留 |</a:t>
            </a:r>
          </a:p>
          <a:p xmlns:a="http://schemas.openxmlformats.org/drawingml/2006/main">
            <a:r>
              <a:t>| 展示与交互 | 4 | 复用表格与状态，完成桌面手机布局、权限和旧响应处理 |</a:t>
            </a:r>
          </a:p>
          <a:p xmlns:a="http://schemas.openxmlformats.org/drawingml/2006/main">
            <a:r>
              <a:t>| 实施与核验 | 5 | 正常、重复、失败、同类及旧能力共同验收，按独立边界协作 |</a:t>
            </a:r>
          </a:p>
          <a:p xmlns:a="http://schemas.openxmlformats.org/drawingml/2006/main">
            <a:r>
              <a:t>| 运行与反馈 | 6，再回到 1 | 核对版本与字段，必要时标准发布/恢复，更新原事实与剩余项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“页面更快”不能通过页面直接重新采集取得；“导入完成”不能只看处理过第一批；“手机更简洁”不能删掉业务字段；“少用 token”不能跳过相关权限约束。六套方案让同一项功能同时满足这些条件。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可直接使用正文总提示词，并附相应方案提示词。要求实际现状、复用、最小建设、具体入口和放行证据。完整总模板如下。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一份让 AI 生成自己项目方案的总提示词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可以先使用这份总模板，再附上上面相关方案的提示词。它要求 AI 依据项目生成具体文件与验收，而不是照抄本项目目录和配置。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~~~text</a:t>
            </a:r>
          </a:p>
          <a:p xmlns:a="http://schemas.openxmlformats.org/drawingml/2006/main">
            <a:r>
              <a:t>项目：【】；主要用户和核心流程：【】。</a:t>
            </a:r>
          </a:p>
          <a:p xmlns:a="http://schemas.openxmlformats.org/drawingml/2006/main">
            <a:r>
              <a:t>当前阶段：【新项目 / 已有项目】；已有仓库与资料：【】。</a:t>
            </a:r>
          </a:p>
          <a:p xmlns:a="http://schemas.openxmlformats.org/drawingml/2006/main">
            <a:r>
              <a:t>可维护语言、运行环境、资源、费用与操作限制：【】。</a:t>
            </a:r>
          </a:p>
          <a:p xmlns:a="http://schemas.openxmlformats.org/drawingml/2006/main">
            <a:r>
              <a:t>本次要解决的真实问题：【】；已有授权与范围：【】。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请按六套可复用方案中的相关部分，为我生成具体落地方案：</a:t>
            </a:r>
          </a:p>
          <a:p xmlns:a="http://schemas.openxmlformats.org/drawingml/2006/main">
            <a:r>
              <a:t>项目知识与上下文、业务架构与扩展、统一数据与任务、共享前端、</a:t>
            </a:r>
          </a:p>
          <a:p xmlns:a="http://schemas.openxmlformats.org/drawingml/2006/main">
            <a:r>
              <a:t>任务验证与协作、发布恢复与反馈。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已有项目先按规则/索引核对代码、任务、数据、配置和运行边界。</a:t>
            </a:r>
          </a:p>
          <a:p xmlns:a="http://schemas.openxmlformats.org/drawingml/2006/main">
            <a:r>
              <a:t>   新项目先明确核心流程与未知信息，不假定基础设施已经存在。</a:t>
            </a:r>
          </a:p>
          <a:p xmlns:a="http://schemas.openxmlformats.org/drawingml/2006/main">
            <a:r>
              <a:t>2. 每项列出现有能力、可复用入口、真正缺口及必要建设深度。</a:t>
            </a:r>
          </a:p>
          <a:p xmlns:a="http://schemas.openxmlformats.org/drawingml/2006/main">
            <a:r>
              <a:t>3. 同一事实和公共能力保留唯一归属，禁止新增平行链路。</a:t>
            </a:r>
          </a:p>
          <a:p xmlns:a="http://schemas.openxmlformats.org/drawingml/2006/main">
            <a:r>
              <a:t>4. 输出实际文件/章节/入口、契约、配置占位和执行顺序。</a:t>
            </a:r>
          </a:p>
          <a:p xmlns:a="http://schemas.openxmlformats.org/drawingml/2006/main">
            <a:r>
              <a:t>5. 说明来源到页面/任务的影响、权限、存量数据与恢复边界。</a:t>
            </a:r>
          </a:p>
          <a:p xmlns:a="http://schemas.openxmlformats.org/drawingml/2006/main">
            <a:r>
              <a:t>6. 每道门禁写触发、检查、通过证据、失败处理与真实执行入口。</a:t>
            </a:r>
          </a:p>
          <a:p xmlns:a="http://schemas.openxmlformats.org/drawingml/2006/main">
            <a:r>
              <a:t>7. 分别标记文字规则、已有实现、待接入、已验证及真实未完成项。</a:t>
            </a:r>
          </a:p>
          <a:p xmlns:a="http://schemas.openxmlformats.org/drawingml/2006/main">
            <a:r>
              <a:t>8. 提供一个完整功能示例和适用的生成模板，不把模板当现有能力。</a:t>
            </a:r>
          </a:p>
          <a:p xmlns:a="http://schemas.openxmlformats.org/drawingml/2006/main">
            <a:r>
              <a:t>9. 用实际改动反查知识更新，优先原位置替换/合并，保留有效证据。</a:t>
            </a:r>
          </a:p>
          <a:p xmlns:a="http://schemas.openxmlformats.org/drawingml/2006/main">
            <a:r>
              <a:t>10. 预算与时限只决定分批和交接，关键条件与完成真实性保持不变。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请把结果写成可以实施和复核的文件；敏感值不写入文档。</a:t>
            </a:r>
          </a:p>
          <a:p xmlns:a="http://schemas.openxmlformats.org/drawingml/2006/main">
            <a:r>
              <a:t>常规可逆工作按授权推进，生产写入和扩大范围按已有边界处理。</a:t>
            </a:r>
          </a:p>
          <a:p xmlns:a="http://schemas.openxmlformats.org/drawingml/2006/main">
            <a:r>
              <a:t>~~~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分享是仓库事实的衍生材料，不替代当前权威架构。六套方案适配项目规模。新项目目录与提示词不是已实现能力。原十一问题只作覆盖索引，详见正文。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原问题覆盖索引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这些问题用于检查方案是否遗漏，正文已经按公共机制合并。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原问题 | 主要承载方案 | 配合方案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前后端架构如何选择 | 2 业务架构与扩展 | 6 维护、运行与成本 |</a:t>
            </a:r>
          </a:p>
          <a:p xmlns:a="http://schemas.openxmlformats.org/drawingml/2006/main">
            <a:r>
              <a:t>| 数据怎样架构和处理 | 3 统一数据与任务 | 2 模型归属；5 质量验证 |</a:t>
            </a:r>
          </a:p>
          <a:p xmlns:a="http://schemas.openxmlformats.org/drawingml/2006/main">
            <a:r>
              <a:t>| 功能增长怎样留冗余 | 2 业务架构与扩展 | 3 数据版本；4 共享 UI |</a:t>
            </a:r>
          </a:p>
          <a:p xmlns:a="http://schemas.openxmlformats.org/drawingml/2006/main">
            <a:r>
              <a:t>| 怎样让 AI 统一前端样式 | 4 共享前端 | 1 规则入口；5 同类验收 |</a:t>
            </a:r>
          </a:p>
          <a:p xmlns:a="http://schemas.openxmlformats.org/drawingml/2006/main">
            <a:r>
              <a:t>| 研发架构怎样提前设计 | 六套方案的最小闭环 | 按真实复杂度逐步加深 |</a:t>
            </a:r>
          </a:p>
          <a:p xmlns:a="http://schemas.openxmlformats.org/drawingml/2006/main">
            <a:r>
              <a:t>| 同一问题 AI 反复犯 | 5 任务验证与协作 | 1 事实接续；公共实现与运行恢复 |</a:t>
            </a:r>
          </a:p>
          <a:p xmlns:a="http://schemas.openxmlformats.org/drawingml/2006/main">
            <a:r>
              <a:t>| 不同 Agent 怎样协作 | 5 任务验证与协作 | 1 统一事实；6 集成发布 |</a:t>
            </a:r>
          </a:p>
          <a:p xmlns:a="http://schemas.openxmlformats.org/drawingml/2006/main">
            <a:r>
              <a:t>| 避免 AI 考虑不周 | 5 任务验证与协作 | 2、3、4、6 提供完整影响与条件 |</a:t>
            </a:r>
          </a:p>
          <a:p xmlns:a="http://schemas.openxmlformats.org/drawingml/2006/main">
            <a:r>
              <a:t>| 怎样减少 token 使用 | 1 项目知识与上下文 | 5 精简协作与少返工；6 实测反馈 |</a:t>
            </a:r>
          </a:p>
          <a:p xmlns:a="http://schemas.openxmlformats.org/drawingml/2006/main">
            <a:r>
              <a:t>| 统一知识库怎么搭、为何搭 | 1 项目知识与上下文 | 贯穿其余方案的读取与更新 |</a:t>
            </a:r>
          </a:p>
          <a:p xmlns:a="http://schemas.openxmlformats.org/drawingml/2006/main">
            <a:r>
              <a:t>| 怎样避免跷跷板修复 | 5 任务验证与协作 | 3、4 的公共机制；6 实际运行验收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需求范围、权限隐私、验证真实性、备份恢复、人机责任和总成本已放入对应方案，不另设一组孤立问题。分享复用的是经项目实践形成的职责、流程和门禁；当前项目事实及未闭环状态仍以原权威文档和实际证据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b1d7c26fa94d1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82384cbcc24b5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7a50e7263648d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07c67a64bd40f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7a13949e5141d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309d2b4c3443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2E92E7-9796-407B-8DB4-F605ADFA17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919B04F-1B33-4A61-965A-046D44C6518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2D0A60D-31EE-45B8-941C-9AB3863589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2F4D9C-A80B-4DD3-AC6A-A5804BDE10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A8A0AC2-121F-4D6B-A1B7-302E32E100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C853A29-1D44-4EB4-81FE-2F056BF153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CB1D51C-35D5-45DF-A47C-0BEDD14724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10FC7FE-876B-48C1-B15F-431EA63179E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4F51FA5-8E7C-470B-9122-E25F8E7A39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84522CE-12EE-41DE-B8E1-B9CDACE635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98cf8154854e9f" /><Relationship Type="http://schemas.openxmlformats.org/officeDocument/2006/relationships/slideLayout" Target="/ppt/slideLayouts/slideLayout1.xml" Id="R36afe09814774a21" /><Relationship Type="http://schemas.openxmlformats.org/officeDocument/2006/relationships/slideLayout" Target="/ppt/slideLayouts/slideLayout2.xml" Id="Rcd763fcf91704bb0" /><Relationship Type="http://schemas.openxmlformats.org/officeDocument/2006/relationships/slideLayout" Target="/ppt/slideLayouts/slideLayout3.xml" Id="Rbc52ddb0aa6f4a9e" /><Relationship Type="http://schemas.openxmlformats.org/officeDocument/2006/relationships/slideLayout" Target="/ppt/slideLayouts/slideLayout4.xml" Id="R04e3ef9323b944b5" /><Relationship Type="http://schemas.openxmlformats.org/officeDocument/2006/relationships/slideLayout" Target="/ppt/slideLayouts/slideLayout5.xml" Id="Rcb89b8f7fbb04fd0" /><Relationship Type="http://schemas.openxmlformats.org/officeDocument/2006/relationships/slideLayout" Target="/ppt/slideLayouts/slideLayout6.xml" Id="R39a1346cb59440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afe09814774a21"/>
    <p:sldLayoutId xmlns:r="http://schemas.openxmlformats.org/officeDocument/2006/relationships" id="2147483650" r:id="Rcd763fcf91704bb0"/>
    <p:sldLayoutId xmlns:r="http://schemas.openxmlformats.org/officeDocument/2006/relationships" id="2147483651" r:id="Rbc52ddb0aa6f4a9e"/>
    <p:sldLayoutId xmlns:r="http://schemas.openxmlformats.org/officeDocument/2006/relationships" id="2147483652" r:id="R04e3ef9323b944b5"/>
    <p:sldLayoutId xmlns:r="http://schemas.openxmlformats.org/officeDocument/2006/relationships" id="2147483653" r:id="Rcb89b8f7fbb04fd0"/>
    <p:sldLayoutId xmlns:r="http://schemas.openxmlformats.org/officeDocument/2006/relationships" id="2147483654" r:id="R39a1346cb59440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ba7b1c0f2a4bdd" /><Relationship Type="http://schemas.openxmlformats.org/officeDocument/2006/relationships/image" Target="/ppt/media/image.png" Id="Rf6af101f29af4146" /><Relationship Type="http://schemas.openxmlformats.org/officeDocument/2006/relationships/notesSlide" Target="/ppt/notesSlides/notesSlide1.xml" Id="R9b5778cd969d41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b2d3a79be94d53" /><Relationship Type="http://schemas.openxmlformats.org/officeDocument/2006/relationships/notesSlide" Target="/ppt/notesSlides/notesSlide2.xml" Id="Rcee6e6c6ce2e4d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5802d67979439b" /><Relationship Type="http://schemas.openxmlformats.org/officeDocument/2006/relationships/notesSlide" Target="/ppt/notesSlides/notesSlide3.xml" Id="R9228eb91441744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dc1b77b6ab4f98" /><Relationship Type="http://schemas.openxmlformats.org/officeDocument/2006/relationships/notesSlide" Target="/ppt/notesSlides/notesSlide4.xml" Id="Re20b3ea1b8ff4d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fe3cd980124739" /><Relationship Type="http://schemas.openxmlformats.org/officeDocument/2006/relationships/notesSlide" Target="/ppt/notesSlides/notesSlide5.xml" Id="Re33bd19a190842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ec74df559f4b5e" /><Relationship Type="http://schemas.openxmlformats.org/officeDocument/2006/relationships/notesSlide" Target="/ppt/notesSlides/notesSlide6.xml" Id="R58acd5edcc5b419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64d10b697f4128" /><Relationship Type="http://schemas.openxmlformats.org/officeDocument/2006/relationships/notesSlide" Target="/ppt/notesSlides/notesSlide7.xml" Id="R5ff7616729474a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57ddf6dbd54435" /><Relationship Type="http://schemas.openxmlformats.org/officeDocument/2006/relationships/notesSlide" Target="/ppt/notesSlides/notesSlide8.xml" Id="R0ab9b0f8491a41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ee1c78dd654fb2" /><Relationship Type="http://schemas.openxmlformats.org/officeDocument/2006/relationships/notesSlide" Target="/ppt/notesSlides/notesSlide9.xml" Id="Rca92f162868b48a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e4adb705704f67" /><Relationship Type="http://schemas.openxmlformats.org/officeDocument/2006/relationships/notesSlide" Target="/ppt/notesSlides/notesSlide10.xml" Id="R472908f06f884bc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ef3a403b4e4b6a" /><Relationship Type="http://schemas.openxmlformats.org/officeDocument/2006/relationships/notesSlide" Target="/ppt/notesSlides/notesSlide11.xml" Id="Re76104c44e3a4ca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84e1914a4b4974" /><Relationship Type="http://schemas.openxmlformats.org/officeDocument/2006/relationships/notesSlide" Target="/ppt/notesSlides/notesSlide12.xml" Id="Rdd6228989fa547f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38d7869df64ec3" /><Relationship Type="http://schemas.openxmlformats.org/officeDocument/2006/relationships/notesSlide" Target="/ppt/notesSlides/notesSlide13.xml" Id="R204a3a04f415445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f5dcb773334b1d" /><Relationship Type="http://schemas.openxmlformats.org/officeDocument/2006/relationships/notesSlide" Target="/ppt/notesSlides/notesSlide14.xml" Id="Rf19557dd7ff848f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a1d230d70f46bd" /><Relationship Type="http://schemas.openxmlformats.org/officeDocument/2006/relationships/notesSlide" Target="/ppt/notesSlides/notesSlide15.xml" Id="Rabd22f275c0c494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7ba2951c60426a" /><Relationship Type="http://schemas.openxmlformats.org/officeDocument/2006/relationships/notesSlide" Target="/ppt/notesSlides/notesSlide16.xml" Id="Rbb64d866e20e406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9ba81dbab6469d" /><Relationship Type="http://schemas.openxmlformats.org/officeDocument/2006/relationships/notesSlide" Target="/ppt/notesSlides/notesSlide17.xml" Id="Ref61a6b087974ff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560a22890247b6" /><Relationship Type="http://schemas.openxmlformats.org/officeDocument/2006/relationships/notesSlide" Target="/ppt/notesSlides/notesSlide18.xml" Id="Rf14b55d93efe4f1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0f8d447c0e4123" /><Relationship Type="http://schemas.openxmlformats.org/officeDocument/2006/relationships/notesSlide" Target="/ppt/notesSlides/notesSlide19.xml" Id="R78abaccd2e694ac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8b8aca1bb64a02" /><Relationship Type="http://schemas.openxmlformats.org/officeDocument/2006/relationships/notesSlide" Target="/ppt/notesSlides/notesSlide20.xml" Id="R8bb61c0cef904cb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7357c573954d37" /><Relationship Type="http://schemas.openxmlformats.org/officeDocument/2006/relationships/notesSlide" Target="/ppt/notesSlides/notesSlide21.xml" Id="R6a3d953911d44ac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55befd9227437b" /><Relationship Type="http://schemas.openxmlformats.org/officeDocument/2006/relationships/notesSlide" Target="/ppt/notesSlides/notesSlide22.xml" Id="R5db96bf4352a488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889d48295842d4" /><Relationship Type="http://schemas.openxmlformats.org/officeDocument/2006/relationships/notesSlide" Target="/ppt/notesSlides/notesSlide23.xml" Id="Rbab0e27b2d6441a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f8d16d511c438f" /><Relationship Type="http://schemas.openxmlformats.org/officeDocument/2006/relationships/notesSlide" Target="/ppt/notesSlides/notesSlide24.xml" Id="R4a7c558a7958415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cba924cb224ca1" /><Relationship Type="http://schemas.openxmlformats.org/officeDocument/2006/relationships/notesSlide" Target="/ppt/notesSlides/notesSlide25.xml" Id="R99f2c752f7af421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07104fa9cf445f" /><Relationship Type="http://schemas.openxmlformats.org/officeDocument/2006/relationships/notesSlide" Target="/ppt/notesSlides/notesSlide26.xml" Id="R56f518aecebf455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322e6f641d4385" /><Relationship Type="http://schemas.openxmlformats.org/officeDocument/2006/relationships/notesSlide" Target="/ppt/notesSlides/notesSlide27.xml" Id="R5152943f1b564b5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92bc0b03ae4678" /><Relationship Type="http://schemas.openxmlformats.org/officeDocument/2006/relationships/notesSlide" Target="/ppt/notesSlides/notesSlide28.xml" Id="R2e5c953416ed4be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a7d25d5c4e4e68" /><Relationship Type="http://schemas.openxmlformats.org/officeDocument/2006/relationships/notesSlide" Target="/ppt/notesSlides/notesSlide29.xml" Id="Red282a58c6c0472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0b2efe210845da" /><Relationship Type="http://schemas.openxmlformats.org/officeDocument/2006/relationships/notesSlide" Target="/ppt/notesSlides/notesSlide30.xml" Id="Rd90452826646408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3d36ca727b4d64" /><Relationship Type="http://schemas.openxmlformats.org/officeDocument/2006/relationships/notesSlide" Target="/ppt/notesSlides/notesSlide31.xml" Id="Rc0c5a06b4e7f4c1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1043cd83994055" /><Relationship Type="http://schemas.openxmlformats.org/officeDocument/2006/relationships/hyperlink" Target="D:\&#23384;&#22312;&#23567;&#31449;\docs\&#23384;&#22312;&#23567;&#31449;&#24320;&#21457;&#19982;AI&#21327;&#20316;&#32463;&#39564;&#20998;&#20139;.md" TargetMode="External" Id="R0a8da1d18d214c7e" /><Relationship Type="http://schemas.openxmlformats.org/officeDocument/2006/relationships/notesSlide" Target="/ppt/notesSlides/notesSlide32.xml" Id="R9801dccc08b749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F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E56860-F762-4334-8701-2F8818A54F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af101f29af414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65DB4CA-5829-4DBE-B18E-77E9BDCC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6238875" cy="2600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 AI 持续</a:t>
            </a:r>
          </a:p>
          <a:p xmlns:a="http://schemas.openxmlformats.org/drawingml/2006/main">
            <a:pPr algn="l">
              <a:buNone/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建设一个网站</a:t>
            </a:r>
          </a:p>
          <a:p xmlns:a="http://schemas.openxmlformats.org/drawingml/2006/main">
            <a:pPr algn="l">
              <a:buNone/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六套可复用方案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2C6383D-2CD8-4368-A554-4F26B51E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595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rPr>
              <a:t>存在小站的架构、协作与门禁实践</a:t>
            </a:r>
          </a:p>
        </p:txBody>
      </p:sp>
      <p:sp>
        <p:nvSpPr>
          <p:cNvPr id="4" name="cover-audience">
            <a:extLst xmlns:a="http://schemas.openxmlformats.org/drawingml/2006/main">
              <a:ext uri="{FF2B5EF4-FFF2-40B4-BE49-F238E27FC236}">
                <a16:creationId xmlns:a16="http://schemas.microsoft.com/office/drawing/2014/main" id="{6CCF8E5B-3FA3-423A-9022-C4FD6B53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00675"/>
            <a:ext cx="5905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rPr>
              <a:t>AI 建站新手与独立开发者</a:t>
            </a:r>
          </a:p>
        </p:txBody>
      </p:sp>
      <p:sp>
        <p:nvSpPr>
          <p:cNvPr id="5" name="cover-date">
            <a:extLst xmlns:a="http://schemas.openxmlformats.org/drawingml/2006/main">
              <a:ext uri="{FF2B5EF4-FFF2-40B4-BE49-F238E27FC236}">
                <a16:creationId xmlns:a16="http://schemas.microsoft.com/office/drawing/2014/main" id="{EF986788-37B1-43BE-ACDE-2A088975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rPr>
              <a:t>2026 年 10 月</a:t>
            </a:r>
          </a:p>
        </p:txBody>
      </p:sp>
    </p:spTree>
    <p:extLst>
      <p:ext uri="{BB962C8B-B14F-4D97-AF65-F5344CB8AC3E}">
        <p14:creationId xmlns:p14="http://schemas.microsoft.com/office/powerpoint/2010/main" val="14243202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48E587A-02A4-49A5-AC82-51483AD0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六套方案与共同职责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D128415-0504-40B4-AC3D-39F0F67E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195B1A-4A9C-4B57-B4E0-40773C26CD16}"/>
              </a:ext>
            </a:extLst>
          </p:cNvPr>
          <p:cNvGraphicFramePr/>
          <p:nvPr/>
        </p:nvGraphicFramePr>
        <p:xfrm>
          <a:off xmlns:a="http://schemas.openxmlformats.org/drawingml/2006/main" x="685800" y="1685925"/>
          <a:ext xmlns:a="http://schemas.openxmlformats.org/drawingml/2006/main" cx="10820400" cy="398145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3714750"/>
                <a:gridCol w="7105650"/>
              </a:tblGrid>
              <a:tr h="568779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共同解决的问题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</a:tr>
              <a:tr h="568779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 项目知识与上下文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记忆接续、按需阅读、token 与事实冲突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568779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 业务架构与扩展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选型、合理冗余与功能增长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568779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 统一数据与任务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数据口径、增量、续跑与质量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568779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 共享前端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统一样式、手机、状态与取数行为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568779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 任务验证与协作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遗漏、重复错误、跷跷板与 Agent 冲突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568779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 发布恢复与反馈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真实运行、恢复能力与投入取舍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</a:tbl>
          </a:graphicData>
        </a:graphic>
      </p:graphicFrame>
      <p:sp>
        <p:nvSpPr>
          <p:cNvPr id="4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49782C5D-A26B-4BFC-93FF-68C139A1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需求、事实、公共实现、共同验收和实际运行组成一个闭环</a:t>
            </a:r>
          </a:p>
        </p:txBody>
      </p:sp>
    </p:spTree>
    <p:extLst>
      <p:ext uri="{BB962C8B-B14F-4D97-AF65-F5344CB8AC3E}">
        <p14:creationId xmlns:p14="http://schemas.microsoft.com/office/powerpoint/2010/main" val="8230835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DEF863A-1B0A-460E-8961-41A430ED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项目阶段与最小建设范围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83F4D85-5798-4C19-9339-E6BFA534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intro">
            <a:extLst xmlns:a="http://schemas.openxmlformats.org/drawingml/2006/main">
              <a:ext uri="{FF2B5EF4-FFF2-40B4-BE49-F238E27FC236}">
                <a16:creationId xmlns:a16="http://schemas.microsoft.com/office/drawing/2014/main" id="{BF9B7937-4A42-4006-B636-78CE066A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新项目采用最小版本，已有项目沿原入口补缺口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0AEE44-63E2-4A92-8277-46723178DF70}"/>
              </a:ext>
            </a:extLst>
          </p:cNvPr>
          <p:cNvGraphicFramePr/>
          <p:nvPr/>
        </p:nvGraphicFramePr>
        <p:xfrm>
          <a:off xmlns:a="http://schemas.openxmlformats.org/drawingml/2006/main" x="685800" y="1971675"/>
          <a:ext xmlns:a="http://schemas.openxmlformats.org/drawingml/2006/main" cx="10820400" cy="3381375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095500"/>
                <a:gridCol w="5276850"/>
                <a:gridCol w="3448050"/>
              </a:tblGrid>
              <a:tr h="845344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当前应有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按需求再建设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</a:tr>
              <a:tr h="845344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第一完整功能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核心流程、知识与数据归属</a:t>
                      </a:r>
                    </a:p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参考页、检查与运行恢复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复杂路由和调度</a:t>
                      </a:r>
                    </a:p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有实际需要再建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845344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多页面与后台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共享入口、来源契约</a:t>
                      </a:r>
                    </a:p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增量、续跑与主题索引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机器路由</a:t>
                      </a:r>
                    </a:p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复杂任务分区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845344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长期或多人协作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决策、事故、交接</a:t>
                      </a:r>
                    </a:p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CI、集成与标准发布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按独立扩容或发布</a:t>
                      </a:r>
                    </a:p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需求评估服务拆分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</a:tbl>
          </a:graphicData>
        </a:graphic>
      </p:graphicFrame>
      <p:sp>
        <p:nvSpPr>
          <p:cNvPr id="5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1D3A05C0-8D49-4B4B-934F-3A77C953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路由器、完整调度平台与多 Agent 只在需要时建设</a:t>
            </a:r>
          </a:p>
        </p:txBody>
      </p:sp>
    </p:spTree>
    <p:extLst>
      <p:ext uri="{BB962C8B-B14F-4D97-AF65-F5344CB8AC3E}">
        <p14:creationId xmlns:p14="http://schemas.microsoft.com/office/powerpoint/2010/main" val="9394895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F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FE3F71-1379-400F-A94C-EE1AAFDF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项目知识与上下文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D01B4F0-E04B-4253-99BE-9DBFF164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intro">
            <a:extLst xmlns:a="http://schemas.openxmlformats.org/drawingml/2006/main">
              <a:ext uri="{FF2B5EF4-FFF2-40B4-BE49-F238E27FC236}">
                <a16:creationId xmlns:a16="http://schemas.microsoft.com/office/drawing/2014/main" id="{4DD0B5FC-0717-41EC-8B35-46016802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rPr>
              <a:t>方案 1：同一套知识机制同时服务记忆、token 和协作</a:t>
            </a:r>
          </a:p>
        </p:txBody>
      </p:sp>
      <p:sp>
        <p:nvSpPr>
          <p:cNvPr id="4" name="num-0">
            <a:extLst xmlns:a="http://schemas.openxmlformats.org/drawingml/2006/main">
              <a:ext uri="{FF2B5EF4-FFF2-40B4-BE49-F238E27FC236}">
                <a16:creationId xmlns:a16="http://schemas.microsoft.com/office/drawing/2014/main" id="{DC0296D3-3611-498E-A800-C8A5ACD5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label-0">
            <a:extLst xmlns:a="http://schemas.openxmlformats.org/drawingml/2006/main">
              <a:ext uri="{FF2B5EF4-FFF2-40B4-BE49-F238E27FC236}">
                <a16:creationId xmlns:a16="http://schemas.microsoft.com/office/drawing/2014/main" id="{94095188-6A5A-4F99-A4A5-DBA602A5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812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事实归属</a:t>
            </a:r>
          </a:p>
        </p:txBody>
      </p:sp>
      <p:sp>
        <p:nvSpPr>
          <p:cNvPr id="6" name="detail-0">
            <a:extLst xmlns:a="http://schemas.openxmlformats.org/drawingml/2006/main">
              <a:ext uri="{FF2B5EF4-FFF2-40B4-BE49-F238E27FC236}">
                <a16:creationId xmlns:a16="http://schemas.microsoft.com/office/drawing/2014/main" id="{E052D260-E521-406B-8952-1AD91000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981200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rPr>
              <a:t>同一事实只有一个当前权威位置</a:t>
            </a:r>
          </a:p>
        </p:txBody>
      </p:sp>
      <p:sp>
        <p:nvSpPr>
          <p:cNvPr id="7" name="num-1">
            <a:extLst xmlns:a="http://schemas.openxmlformats.org/drawingml/2006/main">
              <a:ext uri="{FF2B5EF4-FFF2-40B4-BE49-F238E27FC236}">
                <a16:creationId xmlns:a16="http://schemas.microsoft.com/office/drawing/2014/main" id="{8C5914DA-7929-4130-AE08-21CF806A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label-1">
            <a:extLst xmlns:a="http://schemas.openxmlformats.org/drawingml/2006/main">
              <a:ext uri="{FF2B5EF4-FFF2-40B4-BE49-F238E27FC236}">
                <a16:creationId xmlns:a16="http://schemas.microsoft.com/office/drawing/2014/main" id="{69161179-6157-422F-8FA1-483AEBC6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051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按需读取</a:t>
            </a:r>
          </a:p>
        </p:txBody>
      </p:sp>
      <p:sp>
        <p:nvSpPr>
          <p:cNvPr id="9" name="detail-1">
            <a:extLst xmlns:a="http://schemas.openxmlformats.org/drawingml/2006/main">
              <a:ext uri="{FF2B5EF4-FFF2-40B4-BE49-F238E27FC236}">
                <a16:creationId xmlns:a16="http://schemas.microsoft.com/office/drawing/2014/main" id="{16997B22-5F5B-444B-AC94-8C95B66C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05100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rPr>
              <a:t>先读入口，再读命中章节与代码</a:t>
            </a:r>
          </a:p>
        </p:txBody>
      </p:sp>
      <p:sp>
        <p:nvSpPr>
          <p:cNvPr id="10" name="num-2">
            <a:extLst xmlns:a="http://schemas.openxmlformats.org/drawingml/2006/main">
              <a:ext uri="{FF2B5EF4-FFF2-40B4-BE49-F238E27FC236}">
                <a16:creationId xmlns:a16="http://schemas.microsoft.com/office/drawing/2014/main" id="{3F491F5A-2676-4E3E-8F7A-A7EEA3C7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label-2">
            <a:extLst xmlns:a="http://schemas.openxmlformats.org/drawingml/2006/main">
              <a:ext uri="{FF2B5EF4-FFF2-40B4-BE49-F238E27FC236}">
                <a16:creationId xmlns:a16="http://schemas.microsoft.com/office/drawing/2014/main" id="{1C125220-3B3D-40EE-B926-8EEFB050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290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就地更新</a:t>
            </a:r>
          </a:p>
        </p:txBody>
      </p:sp>
      <p:sp>
        <p:nvSpPr>
          <p:cNvPr id="12" name="detail-2">
            <a:extLst xmlns:a="http://schemas.openxmlformats.org/drawingml/2006/main">
              <a:ext uri="{FF2B5EF4-FFF2-40B4-BE49-F238E27FC236}">
                <a16:creationId xmlns:a16="http://schemas.microsoft.com/office/drawing/2014/main" id="{F56D9AAA-4847-45D2-A726-7360C367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29000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rPr>
              <a:t>替换旧结论，历史退出默认阅读</a:t>
            </a:r>
          </a:p>
        </p:txBody>
      </p:sp>
      <p:sp>
        <p:nvSpPr>
          <p:cNvPr id="13" name="num-3">
            <a:extLst xmlns:a="http://schemas.openxmlformats.org/drawingml/2006/main">
              <a:ext uri="{FF2B5EF4-FFF2-40B4-BE49-F238E27FC236}">
                <a16:creationId xmlns:a16="http://schemas.microsoft.com/office/drawing/2014/main" id="{1038D72B-BA73-4973-A833-E095A152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label-3">
            <a:extLst xmlns:a="http://schemas.openxmlformats.org/drawingml/2006/main">
              <a:ext uri="{FF2B5EF4-FFF2-40B4-BE49-F238E27FC236}">
                <a16:creationId xmlns:a16="http://schemas.microsoft.com/office/drawing/2014/main" id="{968E0B28-0CBE-49D5-BAB5-E4CDBE03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529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精简交接</a:t>
            </a:r>
          </a:p>
        </p:txBody>
      </p:sp>
      <p:sp>
        <p:nvSpPr>
          <p:cNvPr id="15" name="detail-3">
            <a:extLst xmlns:a="http://schemas.openxmlformats.org/drawingml/2006/main">
              <a:ext uri="{FF2B5EF4-FFF2-40B4-BE49-F238E27FC236}">
                <a16:creationId xmlns:a16="http://schemas.microsoft.com/office/drawing/2014/main" id="{595A4D74-CFCC-4313-B15C-2B7A01E1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152900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rPr>
              <a:t>基线、结论、证据、未知与下一步</a:t>
            </a:r>
          </a:p>
        </p:txBody>
      </p:sp>
      <p:sp>
        <p:nvSpPr>
          <p:cNvPr id="16" name="num-4">
            <a:extLst xmlns:a="http://schemas.openxmlformats.org/drawingml/2006/main">
              <a:ext uri="{FF2B5EF4-FFF2-40B4-BE49-F238E27FC236}">
                <a16:creationId xmlns:a16="http://schemas.microsoft.com/office/drawing/2014/main" id="{2CE545CC-BC7E-4DCC-A27C-FDD09DFC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7" name="label-4">
            <a:extLst xmlns:a="http://schemas.openxmlformats.org/drawingml/2006/main">
              <a:ext uri="{FF2B5EF4-FFF2-40B4-BE49-F238E27FC236}">
                <a16:creationId xmlns:a16="http://schemas.microsoft.com/office/drawing/2014/main" id="{24B55BC2-8BBD-4EFB-ABDA-F19548B8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768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共同来源</a:t>
            </a:r>
          </a:p>
        </p:txBody>
      </p:sp>
      <p:sp>
        <p:nvSpPr>
          <p:cNvPr id="18" name="detail-4">
            <a:extLst xmlns:a="http://schemas.openxmlformats.org/drawingml/2006/main">
              <a:ext uri="{FF2B5EF4-FFF2-40B4-BE49-F238E27FC236}">
                <a16:creationId xmlns:a16="http://schemas.microsoft.com/office/drawing/2014/main" id="{CEAB07A0-575F-4D03-B8AA-8B5AE1CF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876800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rPr>
              <a:t>不同 Agent 使用同一仓库事实</a:t>
            </a:r>
          </a:p>
        </p:txBody>
      </p:sp>
      <p:sp>
        <p:nvSpPr>
          <p:cNvPr id="19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788631FD-4F57-4EA8-AF35-B90A9A4E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rPr>
              <a:t>没有实测，不承诺固定比例的 token 节省</a:t>
            </a:r>
          </a:p>
        </p:txBody>
      </p:sp>
    </p:spTree>
    <p:extLst>
      <p:ext uri="{BB962C8B-B14F-4D97-AF65-F5344CB8AC3E}">
        <p14:creationId xmlns:p14="http://schemas.microsoft.com/office/powerpoint/2010/main" val="18432186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37000A6-7606-4817-B3B4-752F3427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知识文件与事实归属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2C90821-21AA-4824-A385-4868B293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80A8D2-19C3-4447-809D-9FCBC7C36ED2}"/>
              </a:ext>
            </a:extLst>
          </p:cNvPr>
          <p:cNvGraphicFramePr/>
          <p:nvPr/>
        </p:nvGraphicFramePr>
        <p:xfrm>
          <a:off xmlns:a="http://schemas.openxmlformats.org/drawingml/2006/main" x="685800" y="1828800"/>
          <a:ext xmlns:a="http://schemas.openxmlformats.org/drawingml/2006/main" cx="10820400" cy="379095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3000375"/>
                <a:gridCol w="7820025"/>
              </a:tblGrid>
              <a:tr h="6318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入口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保存内容与使用时机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AGENTS.md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简短规则、真实命令与完成标准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知识索引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主题、权威位置与未完成入口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当前架构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实际模块、数据、接口、任务与运行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决定与事故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有价值的取舍、根因与恢复证据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任务交接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跨会话的基线、增量与剩余工作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</a:tbl>
          </a:graphicData>
        </a:graphic>
      </p:graphicFrame>
      <p:sp>
        <p:nvSpPr>
          <p:cNvPr id="4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8DD981FD-626E-4F57-AA62-668B8E81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当前结论回到原权威段落，历史与待办分别保留</a:t>
            </a:r>
          </a:p>
        </p:txBody>
      </p:sp>
    </p:spTree>
    <p:extLst>
      <p:ext uri="{BB962C8B-B14F-4D97-AF65-F5344CB8AC3E}">
        <p14:creationId xmlns:p14="http://schemas.microsoft.com/office/powerpoint/2010/main" val="16495189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464BD8A-6573-4F6B-BF0D-560C07F6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一次任务的按需阅读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B36B974-BFBB-46EC-9048-2343F2AE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num-0">
            <a:extLst xmlns:a="http://schemas.openxmlformats.org/drawingml/2006/main">
              <a:ext uri="{FF2B5EF4-FFF2-40B4-BE49-F238E27FC236}">
                <a16:creationId xmlns:a16="http://schemas.microsoft.com/office/drawing/2014/main" id="{B1C740C2-5009-4565-B113-B08EE362E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label-0">
            <a:extLst xmlns:a="http://schemas.openxmlformats.org/drawingml/2006/main">
              <a:ext uri="{FF2B5EF4-FFF2-40B4-BE49-F238E27FC236}">
                <a16:creationId xmlns:a16="http://schemas.microsoft.com/office/drawing/2014/main" id="{165128FF-F769-497D-8A43-C8950AE1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812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确认入口</a:t>
            </a:r>
          </a:p>
        </p:txBody>
      </p:sp>
      <p:sp>
        <p:nvSpPr>
          <p:cNvPr id="5" name="detail-0">
            <a:extLst xmlns:a="http://schemas.openxmlformats.org/drawingml/2006/main">
              <a:ext uri="{FF2B5EF4-FFF2-40B4-BE49-F238E27FC236}">
                <a16:creationId xmlns:a16="http://schemas.microsoft.com/office/drawing/2014/main" id="{E97858F7-E3DB-40E7-8453-324E53B7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981200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规则、索引、Git 基线与任务边界</a:t>
            </a:r>
          </a:p>
        </p:txBody>
      </p:sp>
      <p:sp>
        <p:nvSpPr>
          <p:cNvPr id="6" name="num-1">
            <a:extLst xmlns:a="http://schemas.openxmlformats.org/drawingml/2006/main">
              <a:ext uri="{FF2B5EF4-FFF2-40B4-BE49-F238E27FC236}">
                <a16:creationId xmlns:a16="http://schemas.microsoft.com/office/drawing/2014/main" id="{2324A851-416B-40D6-B883-B9C545B4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label-1">
            <a:extLst xmlns:a="http://schemas.openxmlformats.org/drawingml/2006/main">
              <a:ext uri="{FF2B5EF4-FFF2-40B4-BE49-F238E27FC236}">
                <a16:creationId xmlns:a16="http://schemas.microsoft.com/office/drawing/2014/main" id="{F53AA463-1810-4FD1-B528-BBB6DA85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051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匹配主题</a:t>
            </a:r>
          </a:p>
        </p:txBody>
      </p:sp>
      <p:sp>
        <p:nvSpPr>
          <p:cNvPr id="8" name="detail-1">
            <a:extLst xmlns:a="http://schemas.openxmlformats.org/drawingml/2006/main">
              <a:ext uri="{FF2B5EF4-FFF2-40B4-BE49-F238E27FC236}">
                <a16:creationId xmlns:a16="http://schemas.microsoft.com/office/drawing/2014/main" id="{AAE43ED9-BA3F-4827-B8A6-B02A4A48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05100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命中 read，再读必要架构与代码</a:t>
            </a:r>
          </a:p>
        </p:txBody>
      </p:sp>
      <p:sp>
        <p:nvSpPr>
          <p:cNvPr id="9" name="num-2">
            <a:extLst xmlns:a="http://schemas.openxmlformats.org/drawingml/2006/main">
              <a:ext uri="{FF2B5EF4-FFF2-40B4-BE49-F238E27FC236}">
                <a16:creationId xmlns:a16="http://schemas.microsoft.com/office/drawing/2014/main" id="{392B4078-95ED-4FC8-81EF-55CB9249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label-2">
            <a:extLst xmlns:a="http://schemas.openxmlformats.org/drawingml/2006/main">
              <a:ext uri="{FF2B5EF4-FFF2-40B4-BE49-F238E27FC236}">
                <a16:creationId xmlns:a16="http://schemas.microsoft.com/office/drawing/2014/main" id="{F2861A91-238B-4054-BA8A-43296B23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290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补足证据</a:t>
            </a:r>
          </a:p>
        </p:txBody>
      </p:sp>
      <p:sp>
        <p:nvSpPr>
          <p:cNvPr id="11" name="detail-2">
            <a:extLst xmlns:a="http://schemas.openxmlformats.org/drawingml/2006/main">
              <a:ext uri="{FF2B5EF4-FFF2-40B4-BE49-F238E27FC236}">
                <a16:creationId xmlns:a16="http://schemas.microsoft.com/office/drawing/2014/main" id="{3ECD4899-FF70-41C9-BA34-2BE2FE8C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29000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未知与高风险决定是否扩大阅读</a:t>
            </a:r>
          </a:p>
        </p:txBody>
      </p:sp>
      <p:sp>
        <p:nvSpPr>
          <p:cNvPr id="12" name="num-3">
            <a:extLst xmlns:a="http://schemas.openxmlformats.org/drawingml/2006/main">
              <a:ext uri="{FF2B5EF4-FFF2-40B4-BE49-F238E27FC236}">
                <a16:creationId xmlns:a16="http://schemas.microsoft.com/office/drawing/2014/main" id="{29E4AA61-A3A3-4E1F-993E-96175A26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3" name="label-3">
            <a:extLst xmlns:a="http://schemas.openxmlformats.org/drawingml/2006/main">
              <a:ext uri="{FF2B5EF4-FFF2-40B4-BE49-F238E27FC236}">
                <a16:creationId xmlns:a16="http://schemas.microsoft.com/office/drawing/2014/main" id="{B26C5180-58D3-4604-BBAF-FD4B8D2C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529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反查更新</a:t>
            </a:r>
          </a:p>
        </p:txBody>
      </p:sp>
      <p:sp>
        <p:nvSpPr>
          <p:cNvPr id="14" name="detail-3">
            <a:extLst xmlns:a="http://schemas.openxmlformats.org/drawingml/2006/main">
              <a:ext uri="{FF2B5EF4-FFF2-40B4-BE49-F238E27FC236}">
                <a16:creationId xmlns:a16="http://schemas.microsoft.com/office/drawing/2014/main" id="{10BA33A8-3999-4ED4-A132-CFBD293A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152900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按实际文件核对 update 与 checks</a:t>
            </a:r>
          </a:p>
        </p:txBody>
      </p:sp>
      <p:sp>
        <p:nvSpPr>
          <p:cNvPr id="15" name="num-4">
            <a:extLst xmlns:a="http://schemas.openxmlformats.org/drawingml/2006/main">
              <a:ext uri="{FF2B5EF4-FFF2-40B4-BE49-F238E27FC236}">
                <a16:creationId xmlns:a16="http://schemas.microsoft.com/office/drawing/2014/main" id="{2BFA99B8-F42A-4DE7-B18B-CA5C0CF6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6" name="label-4">
            <a:extLst xmlns:a="http://schemas.openxmlformats.org/drawingml/2006/main">
              <a:ext uri="{FF2B5EF4-FFF2-40B4-BE49-F238E27FC236}">
                <a16:creationId xmlns:a16="http://schemas.microsoft.com/office/drawing/2014/main" id="{4CE798AC-0EAC-4265-9578-BC5778CD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768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留下接续</a:t>
            </a:r>
          </a:p>
        </p:txBody>
      </p:sp>
      <p:sp>
        <p:nvSpPr>
          <p:cNvPr id="17" name="detail-4">
            <a:extLst xmlns:a="http://schemas.openxmlformats.org/drawingml/2006/main">
              <a:ext uri="{FF2B5EF4-FFF2-40B4-BE49-F238E27FC236}">
                <a16:creationId xmlns:a16="http://schemas.microsoft.com/office/drawing/2014/main" id="{E516502C-3C9C-4B6D-93CB-76C22BB9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876800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结论进原位，交接只保留增量</a:t>
            </a:r>
          </a:p>
        </p:txBody>
      </p:sp>
      <p:sp>
        <p:nvSpPr>
          <p:cNvPr id="18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E08AFDF9-38D8-4A80-91F0-26E908B2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阅读成本下降来自归属与路由，不能靠漏读关键约束</a:t>
            </a:r>
          </a:p>
        </p:txBody>
      </p:sp>
    </p:spTree>
    <p:extLst>
      <p:ext uri="{BB962C8B-B14F-4D97-AF65-F5344CB8AC3E}">
        <p14:creationId xmlns:p14="http://schemas.microsoft.com/office/powerpoint/2010/main" val="10708358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5BF19A8-7229-4B46-B0A5-609D6972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知识方案的复用与门禁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409CB86-B8C5-47D8-928E-26C046EB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column-heading-72">
            <a:extLst xmlns:a="http://schemas.openxmlformats.org/drawingml/2006/main">
              <a:ext uri="{FF2B5EF4-FFF2-40B4-BE49-F238E27FC236}">
                <a16:creationId xmlns:a16="http://schemas.microsoft.com/office/drawing/2014/main" id="{6FC8C556-DE31-4F3D-9308-4970AC1C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93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最小交付</a:t>
            </a:r>
          </a:p>
        </p:txBody>
      </p:sp>
      <p:sp>
        <p:nvSpPr>
          <p:cNvPr id="4" name="column-line-72-0">
            <a:extLst xmlns:a="http://schemas.openxmlformats.org/drawingml/2006/main">
              <a:ext uri="{FF2B5EF4-FFF2-40B4-BE49-F238E27FC236}">
                <a16:creationId xmlns:a16="http://schemas.microsoft.com/office/drawing/2014/main" id="{C86954B3-6FDC-4983-8354-771E2945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简短 AGENTS.md 与执行配置</a:t>
            </a:r>
          </a:p>
        </p:txBody>
      </p:sp>
      <p:sp>
        <p:nvSpPr>
          <p:cNvPr id="5" name="column-line-72-1">
            <a:extLst xmlns:a="http://schemas.openxmlformats.org/drawingml/2006/main">
              <a:ext uri="{FF2B5EF4-FFF2-40B4-BE49-F238E27FC236}">
                <a16:creationId xmlns:a16="http://schemas.microsoft.com/office/drawing/2014/main" id="{C044EBEA-1817-475D-9FE7-25AAFFC9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主题索引和当前架构</a:t>
            </a:r>
          </a:p>
        </p:txBody>
      </p:sp>
      <p:sp>
        <p:nvSpPr>
          <p:cNvPr id="6" name="column-line-72-2">
            <a:extLst xmlns:a="http://schemas.openxmlformats.org/drawingml/2006/main">
              <a:ext uri="{FF2B5EF4-FFF2-40B4-BE49-F238E27FC236}">
                <a16:creationId xmlns:a16="http://schemas.microsoft.com/office/drawing/2014/main" id="{C86A4457-C11E-49F1-8546-E5785808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任务阅读与精简交接示例</a:t>
            </a:r>
          </a:p>
        </p:txBody>
      </p:sp>
      <p:sp>
        <p:nvSpPr>
          <p:cNvPr id="7" name="column-line-72-3">
            <a:extLst xmlns:a="http://schemas.openxmlformats.org/drawingml/2006/main">
              <a:ext uri="{FF2B5EF4-FFF2-40B4-BE49-F238E27FC236}">
                <a16:creationId xmlns:a16="http://schemas.microsoft.com/office/drawing/2014/main" id="{AC3627C0-CD8C-4FF7-A906-B985721A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需要时再实现机器路由</a:t>
            </a:r>
          </a:p>
        </p:txBody>
      </p:sp>
      <p:sp>
        <p:nvSpPr>
          <p:cNvPr id="8" name="column-heading-690">
            <a:extLst xmlns:a="http://schemas.openxmlformats.org/drawingml/2006/main">
              <a:ext uri="{FF2B5EF4-FFF2-40B4-BE49-F238E27FC236}">
                <a16:creationId xmlns:a16="http://schemas.microsoft.com/office/drawing/2014/main" id="{4CFBBD01-D7DB-47EC-B884-7261C762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493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放行证据</a:t>
            </a:r>
          </a:p>
        </p:txBody>
      </p:sp>
      <p:sp>
        <p:nvSpPr>
          <p:cNvPr id="9" name="column-line-690-0">
            <a:extLst xmlns:a="http://schemas.openxmlformats.org/drawingml/2006/main">
              <a:ext uri="{FF2B5EF4-FFF2-40B4-BE49-F238E27FC236}">
                <a16:creationId xmlns:a16="http://schemas.microsoft.com/office/drawing/2014/main" id="{3521CFFF-FCC2-4678-A765-DCC735C7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527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知道当前权威位置与未知项</a:t>
            </a:r>
          </a:p>
        </p:txBody>
      </p:sp>
      <p:sp>
        <p:nvSpPr>
          <p:cNvPr id="10" name="column-line-690-1">
            <a:extLst xmlns:a="http://schemas.openxmlformats.org/drawingml/2006/main">
              <a:ext uri="{FF2B5EF4-FFF2-40B4-BE49-F238E27FC236}">
                <a16:creationId xmlns:a16="http://schemas.microsoft.com/office/drawing/2014/main" id="{B683DA7C-0271-41C9-848A-5587596B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004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原文、索引和引用一致</a:t>
            </a:r>
          </a:p>
        </p:txBody>
      </p:sp>
      <p:sp>
        <p:nvSpPr>
          <p:cNvPr id="11" name="column-line-690-2">
            <a:extLst xmlns:a="http://schemas.openxmlformats.org/drawingml/2006/main">
              <a:ext uri="{FF2B5EF4-FFF2-40B4-BE49-F238E27FC236}">
                <a16:creationId xmlns:a16="http://schemas.microsoft.com/office/drawing/2014/main" id="{12EFC60C-F799-4599-86FD-3B5DCB7B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481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代表性变更能命中路由</a:t>
            </a:r>
          </a:p>
        </p:txBody>
      </p:sp>
      <p:sp>
        <p:nvSpPr>
          <p:cNvPr id="12" name="column-line-690-3">
            <a:extLst xmlns:a="http://schemas.openxmlformats.org/drawingml/2006/main">
              <a:ext uri="{FF2B5EF4-FFF2-40B4-BE49-F238E27FC236}">
                <a16:creationId xmlns:a16="http://schemas.microsoft.com/office/drawing/2014/main" id="{A20D256D-F0C4-4EE9-9ED0-54147924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958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新会话可从证据继续</a:t>
            </a:r>
          </a:p>
        </p:txBody>
      </p:sp>
      <p:sp>
        <p:nvSpPr>
          <p:cNvPr id="13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C7D6B0D9-A0C5-4AE7-9428-52285E73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已有文件就地更新；检查无法自动裁决所有文档语义</a:t>
            </a:r>
          </a:p>
        </p:txBody>
      </p:sp>
    </p:spTree>
    <p:extLst>
      <p:ext uri="{BB962C8B-B14F-4D97-AF65-F5344CB8AC3E}">
        <p14:creationId xmlns:p14="http://schemas.microsoft.com/office/powerpoint/2010/main" val="12996503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67B26C-AACB-4B65-9EE7-EF0A44B1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业务架构与扩展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080DE8D-AF9F-44BF-ABDB-C722F67D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intro">
            <a:extLst xmlns:a="http://schemas.openxmlformats.org/drawingml/2006/main">
              <a:ext uri="{FF2B5EF4-FFF2-40B4-BE49-F238E27FC236}">
                <a16:creationId xmlns:a16="http://schemas.microsoft.com/office/drawing/2014/main" id="{AC707A61-EDED-44C2-87F4-D425D95E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方案 2：核心流程与维护条件决定起步结构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E4F59E-7E59-4249-865A-773C0AD40A69}"/>
              </a:ext>
            </a:extLst>
          </p:cNvPr>
          <p:cNvGraphicFramePr/>
          <p:nvPr/>
        </p:nvGraphicFramePr>
        <p:xfrm>
          <a:off xmlns:a="http://schemas.openxmlformats.org/drawingml/2006/main" x="685800" y="1905000"/>
          <a:ext xmlns:a="http://schemas.openxmlformats.org/drawingml/2006/main" cx="10820400" cy="352425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714625"/>
                <a:gridCol w="3790950"/>
                <a:gridCol w="4314825"/>
              </a:tblGrid>
              <a:tr h="7048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可评估的结构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选择重点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展示为主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静态页或静态生成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内容维护与发布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登录数据工具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组件前端与业务 API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交互、状态与私有写入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公开内容加交互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服务端渲染框架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渲染、缓存与部署边界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采集或耗时计算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应用与独立任务入口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时延、可靠续跑与资源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</a:tbl>
          </a:graphicData>
        </a:graphic>
      </p:graphicFrame>
      <p:sp>
        <p:nvSpPr>
          <p:cNvPr id="5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B7D9E565-A769-45EF-9A03-0F2CDD9D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新项目比较适合的候选；已有项目优先扩展现有能力</a:t>
            </a:r>
          </a:p>
        </p:txBody>
      </p:sp>
    </p:spTree>
    <p:extLst>
      <p:ext uri="{BB962C8B-B14F-4D97-AF65-F5344CB8AC3E}">
        <p14:creationId xmlns:p14="http://schemas.microsoft.com/office/powerpoint/2010/main" val="20468413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30C5ABA-9954-44CC-ACCB-AF4705FA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模块职责与统一业务入口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AE3D84A-72DA-403C-A0D2-FBA41B06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B34D89-8915-4A3B-911B-E1299D44DDE4}"/>
              </a:ext>
            </a:extLst>
          </p:cNvPr>
          <p:cNvGraphicFramePr/>
          <p:nvPr/>
        </p:nvGraphicFramePr>
        <p:xfrm>
          <a:off xmlns:a="http://schemas.openxmlformats.org/drawingml/2006/main" x="685800" y="1828800"/>
          <a:ext xmlns:a="http://schemas.openxmlformats.org/drawingml/2006/main" cx="10820400" cy="379095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3000375"/>
                <a:gridCol w="7820025"/>
              </a:tblGrid>
              <a:tr h="6318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职责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入口承担的内容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前端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展示、交互与页面状态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API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身份、权限、入参及响应契约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业务服务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计算规则、事务与统一读写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数据访问与适配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标准事实、来源转换与证据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后台任务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目标日期、进度与续跑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</a:tbl>
          </a:graphicData>
        </a:graphic>
      </p:graphicFrame>
      <p:sp>
        <p:nvSpPr>
          <p:cNvPr id="4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DB6E60C9-324B-4CFA-AB42-EFE51644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页面、Worker 和补跑复用业务服务，不各写一套规则</a:t>
            </a:r>
          </a:p>
        </p:txBody>
      </p:sp>
    </p:spTree>
    <p:extLst>
      <p:ext uri="{BB962C8B-B14F-4D97-AF65-F5344CB8AC3E}">
        <p14:creationId xmlns:p14="http://schemas.microsoft.com/office/powerpoint/2010/main" val="4381074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8A19D19-A073-4A91-B7FF-6D4BF57F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合理冗余与扩展触发条件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F91E49F-2758-4C13-B7C9-F1238676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9600C4-5610-4E7F-8BF3-5968F8ADF06B}"/>
              </a:ext>
            </a:extLst>
          </p:cNvPr>
          <p:cNvGraphicFramePr/>
          <p:nvPr/>
        </p:nvGraphicFramePr>
        <p:xfrm>
          <a:off xmlns:a="http://schemas.openxmlformats.org/drawingml/2006/main" x="685800" y="1905000"/>
          <a:ext xmlns:a="http://schemas.openxmlformats.org/drawingml/2006/main" cx="10820400" cy="352425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476500"/>
                <a:gridCol w="4171950"/>
                <a:gridCol w="4171950"/>
              </a:tblGrid>
              <a:tr h="7048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变化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起步预留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触发后建设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市场与来源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内部 ID、映射、单位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真实市场与来源扩充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字段与格式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正式列、证据、扩展区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稳定字段迁移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规则与历史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输入时点、解析/计算版本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回放、重算与快照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性能与运行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模块边界与任务入口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独立扩容、发布或隔离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</a:tbl>
          </a:graphicData>
        </a:graphic>
      </p:graphicFrame>
      <p:sp>
        <p:nvSpPr>
          <p:cNvPr id="4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A7462A95-DB3C-4AF5-9F2C-5C1DFB76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新旧切换先验证存量与兼容，再按明确范围退出旧入口</a:t>
            </a:r>
          </a:p>
        </p:txBody>
      </p:sp>
    </p:spTree>
    <p:extLst>
      <p:ext uri="{BB962C8B-B14F-4D97-AF65-F5344CB8AC3E}">
        <p14:creationId xmlns:p14="http://schemas.microsoft.com/office/powerpoint/2010/main" val="3015167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36128BC-094B-49BC-B1B1-90E6390A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架构方案的复用与门禁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3AEDFE1-668B-4547-85BB-64F93C44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column-heading-72">
            <a:extLst xmlns:a="http://schemas.openxmlformats.org/drawingml/2006/main">
              <a:ext uri="{FF2B5EF4-FFF2-40B4-BE49-F238E27FC236}">
                <a16:creationId xmlns:a16="http://schemas.microsoft.com/office/drawing/2014/main" id="{4BDFCF1D-B642-4AB3-BF03-97AFDADF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93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项目生成结果</a:t>
            </a:r>
          </a:p>
        </p:txBody>
      </p:sp>
      <p:sp>
        <p:nvSpPr>
          <p:cNvPr id="4" name="column-line-72-0">
            <a:extLst xmlns:a="http://schemas.openxmlformats.org/drawingml/2006/main">
              <a:ext uri="{FF2B5EF4-FFF2-40B4-BE49-F238E27FC236}">
                <a16:creationId xmlns:a16="http://schemas.microsoft.com/office/drawing/2014/main" id="{84BFB31F-33E8-4EB0-A20A-E3E2C5D3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核心流程与第一版范围</a:t>
            </a:r>
          </a:p>
        </p:txBody>
      </p:sp>
      <p:sp>
        <p:nvSpPr>
          <p:cNvPr id="5" name="column-line-72-1">
            <a:extLst xmlns:a="http://schemas.openxmlformats.org/drawingml/2006/main">
              <a:ext uri="{FF2B5EF4-FFF2-40B4-BE49-F238E27FC236}">
                <a16:creationId xmlns:a16="http://schemas.microsoft.com/office/drawing/2014/main" id="{A7806823-BF92-47E1-9A8A-3B38AA7C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候选选择和模块职责</a:t>
            </a:r>
          </a:p>
        </p:txBody>
      </p:sp>
      <p:sp>
        <p:nvSpPr>
          <p:cNvPr id="6" name="column-line-72-2">
            <a:extLst xmlns:a="http://schemas.openxmlformats.org/drawingml/2006/main">
              <a:ext uri="{FF2B5EF4-FFF2-40B4-BE49-F238E27FC236}">
                <a16:creationId xmlns:a16="http://schemas.microsoft.com/office/drawing/2014/main" id="{7FA37952-09A2-4CCD-A64C-C3D19B73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对象、用户与权威写入</a:t>
            </a:r>
          </a:p>
        </p:txBody>
      </p:sp>
      <p:sp>
        <p:nvSpPr>
          <p:cNvPr id="7" name="column-line-72-3">
            <a:extLst xmlns:a="http://schemas.openxmlformats.org/drawingml/2006/main">
              <a:ext uri="{FF2B5EF4-FFF2-40B4-BE49-F238E27FC236}">
                <a16:creationId xmlns:a16="http://schemas.microsoft.com/office/drawing/2014/main" id="{4D5547AB-89DC-40A2-85B1-536ED3C7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必建、预留和扩展触发</a:t>
            </a:r>
          </a:p>
        </p:txBody>
      </p:sp>
      <p:sp>
        <p:nvSpPr>
          <p:cNvPr id="8" name="column-heading-690">
            <a:extLst xmlns:a="http://schemas.openxmlformats.org/drawingml/2006/main">
              <a:ext uri="{FF2B5EF4-FFF2-40B4-BE49-F238E27FC236}">
                <a16:creationId xmlns:a16="http://schemas.microsoft.com/office/drawing/2014/main" id="{93693B81-36D2-49A3-BD38-5C7E9858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493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放行证据</a:t>
            </a:r>
          </a:p>
        </p:txBody>
      </p:sp>
      <p:sp>
        <p:nvSpPr>
          <p:cNvPr id="9" name="column-line-690-0">
            <a:extLst xmlns:a="http://schemas.openxmlformats.org/drawingml/2006/main">
              <a:ext uri="{FF2B5EF4-FFF2-40B4-BE49-F238E27FC236}">
                <a16:creationId xmlns:a16="http://schemas.microsoft.com/office/drawing/2014/main" id="{216F9E22-8512-4288-B124-89142685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527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已有、复用和缺口明确</a:t>
            </a:r>
          </a:p>
        </p:txBody>
      </p:sp>
      <p:sp>
        <p:nvSpPr>
          <p:cNvPr id="10" name="column-line-690-1">
            <a:extLst xmlns:a="http://schemas.openxmlformats.org/drawingml/2006/main">
              <a:ext uri="{FF2B5EF4-FFF2-40B4-BE49-F238E27FC236}">
                <a16:creationId xmlns:a16="http://schemas.microsoft.com/office/drawing/2014/main" id="{F00780C2-99CA-45FA-B523-28A95207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004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新增平行入口有理由</a:t>
            </a:r>
          </a:p>
        </p:txBody>
      </p:sp>
      <p:sp>
        <p:nvSpPr>
          <p:cNvPr id="11" name="column-line-690-2">
            <a:extLst xmlns:a="http://schemas.openxmlformats.org/drawingml/2006/main">
              <a:ext uri="{FF2B5EF4-FFF2-40B4-BE49-F238E27FC236}">
                <a16:creationId xmlns:a16="http://schemas.microsoft.com/office/drawing/2014/main" id="{AFC7A2D3-475B-4F82-AA6D-11DF8A12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481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迁移、存量与兼容可验收</a:t>
            </a:r>
          </a:p>
        </p:txBody>
      </p:sp>
      <p:sp>
        <p:nvSpPr>
          <p:cNvPr id="12" name="column-line-690-3">
            <a:extLst xmlns:a="http://schemas.openxmlformats.org/drawingml/2006/main">
              <a:ext uri="{FF2B5EF4-FFF2-40B4-BE49-F238E27FC236}">
                <a16:creationId xmlns:a16="http://schemas.microsoft.com/office/drawing/2014/main" id="{78F34565-52ED-46CD-A926-F6977420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958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权限、恢复与文档有去向</a:t>
            </a:r>
          </a:p>
        </p:txBody>
      </p:sp>
      <p:sp>
        <p:nvSpPr>
          <p:cNvPr id="13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5A8144D8-ADE0-497E-9EFD-359AE520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架构建议、文件模板和架构图不代表能力已经实现</a:t>
            </a:r>
          </a:p>
        </p:txBody>
      </p:sp>
    </p:spTree>
    <p:extLst>
      <p:ext uri="{BB962C8B-B14F-4D97-AF65-F5344CB8AC3E}">
        <p14:creationId xmlns:p14="http://schemas.microsoft.com/office/powerpoint/2010/main" val="1725601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E54DD16-D1C8-427B-9329-9AA95208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统一数据与任务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86EFA54-96B4-4B49-B215-34484F99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intro">
            <a:extLst xmlns:a="http://schemas.openxmlformats.org/drawingml/2006/main">
              <a:ext uri="{FF2B5EF4-FFF2-40B4-BE49-F238E27FC236}">
                <a16:creationId xmlns:a16="http://schemas.microsoft.com/office/drawing/2014/main" id="{826AE23B-B5B7-47A1-B81F-5F2A20EB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方案 3：从可靠写入开始，按规模增加任务能力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55C525-EE53-4B14-8532-5F110E78A201}"/>
              </a:ext>
            </a:extLst>
          </p:cNvPr>
          <p:cNvGraphicFramePr/>
          <p:nvPr/>
        </p:nvGraphicFramePr>
        <p:xfrm>
          <a:off xmlns:a="http://schemas.openxmlformats.org/drawingml/2006/main" x="685800" y="1905000"/>
          <a:ext xmlns:a="http://schemas.openxmlformats.org/drawingml/2006/main" cx="10820400" cy="352425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571750"/>
                <a:gridCol w="4619625"/>
                <a:gridCol w="3629025"/>
              </a:tblGrid>
              <a:tr h="7048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数据职责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保存什么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用途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原始证据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响应、文件、来源、哈希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追溯与重解析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标准事实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身份、归属、字段、日期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共享业务口径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派生结果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输入时点、指标、版本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复用与历史解释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页面读取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权限内查询、缓存与视图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快速且一致地展示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</a:tbl>
          </a:graphicData>
        </a:graphic>
      </p:graphicFrame>
      <p:sp>
        <p:nvSpPr>
          <p:cNvPr id="5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A236349A-4358-4D5C-8A97-F4FA3AFC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同一事实有明确权威位置，页面 JSON 不承担长期数据模型</a:t>
            </a:r>
          </a:p>
        </p:txBody>
      </p:sp>
    </p:spTree>
    <p:extLst>
      <p:ext uri="{BB962C8B-B14F-4D97-AF65-F5344CB8AC3E}">
        <p14:creationId xmlns:p14="http://schemas.microsoft.com/office/powerpoint/2010/main" val="155883175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32E686-C9BF-448D-BA34-DB0017F4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采集、读取与运行入口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8A66E62-EDA2-4674-A1E5-05880AE7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3" name="num-0">
            <a:extLst xmlns:a="http://schemas.openxmlformats.org/drawingml/2006/main">
              <a:ext uri="{FF2B5EF4-FFF2-40B4-BE49-F238E27FC236}">
                <a16:creationId xmlns:a16="http://schemas.microsoft.com/office/drawing/2014/main" id="{3B5B5643-3F7F-46B0-8C52-804F4A74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label-0">
            <a:extLst xmlns:a="http://schemas.openxmlformats.org/drawingml/2006/main">
              <a:ext uri="{FF2B5EF4-FFF2-40B4-BE49-F238E27FC236}">
                <a16:creationId xmlns:a16="http://schemas.microsoft.com/office/drawing/2014/main" id="{8D4DAA14-C501-4599-83A6-AD06BF40F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812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首次落库</a:t>
            </a:r>
          </a:p>
        </p:txBody>
      </p:sp>
      <p:sp>
        <p:nvSpPr>
          <p:cNvPr id="5" name="detail-0">
            <a:extLst xmlns:a="http://schemas.openxmlformats.org/drawingml/2006/main">
              <a:ext uri="{FF2B5EF4-FFF2-40B4-BE49-F238E27FC236}">
                <a16:creationId xmlns:a16="http://schemas.microsoft.com/office/drawing/2014/main" id="{FFBB8E34-D13D-4A5D-84EC-CF37378A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981200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完整范围、身份、去重与证据</a:t>
            </a:r>
          </a:p>
        </p:txBody>
      </p:sp>
      <p:sp>
        <p:nvSpPr>
          <p:cNvPr id="6" name="num-1">
            <a:extLst xmlns:a="http://schemas.openxmlformats.org/drawingml/2006/main">
              <a:ext uri="{FF2B5EF4-FFF2-40B4-BE49-F238E27FC236}">
                <a16:creationId xmlns:a16="http://schemas.microsoft.com/office/drawing/2014/main" id="{2918A823-A62B-4D67-8F0F-4686BC90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label-1">
            <a:extLst xmlns:a="http://schemas.openxmlformats.org/drawingml/2006/main">
              <a:ext uri="{FF2B5EF4-FFF2-40B4-BE49-F238E27FC236}">
                <a16:creationId xmlns:a16="http://schemas.microsoft.com/office/drawing/2014/main" id="{20EA6EF0-4133-485E-B0DA-99ABD06A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051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增量更正</a:t>
            </a:r>
          </a:p>
        </p:txBody>
      </p:sp>
      <p:sp>
        <p:nvSpPr>
          <p:cNvPr id="8" name="detail-1">
            <a:extLst xmlns:a="http://schemas.openxmlformats.org/drawingml/2006/main">
              <a:ext uri="{FF2B5EF4-FFF2-40B4-BE49-F238E27FC236}">
                <a16:creationId xmlns:a16="http://schemas.microsoft.com/office/drawing/2014/main" id="{756E02DB-34F8-4CC3-AB55-7E579196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05100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覆盖水位、重叠窗口和缺口核查</a:t>
            </a:r>
          </a:p>
        </p:txBody>
      </p:sp>
      <p:sp>
        <p:nvSpPr>
          <p:cNvPr id="9" name="num-2">
            <a:extLst xmlns:a="http://schemas.openxmlformats.org/drawingml/2006/main">
              <a:ext uri="{FF2B5EF4-FFF2-40B4-BE49-F238E27FC236}">
                <a16:creationId xmlns:a16="http://schemas.microsoft.com/office/drawing/2014/main" id="{C86450C4-E9BC-43D0-859F-70EF23D1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label-2">
            <a:extLst xmlns:a="http://schemas.openxmlformats.org/drawingml/2006/main">
              <a:ext uri="{FF2B5EF4-FFF2-40B4-BE49-F238E27FC236}">
                <a16:creationId xmlns:a16="http://schemas.microsoft.com/office/drawing/2014/main" id="{60C4501B-06D0-4A6C-83FB-3CD2F4F92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290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统一读取</a:t>
            </a:r>
          </a:p>
        </p:txBody>
      </p:sp>
      <p:sp>
        <p:nvSpPr>
          <p:cNvPr id="11" name="detail-2">
            <a:extLst xmlns:a="http://schemas.openxmlformats.org/drawingml/2006/main">
              <a:ext uri="{FF2B5EF4-FFF2-40B4-BE49-F238E27FC236}">
                <a16:creationId xmlns:a16="http://schemas.microsoft.com/office/drawing/2014/main" id="{D27F7595-9433-4150-90D6-46AC87C8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29000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页面、重复计算读数据库与缓存</a:t>
            </a:r>
          </a:p>
        </p:txBody>
      </p:sp>
      <p:sp>
        <p:nvSpPr>
          <p:cNvPr id="12" name="num-3">
            <a:extLst xmlns:a="http://schemas.openxmlformats.org/drawingml/2006/main">
              <a:ext uri="{FF2B5EF4-FFF2-40B4-BE49-F238E27FC236}">
                <a16:creationId xmlns:a16="http://schemas.microsoft.com/office/drawing/2014/main" id="{B86B916E-3B3B-4E90-981B-8F43704C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3" name="label-3">
            <a:extLst xmlns:a="http://schemas.openxmlformats.org/drawingml/2006/main">
              <a:ext uri="{FF2B5EF4-FFF2-40B4-BE49-F238E27FC236}">
                <a16:creationId xmlns:a16="http://schemas.microsoft.com/office/drawing/2014/main" id="{C935B6EC-9FC5-4CCA-8ADA-C286511B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529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共用 Runner</a:t>
            </a:r>
          </a:p>
        </p:txBody>
      </p:sp>
      <p:sp>
        <p:nvSpPr>
          <p:cNvPr id="14" name="detail-3">
            <a:extLst xmlns:a="http://schemas.openxmlformats.org/drawingml/2006/main">
              <a:ext uri="{FF2B5EF4-FFF2-40B4-BE49-F238E27FC236}">
                <a16:creationId xmlns:a16="http://schemas.microsoft.com/office/drawing/2014/main" id="{950F590A-C011-4C19-89D7-4BAD404D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152900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自动、补跑、补偿使用同一入口</a:t>
            </a:r>
          </a:p>
        </p:txBody>
      </p:sp>
      <p:sp>
        <p:nvSpPr>
          <p:cNvPr id="15" name="num-4">
            <a:extLst xmlns:a="http://schemas.openxmlformats.org/drawingml/2006/main">
              <a:ext uri="{FF2B5EF4-FFF2-40B4-BE49-F238E27FC236}">
                <a16:creationId xmlns:a16="http://schemas.microsoft.com/office/drawing/2014/main" id="{72CB338F-438F-4C54-8C34-BCC4FF8A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6" name="label-4">
            <a:extLst xmlns:a="http://schemas.openxmlformats.org/drawingml/2006/main">
              <a:ext uri="{FF2B5EF4-FFF2-40B4-BE49-F238E27FC236}">
                <a16:creationId xmlns:a16="http://schemas.microsoft.com/office/drawing/2014/main" id="{28F3A136-D833-4485-9793-774A8E2E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768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共用 Guard</a:t>
            </a:r>
          </a:p>
        </p:txBody>
      </p:sp>
      <p:sp>
        <p:nvSpPr>
          <p:cNvPr id="17" name="detail-4">
            <a:extLst xmlns:a="http://schemas.openxmlformats.org/drawingml/2006/main">
              <a:ext uri="{FF2B5EF4-FFF2-40B4-BE49-F238E27FC236}">
                <a16:creationId xmlns:a16="http://schemas.microsoft.com/office/drawing/2014/main" id="{BA56ACA9-E1A4-49DA-B5D5-024CFAA5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876800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接口策略、凭据与熔断作用域一致</a:t>
            </a:r>
          </a:p>
        </p:txBody>
      </p:sp>
      <p:sp>
        <p:nvSpPr>
          <p:cNvPr id="18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31C68F6C-6461-4600-9B97-2B8A08B3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普通刷新不重复联网，失败或未知不覆盖有效事实</a:t>
            </a:r>
          </a:p>
        </p:txBody>
      </p:sp>
    </p:spTree>
    <p:extLst>
      <p:ext uri="{BB962C8B-B14F-4D97-AF65-F5344CB8AC3E}">
        <p14:creationId xmlns:p14="http://schemas.microsoft.com/office/powerpoint/2010/main" val="82727726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5AAED99-549B-46DB-BEA3-BAD60F89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任务完成与质量证据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56B955D-54D1-4AED-B89B-F28B8DF4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B7C81D-1DC8-40DE-B097-5D5B93EF4F9F}"/>
              </a:ext>
            </a:extLst>
          </p:cNvPr>
          <p:cNvGraphicFramePr/>
          <p:nvPr/>
        </p:nvGraphicFramePr>
        <p:xfrm>
          <a:off xmlns:a="http://schemas.openxmlformats.org/drawingml/2006/main" x="685800" y="1828800"/>
          <a:ext xmlns:a="http://schemas.openxmlformats.org/drawingml/2006/main" cx="10820400" cy="379095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857500"/>
                <a:gridCol w="7962900"/>
              </a:tblGrid>
              <a:tr h="6318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完成或恢复条件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重复执行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不重复入库，消费者共用事实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失败或缺页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保留有效事实，水位不伪前进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中断续跑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持久化剩余量、阶段和续跑时间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阶段成功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目标日、产出、依赖及质量通过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告警恢复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新证据匹配实际任务或数据分区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</a:tbl>
          </a:graphicData>
        </a:graphic>
      </p:graphicFrame>
      <p:sp>
        <p:nvSpPr>
          <p:cNvPr id="4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9E753CC8-5CE2-4BD2-92FE-8D673A0B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固定批次数与槽位止损是执行保护，不能代替业务完成</a:t>
            </a:r>
          </a:p>
        </p:txBody>
      </p:sp>
    </p:spTree>
    <p:extLst>
      <p:ext uri="{BB962C8B-B14F-4D97-AF65-F5344CB8AC3E}">
        <p14:creationId xmlns:p14="http://schemas.microsoft.com/office/powerpoint/2010/main" val="133950394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D7A9C62-69C3-4B86-9079-B501F81D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数据契约与阶段契约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BC8BCBD-15C7-4453-9DFA-1F70F5130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3" name="column-heading-72">
            <a:extLst xmlns:a="http://schemas.openxmlformats.org/drawingml/2006/main">
              <a:ext uri="{FF2B5EF4-FFF2-40B4-BE49-F238E27FC236}">
                <a16:creationId xmlns:a16="http://schemas.microsoft.com/office/drawing/2014/main" id="{5E22B604-0CA2-4520-B765-328EAB5E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93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数据契约</a:t>
            </a:r>
          </a:p>
        </p:txBody>
      </p:sp>
      <p:sp>
        <p:nvSpPr>
          <p:cNvPr id="4" name="column-line-72-0">
            <a:extLst xmlns:a="http://schemas.openxmlformats.org/drawingml/2006/main">
              <a:ext uri="{FF2B5EF4-FFF2-40B4-BE49-F238E27FC236}">
                <a16:creationId xmlns:a16="http://schemas.microsoft.com/office/drawing/2014/main" id="{E1C6F790-D2FB-4F35-8FC8-F46D744D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身份、用户、单位与业务日期</a:t>
            </a:r>
          </a:p>
        </p:txBody>
      </p:sp>
      <p:sp>
        <p:nvSpPr>
          <p:cNvPr id="5" name="column-line-72-1">
            <a:extLst xmlns:a="http://schemas.openxmlformats.org/drawingml/2006/main">
              <a:ext uri="{FF2B5EF4-FFF2-40B4-BE49-F238E27FC236}">
                <a16:creationId xmlns:a16="http://schemas.microsoft.com/office/drawing/2014/main" id="{14C084B7-9678-4395-B51C-6EE8D081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正式列、原文与解析版本</a:t>
            </a:r>
          </a:p>
        </p:txBody>
      </p:sp>
      <p:sp>
        <p:nvSpPr>
          <p:cNvPr id="6" name="column-line-72-2">
            <a:extLst xmlns:a="http://schemas.openxmlformats.org/drawingml/2006/main">
              <a:ext uri="{FF2B5EF4-FFF2-40B4-BE49-F238E27FC236}">
                <a16:creationId xmlns:a16="http://schemas.microsoft.com/office/drawing/2014/main" id="{B13711F5-F355-45A6-B56B-60726AEB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唯一键、去重、索引与质量</a:t>
            </a:r>
          </a:p>
        </p:txBody>
      </p:sp>
      <p:sp>
        <p:nvSpPr>
          <p:cNvPr id="7" name="column-line-72-3">
            <a:extLst xmlns:a="http://schemas.openxmlformats.org/drawingml/2006/main">
              <a:ext uri="{FF2B5EF4-FFF2-40B4-BE49-F238E27FC236}">
                <a16:creationId xmlns:a16="http://schemas.microsoft.com/office/drawing/2014/main" id="{E4995CBB-151F-46A7-8643-DE9F3579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增量、更正、缓存与失败保留</a:t>
            </a:r>
          </a:p>
        </p:txBody>
      </p:sp>
      <p:sp>
        <p:nvSpPr>
          <p:cNvPr id="8" name="column-heading-690">
            <a:extLst xmlns:a="http://schemas.openxmlformats.org/drawingml/2006/main">
              <a:ext uri="{FF2B5EF4-FFF2-40B4-BE49-F238E27FC236}">
                <a16:creationId xmlns:a16="http://schemas.microsoft.com/office/drawing/2014/main" id="{9AA26D17-8124-41F5-AD53-0566F081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493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执行契约</a:t>
            </a:r>
          </a:p>
        </p:txBody>
      </p:sp>
      <p:sp>
        <p:nvSpPr>
          <p:cNvPr id="9" name="column-line-690-0">
            <a:extLst xmlns:a="http://schemas.openxmlformats.org/drawingml/2006/main">
              <a:ext uri="{FF2B5EF4-FFF2-40B4-BE49-F238E27FC236}">
                <a16:creationId xmlns:a16="http://schemas.microsoft.com/office/drawing/2014/main" id="{2012D5A3-1519-4353-AF4F-F57EEFC3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527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目标日、对象集合与排除原因</a:t>
            </a:r>
          </a:p>
        </p:txBody>
      </p:sp>
      <p:sp>
        <p:nvSpPr>
          <p:cNvPr id="10" name="column-line-690-1">
            <a:extLst xmlns:a="http://schemas.openxmlformats.org/drawingml/2006/main">
              <a:ext uri="{FF2B5EF4-FFF2-40B4-BE49-F238E27FC236}">
                <a16:creationId xmlns:a16="http://schemas.microsoft.com/office/drawing/2014/main" id="{A4B13624-71E4-445D-BC5B-EB192B7F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004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本阶段产出与依赖分区</a:t>
            </a:r>
          </a:p>
        </p:txBody>
      </p:sp>
      <p:sp>
        <p:nvSpPr>
          <p:cNvPr id="11" name="column-line-690-2">
            <a:extLst xmlns:a="http://schemas.openxmlformats.org/drawingml/2006/main">
              <a:ext uri="{FF2B5EF4-FFF2-40B4-BE49-F238E27FC236}">
                <a16:creationId xmlns:a16="http://schemas.microsoft.com/office/drawing/2014/main" id="{827301B4-E057-4E10-85FF-88C11C7D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481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剩余进度、数量与续跑时间</a:t>
            </a:r>
          </a:p>
        </p:txBody>
      </p:sp>
      <p:sp>
        <p:nvSpPr>
          <p:cNvPr id="12" name="column-line-690-3">
            <a:extLst xmlns:a="http://schemas.openxmlformats.org/drawingml/2006/main">
              <a:ext uri="{FF2B5EF4-FFF2-40B4-BE49-F238E27FC236}">
                <a16:creationId xmlns:a16="http://schemas.microsoft.com/office/drawing/2014/main" id="{B8CEF715-693D-4C46-8EB5-5CB45470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958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状态、作用域及恢复证据</a:t>
            </a:r>
          </a:p>
        </p:txBody>
      </p:sp>
      <p:sp>
        <p:nvSpPr>
          <p:cNvPr id="13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AE5243CE-58CD-412D-9298-9CA25D38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先实现可靠导入，再按真实后台需求增加分区和调度</a:t>
            </a:r>
          </a:p>
        </p:txBody>
      </p:sp>
    </p:spTree>
    <p:extLst>
      <p:ext uri="{BB962C8B-B14F-4D97-AF65-F5344CB8AC3E}">
        <p14:creationId xmlns:p14="http://schemas.microsoft.com/office/powerpoint/2010/main" val="89245327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F6B7B7-DB47-41CE-A948-7FE35797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数据方案的复用与门禁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E0325CB-D7DC-484D-A890-8BCE3F76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3" name="column-heading-72">
            <a:extLst xmlns:a="http://schemas.openxmlformats.org/drawingml/2006/main">
              <a:ext uri="{FF2B5EF4-FFF2-40B4-BE49-F238E27FC236}">
                <a16:creationId xmlns:a16="http://schemas.microsoft.com/office/drawing/2014/main" id="{85DEB519-A5CA-47B6-9E72-6A914C08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93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项目生成结果</a:t>
            </a:r>
          </a:p>
        </p:txBody>
      </p:sp>
      <p:sp>
        <p:nvSpPr>
          <p:cNvPr id="4" name="column-line-72-0">
            <a:extLst xmlns:a="http://schemas.openxmlformats.org/drawingml/2006/main">
              <a:ext uri="{FF2B5EF4-FFF2-40B4-BE49-F238E27FC236}">
                <a16:creationId xmlns:a16="http://schemas.microsoft.com/office/drawing/2014/main" id="{1D2CF56F-5C6D-452B-A32D-D3BAE7BA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实际数据链路与复用入口</a:t>
            </a:r>
          </a:p>
        </p:txBody>
      </p:sp>
      <p:sp>
        <p:nvSpPr>
          <p:cNvPr id="5" name="column-line-72-1">
            <a:extLst xmlns:a="http://schemas.openxmlformats.org/drawingml/2006/main">
              <a:ext uri="{FF2B5EF4-FFF2-40B4-BE49-F238E27FC236}">
                <a16:creationId xmlns:a16="http://schemas.microsoft.com/office/drawing/2014/main" id="{720773D4-C2E4-40CC-B248-A3F7F99A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最小数据与写入契约</a:t>
            </a:r>
          </a:p>
        </p:txBody>
      </p:sp>
      <p:sp>
        <p:nvSpPr>
          <p:cNvPr id="6" name="column-line-72-2">
            <a:extLst xmlns:a="http://schemas.openxmlformats.org/drawingml/2006/main">
              <a:ext uri="{FF2B5EF4-FFF2-40B4-BE49-F238E27FC236}">
                <a16:creationId xmlns:a16="http://schemas.microsoft.com/office/drawing/2014/main" id="{DD036118-3935-4E16-BCA3-72B29EEA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目标、阶段及质量条件</a:t>
            </a:r>
          </a:p>
        </p:txBody>
      </p:sp>
      <p:sp>
        <p:nvSpPr>
          <p:cNvPr id="7" name="column-line-72-3">
            <a:extLst xmlns:a="http://schemas.openxmlformats.org/drawingml/2006/main">
              <a:ext uri="{FF2B5EF4-FFF2-40B4-BE49-F238E27FC236}">
                <a16:creationId xmlns:a16="http://schemas.microsoft.com/office/drawing/2014/main" id="{DB9C6307-3700-4B6E-962B-36EC3EC9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存量、缓存与恢复范围</a:t>
            </a:r>
          </a:p>
        </p:txBody>
      </p:sp>
      <p:sp>
        <p:nvSpPr>
          <p:cNvPr id="8" name="column-heading-690">
            <a:extLst xmlns:a="http://schemas.openxmlformats.org/drawingml/2006/main">
              <a:ext uri="{FF2B5EF4-FFF2-40B4-BE49-F238E27FC236}">
                <a16:creationId xmlns:a16="http://schemas.microsoft.com/office/drawing/2014/main" id="{168426E8-E1FE-4FED-900F-3179469E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493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放行证据</a:t>
            </a:r>
          </a:p>
        </p:txBody>
      </p:sp>
      <p:sp>
        <p:nvSpPr>
          <p:cNvPr id="9" name="column-line-690-0">
            <a:extLst xmlns:a="http://schemas.openxmlformats.org/drawingml/2006/main">
              <a:ext uri="{FF2B5EF4-FFF2-40B4-BE49-F238E27FC236}">
                <a16:creationId xmlns:a16="http://schemas.microsoft.com/office/drawing/2014/main" id="{366F013B-4A5C-477E-98D3-A3FA8209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527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失败不覆盖，重复不重复写</a:t>
            </a:r>
          </a:p>
        </p:txBody>
      </p:sp>
      <p:sp>
        <p:nvSpPr>
          <p:cNvPr id="10" name="column-line-690-1">
            <a:extLst xmlns:a="http://schemas.openxmlformats.org/drawingml/2006/main">
              <a:ext uri="{FF2B5EF4-FFF2-40B4-BE49-F238E27FC236}">
                <a16:creationId xmlns:a16="http://schemas.microsoft.com/office/drawing/2014/main" id="{AFA795B8-74C5-4B7C-909E-9DAFD8F5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004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缺口可见，游标不会乱跳</a:t>
            </a:r>
          </a:p>
        </p:txBody>
      </p:sp>
      <p:sp>
        <p:nvSpPr>
          <p:cNvPr id="11" name="column-line-690-2">
            <a:extLst xmlns:a="http://schemas.openxmlformats.org/drawingml/2006/main">
              <a:ext uri="{FF2B5EF4-FFF2-40B4-BE49-F238E27FC236}">
                <a16:creationId xmlns:a16="http://schemas.microsoft.com/office/drawing/2014/main" id="{7FBD1A96-F0F3-4B86-B486-C3D283F6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481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中断可续跑，产出日期正确</a:t>
            </a:r>
          </a:p>
        </p:txBody>
      </p:sp>
      <p:sp>
        <p:nvSpPr>
          <p:cNvPr id="12" name="column-line-690-3">
            <a:extLst xmlns:a="http://schemas.openxmlformats.org/drawingml/2006/main">
              <a:ext uri="{FF2B5EF4-FFF2-40B4-BE49-F238E27FC236}">
                <a16:creationId xmlns:a16="http://schemas.microsoft.com/office/drawing/2014/main" id="{A39B570D-5E59-4D24-8D7C-62A93855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958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告警只在匹配证据下恢复</a:t>
            </a:r>
          </a:p>
        </p:txBody>
      </p:sp>
      <p:sp>
        <p:nvSpPr>
          <p:cNvPr id="13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4F0E64F2-E5FA-4466-AC27-4AA76DF9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未知配额保持未知，缺项不能补成零或推测事实</a:t>
            </a:r>
          </a:p>
        </p:txBody>
      </p:sp>
    </p:spTree>
    <p:extLst>
      <p:ext uri="{BB962C8B-B14F-4D97-AF65-F5344CB8AC3E}">
        <p14:creationId xmlns:p14="http://schemas.microsoft.com/office/powerpoint/2010/main" val="125545276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B11095E-D34B-4DE0-BFE3-79D96524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共享前端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52008EE-4849-42C8-83EB-235067D4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3" name="intro">
            <a:extLst xmlns:a="http://schemas.openxmlformats.org/drawingml/2006/main">
              <a:ext uri="{FF2B5EF4-FFF2-40B4-BE49-F238E27FC236}">
                <a16:creationId xmlns:a16="http://schemas.microsoft.com/office/drawing/2014/main" id="{6126C1A4-75D3-49E6-BB14-9B7CCF3C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方案 4：样式、状态、手机与交互一起统一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29E8DA-4CE3-415C-8607-DA07FB26E0CE}"/>
              </a:ext>
            </a:extLst>
          </p:cNvPr>
          <p:cNvGraphicFramePr/>
          <p:nvPr/>
        </p:nvGraphicFramePr>
        <p:xfrm>
          <a:off xmlns:a="http://schemas.openxmlformats.org/drawingml/2006/main" x="685800" y="1905000"/>
          <a:ext xmlns:a="http://schemas.openxmlformats.org/drawingml/2006/main" cx="10820400" cy="352425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3000375"/>
                <a:gridCol w="7820025"/>
              </a:tblGrid>
              <a:tr h="7048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共享资产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保存内容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设计规则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颜色、字号、间距、尺寸与断点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共享实现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布局、表格、控件、弹窗与图表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代表性页面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桌面、手机及加载/空/错/权限状态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行为契约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状态保留、旧响应、滚动与触屏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</a:tbl>
          </a:graphicData>
        </a:graphic>
      </p:graphicFrame>
      <p:sp>
        <p:nvSpPr>
          <p:cNvPr id="5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83B6BEEF-FBF4-45B1-A3D5-519D851F2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起步一张代表性页面和常用控件，按同一规则扩展</a:t>
            </a:r>
          </a:p>
        </p:txBody>
      </p:sp>
    </p:spTree>
    <p:extLst>
      <p:ext uri="{BB962C8B-B14F-4D97-AF65-F5344CB8AC3E}">
        <p14:creationId xmlns:p14="http://schemas.microsoft.com/office/powerpoint/2010/main" val="173128214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490B203-304E-49D0-9131-58628AFD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公共实现与页面差异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4D8FFC0-AB7A-447F-826A-142DFF4F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3" name="num-0">
            <a:extLst xmlns:a="http://schemas.openxmlformats.org/drawingml/2006/main">
              <a:ext uri="{FF2B5EF4-FFF2-40B4-BE49-F238E27FC236}">
                <a16:creationId xmlns:a16="http://schemas.microsoft.com/office/drawing/2014/main" id="{BF995374-482C-44C3-9831-BA76DBCA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label-0">
            <a:extLst xmlns:a="http://schemas.openxmlformats.org/drawingml/2006/main">
              <a:ext uri="{FF2B5EF4-FFF2-40B4-BE49-F238E27FC236}">
                <a16:creationId xmlns:a16="http://schemas.microsoft.com/office/drawing/2014/main" id="{4A940683-C0A3-4B06-B954-50225680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812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先找公共能力</a:t>
            </a:r>
          </a:p>
        </p:txBody>
      </p:sp>
      <p:sp>
        <p:nvSpPr>
          <p:cNvPr id="5" name="detail-0">
            <a:extLst xmlns:a="http://schemas.openxmlformats.org/drawingml/2006/main">
              <a:ext uri="{FF2B5EF4-FFF2-40B4-BE49-F238E27FC236}">
                <a16:creationId xmlns:a16="http://schemas.microsoft.com/office/drawing/2014/main" id="{6314BC03-A7F6-45BF-8401-484C1A85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981200"/>
            <a:ext cx="700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读取共享样式、控件与参考页</a:t>
            </a:r>
          </a:p>
        </p:txBody>
      </p:sp>
      <p:sp>
        <p:nvSpPr>
          <p:cNvPr id="6" name="num-1">
            <a:extLst xmlns:a="http://schemas.openxmlformats.org/drawingml/2006/main">
              <a:ext uri="{FF2B5EF4-FFF2-40B4-BE49-F238E27FC236}">
                <a16:creationId xmlns:a16="http://schemas.microsoft.com/office/drawing/2014/main" id="{8BEB8F67-7076-4656-B8AC-C8B03E4F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label-1">
            <a:extLst xmlns:a="http://schemas.openxmlformats.org/drawingml/2006/main">
              <a:ext uri="{FF2B5EF4-FFF2-40B4-BE49-F238E27FC236}">
                <a16:creationId xmlns:a16="http://schemas.microsoft.com/office/drawing/2014/main" id="{91AA1208-055F-4025-8B1B-03088B24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051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只写业务差异</a:t>
            </a:r>
          </a:p>
        </p:txBody>
      </p:sp>
      <p:sp>
        <p:nvSpPr>
          <p:cNvPr id="8" name="detail-1">
            <a:extLst xmlns:a="http://schemas.openxmlformats.org/drawingml/2006/main">
              <a:ext uri="{FF2B5EF4-FFF2-40B4-BE49-F238E27FC236}">
                <a16:creationId xmlns:a16="http://schemas.microsoft.com/office/drawing/2014/main" id="{6B63A8AB-7A2C-4DDE-A053-14C60CF6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705100"/>
            <a:ext cx="700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变体有理由，公共变化回到共享层</a:t>
            </a:r>
          </a:p>
        </p:txBody>
      </p:sp>
      <p:sp>
        <p:nvSpPr>
          <p:cNvPr id="9" name="num-2">
            <a:extLst xmlns:a="http://schemas.openxmlformats.org/drawingml/2006/main">
              <a:ext uri="{FF2B5EF4-FFF2-40B4-BE49-F238E27FC236}">
                <a16:creationId xmlns:a16="http://schemas.microsoft.com/office/drawing/2014/main" id="{B6D0E703-49DD-4E13-A7FE-AC178511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label-2">
            <a:extLst xmlns:a="http://schemas.openxmlformats.org/drawingml/2006/main">
              <a:ext uri="{FF2B5EF4-FFF2-40B4-BE49-F238E27FC236}">
                <a16:creationId xmlns:a16="http://schemas.microsoft.com/office/drawing/2014/main" id="{EA031189-78E0-4F29-94A6-9BC4BC7D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290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同时适配</a:t>
            </a:r>
          </a:p>
        </p:txBody>
      </p:sp>
      <p:sp>
        <p:nvSpPr>
          <p:cNvPr id="11" name="detail-2">
            <a:extLst xmlns:a="http://schemas.openxmlformats.org/drawingml/2006/main">
              <a:ext uri="{FF2B5EF4-FFF2-40B4-BE49-F238E27FC236}">
                <a16:creationId xmlns:a16="http://schemas.microsoft.com/office/drawing/2014/main" id="{B708FBCD-8886-41D1-9EE9-DE0A8CC4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429000"/>
            <a:ext cx="700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桌面、手机、触屏和键盘</a:t>
            </a:r>
          </a:p>
        </p:txBody>
      </p:sp>
      <p:sp>
        <p:nvSpPr>
          <p:cNvPr id="12" name="num-3">
            <a:extLst xmlns:a="http://schemas.openxmlformats.org/drawingml/2006/main">
              <a:ext uri="{FF2B5EF4-FFF2-40B4-BE49-F238E27FC236}">
                <a16:creationId xmlns:a16="http://schemas.microsoft.com/office/drawing/2014/main" id="{B2088E36-696F-443B-921A-836C2244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3" name="label-3">
            <a:extLst xmlns:a="http://schemas.openxmlformats.org/drawingml/2006/main">
              <a:ext uri="{FF2B5EF4-FFF2-40B4-BE49-F238E27FC236}">
                <a16:creationId xmlns:a16="http://schemas.microsoft.com/office/drawing/2014/main" id="{BA595D3D-566E-4BCB-A913-B2F84EAA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529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保持原条件</a:t>
            </a:r>
          </a:p>
        </p:txBody>
      </p:sp>
      <p:sp>
        <p:nvSpPr>
          <p:cNvPr id="14" name="detail-3">
            <a:extLst xmlns:a="http://schemas.openxmlformats.org/drawingml/2006/main">
              <a:ext uri="{FF2B5EF4-FFF2-40B4-BE49-F238E27FC236}">
                <a16:creationId xmlns:a16="http://schemas.microsoft.com/office/drawing/2014/main" id="{44C089AC-7842-4127-A489-0D4786B4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152900"/>
            <a:ext cx="700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完整字段、权限、口径与状态</a:t>
            </a:r>
          </a:p>
        </p:txBody>
      </p:sp>
      <p:sp>
        <p:nvSpPr>
          <p:cNvPr id="15" name="num-4">
            <a:extLst xmlns:a="http://schemas.openxmlformats.org/drawingml/2006/main">
              <a:ext uri="{FF2B5EF4-FFF2-40B4-BE49-F238E27FC236}">
                <a16:creationId xmlns:a16="http://schemas.microsoft.com/office/drawing/2014/main" id="{C4110B5F-E38A-4867-8E75-B24FF722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6" name="label-4">
            <a:extLst xmlns:a="http://schemas.openxmlformats.org/drawingml/2006/main">
              <a:ext uri="{FF2B5EF4-FFF2-40B4-BE49-F238E27FC236}">
                <a16:creationId xmlns:a16="http://schemas.microsoft.com/office/drawing/2014/main" id="{E1CCF199-2C90-4B5F-A0A1-1104DAAA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768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验证请求行为</a:t>
            </a:r>
          </a:p>
        </p:txBody>
      </p:sp>
      <p:sp>
        <p:nvSpPr>
          <p:cNvPr id="17" name="detail-4">
            <a:extLst xmlns:a="http://schemas.openxmlformats.org/drawingml/2006/main">
              <a:ext uri="{FF2B5EF4-FFF2-40B4-BE49-F238E27FC236}">
                <a16:creationId xmlns:a16="http://schemas.microsoft.com/office/drawing/2014/main" id="{44EBC4B0-6D8A-4AA7-935C-D2AF2146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876800"/>
            <a:ext cx="700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旋转、菜单、重绘不额外采集</a:t>
            </a:r>
          </a:p>
        </p:txBody>
      </p:sp>
      <p:sp>
        <p:nvSpPr>
          <p:cNvPr id="18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FC2EDDE4-D5CE-4BAB-961E-52CFA2F8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本项目的 760/900px、44px、16px 基线，按自己的项目选择</a:t>
            </a:r>
          </a:p>
        </p:txBody>
      </p:sp>
    </p:spTree>
    <p:extLst>
      <p:ext uri="{BB962C8B-B14F-4D97-AF65-F5344CB8AC3E}">
        <p14:creationId xmlns:p14="http://schemas.microsoft.com/office/powerpoint/2010/main" val="41068975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1F86F7-68F0-41CB-AAD6-7DF1CE16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前端方案的复用与门禁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076F021-60A8-4A20-A954-00932E58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3" name="column-heading-72">
            <a:extLst xmlns:a="http://schemas.openxmlformats.org/drawingml/2006/main">
              <a:ext uri="{FF2B5EF4-FFF2-40B4-BE49-F238E27FC236}">
                <a16:creationId xmlns:a16="http://schemas.microsoft.com/office/drawing/2014/main" id="{7C2EEFAB-3753-4E8D-A34A-E8F2B13A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93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项目生成结果</a:t>
            </a:r>
          </a:p>
        </p:txBody>
      </p:sp>
      <p:sp>
        <p:nvSpPr>
          <p:cNvPr id="4" name="column-line-72-0">
            <a:extLst xmlns:a="http://schemas.openxmlformats.org/drawingml/2006/main">
              <a:ext uri="{FF2B5EF4-FFF2-40B4-BE49-F238E27FC236}">
                <a16:creationId xmlns:a16="http://schemas.microsoft.com/office/drawing/2014/main" id="{9A1BB7F2-6696-42C2-A114-4D306E8E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公共规范与共享入口</a:t>
            </a:r>
          </a:p>
        </p:txBody>
      </p:sp>
      <p:sp>
        <p:nvSpPr>
          <p:cNvPr id="5" name="column-line-72-1">
            <a:extLst xmlns:a="http://schemas.openxmlformats.org/drawingml/2006/main">
              <a:ext uri="{FF2B5EF4-FFF2-40B4-BE49-F238E27FC236}">
                <a16:creationId xmlns:a16="http://schemas.microsoft.com/office/drawing/2014/main" id="{BC508C59-831E-48FB-AF41-198A5294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代表性页面及状态示例</a:t>
            </a:r>
          </a:p>
        </p:txBody>
      </p:sp>
      <p:sp>
        <p:nvSpPr>
          <p:cNvPr id="6" name="column-line-72-2">
            <a:extLst xmlns:a="http://schemas.openxmlformats.org/drawingml/2006/main">
              <a:ext uri="{FF2B5EF4-FFF2-40B4-BE49-F238E27FC236}">
                <a16:creationId xmlns:a16="http://schemas.microsoft.com/office/drawing/2014/main" id="{60679A9B-F4BF-46FF-9792-B845B260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桌面手机与交互契约</a:t>
            </a:r>
          </a:p>
        </p:txBody>
      </p:sp>
      <p:sp>
        <p:nvSpPr>
          <p:cNvPr id="7" name="column-line-72-3">
            <a:extLst xmlns:a="http://schemas.openxmlformats.org/drawingml/2006/main">
              <a:ext uri="{FF2B5EF4-FFF2-40B4-BE49-F238E27FC236}">
                <a16:creationId xmlns:a16="http://schemas.microsoft.com/office/drawing/2014/main" id="{B1C69C13-5700-4D64-B3B5-DB992E5C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同类影响与验收范围</a:t>
            </a:r>
          </a:p>
        </p:txBody>
      </p:sp>
      <p:sp>
        <p:nvSpPr>
          <p:cNvPr id="8" name="column-heading-690">
            <a:extLst xmlns:a="http://schemas.openxmlformats.org/drawingml/2006/main">
              <a:ext uri="{FF2B5EF4-FFF2-40B4-BE49-F238E27FC236}">
                <a16:creationId xmlns:a16="http://schemas.microsoft.com/office/drawing/2014/main" id="{7BA80E71-242E-4FB9-A113-424FDC50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493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放行证据</a:t>
            </a:r>
          </a:p>
        </p:txBody>
      </p:sp>
      <p:sp>
        <p:nvSpPr>
          <p:cNvPr id="9" name="column-line-690-0">
            <a:extLst xmlns:a="http://schemas.openxmlformats.org/drawingml/2006/main">
              <a:ext uri="{FF2B5EF4-FFF2-40B4-BE49-F238E27FC236}">
                <a16:creationId xmlns:a16="http://schemas.microsoft.com/office/drawing/2014/main" id="{DFE0A888-29CC-41EA-A98A-B9E7E35C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527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字段、权限和原状态保持</a:t>
            </a:r>
          </a:p>
        </p:txBody>
      </p:sp>
      <p:sp>
        <p:nvSpPr>
          <p:cNvPr id="10" name="column-line-690-1">
            <a:extLst xmlns:a="http://schemas.openxmlformats.org/drawingml/2006/main">
              <a:ext uri="{FF2B5EF4-FFF2-40B4-BE49-F238E27FC236}">
                <a16:creationId xmlns:a16="http://schemas.microsoft.com/office/drawing/2014/main" id="{46489B37-C929-4B3D-A710-0B069AEC9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004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多尺寸与断点附近布局</a:t>
            </a:r>
          </a:p>
        </p:txBody>
      </p:sp>
      <p:sp>
        <p:nvSpPr>
          <p:cNvPr id="11" name="column-line-690-2">
            <a:extLst xmlns:a="http://schemas.openxmlformats.org/drawingml/2006/main">
              <a:ext uri="{FF2B5EF4-FFF2-40B4-BE49-F238E27FC236}">
                <a16:creationId xmlns:a16="http://schemas.microsoft.com/office/drawing/2014/main" id="{34B515C5-998E-47B6-8E8F-74420472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481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触屏、键盘、滚动与弹窗</a:t>
            </a:r>
          </a:p>
        </p:txBody>
      </p:sp>
      <p:sp>
        <p:nvSpPr>
          <p:cNvPr id="12" name="column-line-690-3">
            <a:extLst xmlns:a="http://schemas.openxmlformats.org/drawingml/2006/main">
              <a:ext uri="{FF2B5EF4-FFF2-40B4-BE49-F238E27FC236}">
                <a16:creationId xmlns:a16="http://schemas.microsoft.com/office/drawing/2014/main" id="{F9691CA8-97EB-43CF-9190-5CC7E6B6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958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行为、布局、真机分别记录</a:t>
            </a:r>
          </a:p>
        </p:txBody>
      </p:sp>
      <p:sp>
        <p:nvSpPr>
          <p:cNvPr id="13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DB7FABBF-925F-4563-97AC-8FB69513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受限或未实测项保留未验证，既有页面按改动范围逐步对齐</a:t>
            </a:r>
          </a:p>
        </p:txBody>
      </p:sp>
    </p:spTree>
    <p:extLst>
      <p:ext uri="{BB962C8B-B14F-4D97-AF65-F5344CB8AC3E}">
        <p14:creationId xmlns:p14="http://schemas.microsoft.com/office/powerpoint/2010/main" val="174099665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63DE68F-35D4-4F06-9F03-41575852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任务验证与协作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FEF1DBA-E6C7-4461-9AA8-DFA52A9A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3" name="intro">
            <a:extLst xmlns:a="http://schemas.openxmlformats.org/drawingml/2006/main">
              <a:ext uri="{FF2B5EF4-FFF2-40B4-BE49-F238E27FC236}">
                <a16:creationId xmlns:a16="http://schemas.microsoft.com/office/drawing/2014/main" id="{7BEAA9F8-6129-4F31-A2F9-828E2082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方案 5：本次改善与必须保留的条件共同验收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36B886-376A-413B-9C68-94EF3F3DA268}"/>
              </a:ext>
            </a:extLst>
          </p:cNvPr>
          <p:cNvGraphicFramePr/>
          <p:nvPr/>
        </p:nvGraphicFramePr>
        <p:xfrm>
          <a:off xmlns:a="http://schemas.openxmlformats.org/drawingml/2006/main" x="685800" y="1905000"/>
          <a:ext xmlns:a="http://schemas.openxmlformats.org/drawingml/2006/main" cx="10820400" cy="352425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286000"/>
                <a:gridCol w="4495800"/>
                <a:gridCol w="4038600"/>
              </a:tblGrid>
              <a:tr h="7048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改善目标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同时必须保持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公共机制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页面更快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来源、日期、权限和口径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采集读取分离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任务更稳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目标最终覆盖、不伪成功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保存进度与阶段发布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手机更好用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完整字段、桌面与计算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共享重排与局部横滑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减少 token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必要约束与待办可找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路由、归属与交接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</a:tbl>
          </a:graphicData>
        </a:graphic>
      </p:graphicFrame>
      <p:sp>
        <p:nvSpPr>
          <p:cNvPr id="5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3B81FC43-7684-49FC-AF51-02304247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真实冲突说明取舍、降级和恢复，不弱化条件掩盖问题</a:t>
            </a:r>
          </a:p>
        </p:txBody>
      </p:sp>
    </p:spTree>
    <p:extLst>
      <p:ext uri="{BB962C8B-B14F-4D97-AF65-F5344CB8AC3E}">
        <p14:creationId xmlns:p14="http://schemas.microsoft.com/office/powerpoint/2010/main" val="113585599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E8A8B8C-9386-48A3-822D-F3737278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任务契约与完整影响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2DE2B7A-01E4-4043-8CA2-B39A0545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3" name="num-0">
            <a:extLst xmlns:a="http://schemas.openxmlformats.org/drawingml/2006/main">
              <a:ext uri="{FF2B5EF4-FFF2-40B4-BE49-F238E27FC236}">
                <a16:creationId xmlns:a16="http://schemas.microsoft.com/office/drawing/2014/main" id="{1CE3861E-9D97-4916-B630-B325BDF75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label-0">
            <a:extLst xmlns:a="http://schemas.openxmlformats.org/drawingml/2006/main">
              <a:ext uri="{FF2B5EF4-FFF2-40B4-BE49-F238E27FC236}">
                <a16:creationId xmlns:a16="http://schemas.microsoft.com/office/drawing/2014/main" id="{82957585-9938-4B39-898B-9FC9E882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812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目标与基线</a:t>
            </a:r>
          </a:p>
        </p:txBody>
      </p:sp>
      <p:sp>
        <p:nvSpPr>
          <p:cNvPr id="5" name="detail-0">
            <a:extLst xmlns:a="http://schemas.openxmlformats.org/drawingml/2006/main">
              <a:ext uri="{FF2B5EF4-FFF2-40B4-BE49-F238E27FC236}">
                <a16:creationId xmlns:a16="http://schemas.microsoft.com/office/drawing/2014/main" id="{5C33DE60-7F08-4566-AFF0-355EE8AD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981200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范围、允许文件与现有授权</a:t>
            </a:r>
          </a:p>
        </p:txBody>
      </p:sp>
      <p:sp>
        <p:nvSpPr>
          <p:cNvPr id="6" name="num-1">
            <a:extLst xmlns:a="http://schemas.openxmlformats.org/drawingml/2006/main">
              <a:ext uri="{FF2B5EF4-FFF2-40B4-BE49-F238E27FC236}">
                <a16:creationId xmlns:a16="http://schemas.microsoft.com/office/drawing/2014/main" id="{3827A4C2-3442-4FE2-9CAD-CBED1BFB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label-1">
            <a:extLst xmlns:a="http://schemas.openxmlformats.org/drawingml/2006/main">
              <a:ext uri="{FF2B5EF4-FFF2-40B4-BE49-F238E27FC236}">
                <a16:creationId xmlns:a16="http://schemas.microsoft.com/office/drawing/2014/main" id="{F2781731-2AFB-4BA9-86C5-90CF3128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051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事实与缺口</a:t>
            </a:r>
          </a:p>
        </p:txBody>
      </p:sp>
      <p:sp>
        <p:nvSpPr>
          <p:cNvPr id="8" name="detail-1">
            <a:extLst xmlns:a="http://schemas.openxmlformats.org/drawingml/2006/main">
              <a:ext uri="{FF2B5EF4-FFF2-40B4-BE49-F238E27FC236}">
                <a16:creationId xmlns:a16="http://schemas.microsoft.com/office/drawing/2014/main" id="{76556F25-B476-4696-AD1F-7F47B8FA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05100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已有能力、复用、假设和未知</a:t>
            </a:r>
          </a:p>
        </p:txBody>
      </p:sp>
      <p:sp>
        <p:nvSpPr>
          <p:cNvPr id="9" name="num-2">
            <a:extLst xmlns:a="http://schemas.openxmlformats.org/drawingml/2006/main">
              <a:ext uri="{FF2B5EF4-FFF2-40B4-BE49-F238E27FC236}">
                <a16:creationId xmlns:a16="http://schemas.microsoft.com/office/drawing/2014/main" id="{C5EC4830-4CFC-4580-B26A-9E978D2D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label-2">
            <a:extLst xmlns:a="http://schemas.openxmlformats.org/drawingml/2006/main">
              <a:ext uri="{FF2B5EF4-FFF2-40B4-BE49-F238E27FC236}">
                <a16:creationId xmlns:a16="http://schemas.microsoft.com/office/drawing/2014/main" id="{0C086785-B704-4B5F-B80C-DDB336D5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290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完整影响</a:t>
            </a:r>
          </a:p>
        </p:txBody>
      </p:sp>
      <p:sp>
        <p:nvSpPr>
          <p:cNvPr id="11" name="detail-2">
            <a:extLst xmlns:a="http://schemas.openxmlformats.org/drawingml/2006/main">
              <a:ext uri="{FF2B5EF4-FFF2-40B4-BE49-F238E27FC236}">
                <a16:creationId xmlns:a16="http://schemas.microsoft.com/office/drawing/2014/main" id="{98A65E86-22F6-4124-AC6B-F05A1C82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29000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来源、数据库、服务、接口、页面</a:t>
            </a:r>
          </a:p>
        </p:txBody>
      </p:sp>
      <p:sp>
        <p:nvSpPr>
          <p:cNvPr id="12" name="num-3">
            <a:extLst xmlns:a="http://schemas.openxmlformats.org/drawingml/2006/main">
              <a:ext uri="{FF2B5EF4-FFF2-40B4-BE49-F238E27FC236}">
                <a16:creationId xmlns:a16="http://schemas.microsoft.com/office/drawing/2014/main" id="{A50775E9-897D-469F-B839-E42F043D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3" name="label-3">
            <a:extLst xmlns:a="http://schemas.openxmlformats.org/drawingml/2006/main">
              <a:ext uri="{FF2B5EF4-FFF2-40B4-BE49-F238E27FC236}">
                <a16:creationId xmlns:a16="http://schemas.microsoft.com/office/drawing/2014/main" id="{BCC40130-95D6-455D-A6FD-8629E2F0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529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共同条件</a:t>
            </a:r>
          </a:p>
        </p:txBody>
      </p:sp>
      <p:sp>
        <p:nvSpPr>
          <p:cNvPr id="14" name="detail-3">
            <a:extLst xmlns:a="http://schemas.openxmlformats.org/drawingml/2006/main">
              <a:ext uri="{FF2B5EF4-FFF2-40B4-BE49-F238E27FC236}">
                <a16:creationId xmlns:a16="http://schemas.microsoft.com/office/drawing/2014/main" id="{86F63B07-10AC-49A3-94D6-31398FA0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152900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权限、任务、环境、旧能力与恢复</a:t>
            </a:r>
          </a:p>
        </p:txBody>
      </p:sp>
      <p:sp>
        <p:nvSpPr>
          <p:cNvPr id="15" name="num-4">
            <a:extLst xmlns:a="http://schemas.openxmlformats.org/drawingml/2006/main">
              <a:ext uri="{FF2B5EF4-FFF2-40B4-BE49-F238E27FC236}">
                <a16:creationId xmlns:a16="http://schemas.microsoft.com/office/drawing/2014/main" id="{F6A9D355-B19E-49E5-A929-763FCE7D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6" name="label-4">
            <a:extLst xmlns:a="http://schemas.openxmlformats.org/drawingml/2006/main">
              <a:ext uri="{FF2B5EF4-FFF2-40B4-BE49-F238E27FC236}">
                <a16:creationId xmlns:a16="http://schemas.microsoft.com/office/drawing/2014/main" id="{6BBD1989-B50F-42AC-B275-859F3B5D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768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完成证据</a:t>
            </a:r>
          </a:p>
        </p:txBody>
      </p:sp>
      <p:sp>
        <p:nvSpPr>
          <p:cNvPr id="17" name="detail-4">
            <a:extLst xmlns:a="http://schemas.openxmlformats.org/drawingml/2006/main">
              <a:ext uri="{FF2B5EF4-FFF2-40B4-BE49-F238E27FC236}">
                <a16:creationId xmlns:a16="http://schemas.microsoft.com/office/drawing/2014/main" id="{040A8E10-F5B9-4088-9EE3-DEC453AC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876800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版本、同类数量、知识与真实剩余</a:t>
            </a:r>
          </a:p>
        </p:txBody>
      </p:sp>
      <p:sp>
        <p:nvSpPr>
          <p:cNvPr id="18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8108E1F6-F586-4D6D-8F50-4907DB34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任务开始有共同契约，集成和交付沿用同一完成条件</a:t>
            </a:r>
          </a:p>
        </p:txBody>
      </p:sp>
    </p:spTree>
    <p:extLst>
      <p:ext uri="{BB962C8B-B14F-4D97-AF65-F5344CB8AC3E}">
        <p14:creationId xmlns:p14="http://schemas.microsoft.com/office/powerpoint/2010/main" val="62513741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FF4BA14-3C51-4636-B7FE-4D1D975A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根因、同类与防复发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4D184E9-B596-4F76-90D5-95349223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D6710F-1DB8-4431-9FAA-7C51344B68FA}"/>
              </a:ext>
            </a:extLst>
          </p:cNvPr>
          <p:cNvGraphicFramePr/>
          <p:nvPr/>
        </p:nvGraphicFramePr>
        <p:xfrm>
          <a:off xmlns:a="http://schemas.openxmlformats.org/drawingml/2006/main" x="685800" y="1828800"/>
          <a:ext xmlns:a="http://schemas.openxmlformats.org/drawingml/2006/main" cx="10820400" cy="379095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857500"/>
                <a:gridCol w="7962900"/>
              </a:tblGrid>
              <a:tr h="6318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必须形成的证据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复现定位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身份、日期、版本及最早偏差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公共根因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直接原因、根因及保护失效原因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实施恢复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代码、存量、缓存和运行各自状态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同类核查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总数、通过、失败、未核验及去向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防复发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公共实现、旧反例与通用不变量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</a:tbl>
          </a:graphicData>
        </a:graphic>
      </p:graphicFrame>
      <p:sp>
        <p:nvSpPr>
          <p:cNvPr id="4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34B9D084-2B99-42EF-800C-C77C8684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单个样本正常不能代替公共根因与同类验收</a:t>
            </a:r>
          </a:p>
        </p:txBody>
      </p:sp>
    </p:spTree>
    <p:extLst>
      <p:ext uri="{BB962C8B-B14F-4D97-AF65-F5344CB8AC3E}">
        <p14:creationId xmlns:p14="http://schemas.microsoft.com/office/powerpoint/2010/main" val="208637522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D62906B-9A3A-498B-B2BB-3D926C3B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自动门禁的实现与接入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F92E543-936C-44E4-BFA1-BB765045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3" name="num-0">
            <a:extLst xmlns:a="http://schemas.openxmlformats.org/drawingml/2006/main">
              <a:ext uri="{FF2B5EF4-FFF2-40B4-BE49-F238E27FC236}">
                <a16:creationId xmlns:a16="http://schemas.microsoft.com/office/drawing/2014/main" id="{E46636F4-C145-4F13-8C9A-C2397749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label-0">
            <a:extLst xmlns:a="http://schemas.openxmlformats.org/drawingml/2006/main">
              <a:ext uri="{FF2B5EF4-FFF2-40B4-BE49-F238E27FC236}">
                <a16:creationId xmlns:a16="http://schemas.microsoft.com/office/drawing/2014/main" id="{710FF316-DD53-4080-8B99-43747440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812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定义规则</a:t>
            </a:r>
          </a:p>
        </p:txBody>
      </p:sp>
      <p:sp>
        <p:nvSpPr>
          <p:cNvPr id="5" name="detail-0">
            <a:extLst xmlns:a="http://schemas.openxmlformats.org/drawingml/2006/main">
              <a:ext uri="{FF2B5EF4-FFF2-40B4-BE49-F238E27FC236}">
                <a16:creationId xmlns:a16="http://schemas.microsoft.com/office/drawing/2014/main" id="{D0369DD9-D418-46B3-800F-80B5000E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981200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触发、不变量、证据与失败处理</a:t>
            </a:r>
          </a:p>
        </p:txBody>
      </p:sp>
      <p:sp>
        <p:nvSpPr>
          <p:cNvPr id="6" name="num-1">
            <a:extLst xmlns:a="http://schemas.openxmlformats.org/drawingml/2006/main">
              <a:ext uri="{FF2B5EF4-FFF2-40B4-BE49-F238E27FC236}">
                <a16:creationId xmlns:a16="http://schemas.microsoft.com/office/drawing/2014/main" id="{9A862168-113C-4C17-AF0F-3ABCB07B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label-1">
            <a:extLst xmlns:a="http://schemas.openxmlformats.org/drawingml/2006/main">
              <a:ext uri="{FF2B5EF4-FFF2-40B4-BE49-F238E27FC236}">
                <a16:creationId xmlns:a16="http://schemas.microsoft.com/office/drawing/2014/main" id="{533C3CCF-853B-423A-BA22-09FD803D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051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绑定实现</a:t>
            </a:r>
          </a:p>
        </p:txBody>
      </p:sp>
      <p:sp>
        <p:nvSpPr>
          <p:cNvPr id="8" name="detail-1">
            <a:extLst xmlns:a="http://schemas.openxmlformats.org/drawingml/2006/main">
              <a:ext uri="{FF2B5EF4-FFF2-40B4-BE49-F238E27FC236}">
                <a16:creationId xmlns:a16="http://schemas.microsoft.com/office/drawing/2014/main" id="{B0F8DE0D-FAFC-4732-9699-76EB91CB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05100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文件、符号、正常与旧反例</a:t>
            </a:r>
          </a:p>
        </p:txBody>
      </p:sp>
      <p:sp>
        <p:nvSpPr>
          <p:cNvPr id="9" name="num-2">
            <a:extLst xmlns:a="http://schemas.openxmlformats.org/drawingml/2006/main">
              <a:ext uri="{FF2B5EF4-FFF2-40B4-BE49-F238E27FC236}">
                <a16:creationId xmlns:a16="http://schemas.microsoft.com/office/drawing/2014/main" id="{B4E5F866-9F4E-45E2-9099-60BDBA9F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label-2">
            <a:extLst xmlns:a="http://schemas.openxmlformats.org/drawingml/2006/main">
              <a:ext uri="{FF2B5EF4-FFF2-40B4-BE49-F238E27FC236}">
                <a16:creationId xmlns:a16="http://schemas.microsoft.com/office/drawing/2014/main" id="{1F31DEFB-89D2-4DA4-839E-66E0E4B7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290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接入入口</a:t>
            </a:r>
          </a:p>
        </p:txBody>
      </p:sp>
      <p:sp>
        <p:nvSpPr>
          <p:cNvPr id="11" name="detail-2">
            <a:extLst xmlns:a="http://schemas.openxmlformats.org/drawingml/2006/main">
              <a:ext uri="{FF2B5EF4-FFF2-40B4-BE49-F238E27FC236}">
                <a16:creationId xmlns:a16="http://schemas.microsoft.com/office/drawing/2014/main" id="{BE60A3BB-3B11-4467-BE29-35754380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29000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本地检查、统一测试或 CI</a:t>
            </a:r>
          </a:p>
        </p:txBody>
      </p:sp>
      <p:sp>
        <p:nvSpPr>
          <p:cNvPr id="12" name="num-3">
            <a:extLst xmlns:a="http://schemas.openxmlformats.org/drawingml/2006/main">
              <a:ext uri="{FF2B5EF4-FFF2-40B4-BE49-F238E27FC236}">
                <a16:creationId xmlns:a16="http://schemas.microsoft.com/office/drawing/2014/main" id="{C2E3864D-13A0-4311-B544-A00E08FC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3" name="label-3">
            <a:extLst xmlns:a="http://schemas.openxmlformats.org/drawingml/2006/main">
              <a:ext uri="{FF2B5EF4-FFF2-40B4-BE49-F238E27FC236}">
                <a16:creationId xmlns:a16="http://schemas.microsoft.com/office/drawing/2014/main" id="{6EA6BB10-6170-42D0-BB0C-8B7D4A6E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529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验证阻断</a:t>
            </a:r>
          </a:p>
        </p:txBody>
      </p:sp>
      <p:sp>
        <p:nvSpPr>
          <p:cNvPr id="14" name="detail-3">
            <a:extLst xmlns:a="http://schemas.openxmlformats.org/drawingml/2006/main">
              <a:ext uri="{FF2B5EF4-FFF2-40B4-BE49-F238E27FC236}">
                <a16:creationId xmlns:a16="http://schemas.microsoft.com/office/drawing/2014/main" id="{47D77D2E-CFFD-499D-897F-A209189E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152900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故意违反条件时必须失败</a:t>
            </a:r>
          </a:p>
        </p:txBody>
      </p:sp>
      <p:sp>
        <p:nvSpPr>
          <p:cNvPr id="15" name="num-4">
            <a:extLst xmlns:a="http://schemas.openxmlformats.org/drawingml/2006/main">
              <a:ext uri="{FF2B5EF4-FFF2-40B4-BE49-F238E27FC236}">
                <a16:creationId xmlns:a16="http://schemas.microsoft.com/office/drawing/2014/main" id="{E7FDAA89-D0C4-4D22-8A24-71AE7D14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6" name="label-4">
            <a:extLst xmlns:a="http://schemas.openxmlformats.org/drawingml/2006/main">
              <a:ext uri="{FF2B5EF4-FFF2-40B4-BE49-F238E27FC236}">
                <a16:creationId xmlns:a16="http://schemas.microsoft.com/office/drawing/2014/main" id="{0A42CC9C-A77C-4E11-B9A1-CC644756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768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登记状态</a:t>
            </a:r>
          </a:p>
        </p:txBody>
      </p:sp>
      <p:sp>
        <p:nvSpPr>
          <p:cNvPr id="17" name="detail-4">
            <a:extLst xmlns:a="http://schemas.openxmlformats.org/drawingml/2006/main">
              <a:ext uri="{FF2B5EF4-FFF2-40B4-BE49-F238E27FC236}">
                <a16:creationId xmlns:a16="http://schemas.microsoft.com/office/drawing/2014/main" id="{33A2E836-DAF1-42CC-A7C1-18498CDA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876800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文字、待接入、待验证或已验证</a:t>
            </a:r>
          </a:p>
        </p:txBody>
      </p:sp>
      <p:sp>
        <p:nvSpPr>
          <p:cNvPr id="18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1CDA54AA-8226-49ED-AB12-95D0DB83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门禁保护业务条件，不能靠删断言、吞异常或跳过来放行</a:t>
            </a:r>
          </a:p>
        </p:txBody>
      </p:sp>
    </p:spTree>
    <p:extLst>
      <p:ext uri="{BB962C8B-B14F-4D97-AF65-F5344CB8AC3E}">
        <p14:creationId xmlns:p14="http://schemas.microsoft.com/office/powerpoint/2010/main" val="116173266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C58ADA-2CE6-490E-9DB3-87CA52B9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已有检查入口与迁移边界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D6D78FD-070A-449A-AD38-1BCAA1D4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A09243-E273-4E44-814F-3C1DBD1BCA9E}"/>
              </a:ext>
            </a:extLst>
          </p:cNvPr>
          <p:cNvGraphicFramePr/>
          <p:nvPr/>
        </p:nvGraphicFramePr>
        <p:xfrm>
          <a:off xmlns:a="http://schemas.openxmlformats.org/drawingml/2006/main" x="685800" y="1828800"/>
          <a:ext xmlns:a="http://schemas.openxmlformats.org/drawingml/2006/main" cx="10820400" cy="379095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952750"/>
                <a:gridCol w="7867650"/>
              </a:tblGrid>
              <a:tr h="6318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检查能力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本项目入口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知识与版本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check:knowledge，路由与矩阵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日期边界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check:date 与日期回归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统一测试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test:all，隔离库与关键跳过约束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前端与任务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行为、资源、任务保护及规则追踪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CI 基础安全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语法、JSON、依赖审计、秘密扫描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</a:tbl>
          </a:graphicData>
        </a:graphic>
      </p:graphicFrame>
      <p:sp>
        <p:nvSpPr>
          <p:cNvPr id="4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7E632E20-C336-496A-9A9E-83C0FB2D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入口存在、接入执行、本轮通过与真实运行分别说明</a:t>
            </a:r>
          </a:p>
        </p:txBody>
      </p:sp>
    </p:spTree>
    <p:extLst>
      <p:ext uri="{BB962C8B-B14F-4D97-AF65-F5344CB8AC3E}">
        <p14:creationId xmlns:p14="http://schemas.microsoft.com/office/powerpoint/2010/main" val="116048562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1EF6327-2A4E-4456-8789-08109AFF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协作责任与方案生成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002EA7C-A72C-4897-8F11-93EB087E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3" name="column-heading-72">
            <a:extLst xmlns:a="http://schemas.openxmlformats.org/drawingml/2006/main">
              <a:ext uri="{FF2B5EF4-FFF2-40B4-BE49-F238E27FC236}">
                <a16:creationId xmlns:a16="http://schemas.microsoft.com/office/drawing/2014/main" id="{18071AA6-1FB3-4C87-83F0-40E7F765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93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协作配置</a:t>
            </a:r>
          </a:p>
        </p:txBody>
      </p:sp>
      <p:sp>
        <p:nvSpPr>
          <p:cNvPr id="4" name="column-line-72-0">
            <a:extLst xmlns:a="http://schemas.openxmlformats.org/drawingml/2006/main">
              <a:ext uri="{FF2B5EF4-FFF2-40B4-BE49-F238E27FC236}">
                <a16:creationId xmlns:a16="http://schemas.microsoft.com/office/drawing/2014/main" id="{C3D92A05-96D9-41AA-849F-A93D0C4B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共同基线、契约与条件</a:t>
            </a:r>
          </a:p>
        </p:txBody>
      </p:sp>
      <p:sp>
        <p:nvSpPr>
          <p:cNvPr id="5" name="column-line-72-1">
            <a:extLst xmlns:a="http://schemas.openxmlformats.org/drawingml/2006/main">
              <a:ext uri="{FF2B5EF4-FFF2-40B4-BE49-F238E27FC236}">
                <a16:creationId xmlns:a16="http://schemas.microsoft.com/office/drawing/2014/main" id="{7983DBEA-A1B3-48B2-8701-4A19F2C4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各自可写文件与依赖</a:t>
            </a:r>
          </a:p>
        </p:txBody>
      </p:sp>
      <p:sp>
        <p:nvSpPr>
          <p:cNvPr id="6" name="column-line-72-2">
            <a:extLst xmlns:a="http://schemas.openxmlformats.org/drawingml/2006/main">
              <a:ext uri="{FF2B5EF4-FFF2-40B4-BE49-F238E27FC236}">
                <a16:creationId xmlns:a16="http://schemas.microsoft.com/office/drawing/2014/main" id="{37009A2B-26B2-4F3D-A001-BCA7DF0B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共享文件、迁移与数据负责人</a:t>
            </a:r>
          </a:p>
        </p:txBody>
      </p:sp>
      <p:sp>
        <p:nvSpPr>
          <p:cNvPr id="7" name="column-line-72-3">
            <a:extLst xmlns:a="http://schemas.openxmlformats.org/drawingml/2006/main">
              <a:ext uri="{FF2B5EF4-FFF2-40B4-BE49-F238E27FC236}">
                <a16:creationId xmlns:a16="http://schemas.microsoft.com/office/drawing/2014/main" id="{886F0EE8-3EAA-474C-BD5F-EF3AAAD6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一个集成者验收整体</a:t>
            </a:r>
          </a:p>
        </p:txBody>
      </p:sp>
      <p:sp>
        <p:nvSpPr>
          <p:cNvPr id="8" name="column-heading-690">
            <a:extLst xmlns:a="http://schemas.openxmlformats.org/drawingml/2006/main">
              <a:ext uri="{FF2B5EF4-FFF2-40B4-BE49-F238E27FC236}">
                <a16:creationId xmlns:a16="http://schemas.microsoft.com/office/drawing/2014/main" id="{0A3EFADC-7E83-441C-B385-E5E89639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493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生成与放行</a:t>
            </a:r>
          </a:p>
        </p:txBody>
      </p:sp>
      <p:sp>
        <p:nvSpPr>
          <p:cNvPr id="9" name="column-line-690-0">
            <a:extLst xmlns:a="http://schemas.openxmlformats.org/drawingml/2006/main">
              <a:ext uri="{FF2B5EF4-FFF2-40B4-BE49-F238E27FC236}">
                <a16:creationId xmlns:a16="http://schemas.microsoft.com/office/drawing/2014/main" id="{673AF730-C367-4A42-BE15-233D1E32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527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完整影响和有效反例</a:t>
            </a:r>
          </a:p>
        </p:txBody>
      </p:sp>
      <p:sp>
        <p:nvSpPr>
          <p:cNvPr id="10" name="column-line-690-1">
            <a:extLst xmlns:a="http://schemas.openxmlformats.org/drawingml/2006/main">
              <a:ext uri="{FF2B5EF4-FFF2-40B4-BE49-F238E27FC236}">
                <a16:creationId xmlns:a16="http://schemas.microsoft.com/office/drawing/2014/main" id="{D3DC0549-1444-440E-AC92-003EF36D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004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公共实现与真实门禁入口</a:t>
            </a:r>
          </a:p>
        </p:txBody>
      </p:sp>
      <p:sp>
        <p:nvSpPr>
          <p:cNvPr id="11" name="column-line-690-2">
            <a:extLst xmlns:a="http://schemas.openxmlformats.org/drawingml/2006/main">
              <a:ext uri="{FF2B5EF4-FFF2-40B4-BE49-F238E27FC236}">
                <a16:creationId xmlns:a16="http://schemas.microsoft.com/office/drawing/2014/main" id="{71E84701-61FB-478C-B4B3-A9FDA6DA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481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合并后的同类与统一验收</a:t>
            </a:r>
          </a:p>
        </p:txBody>
      </p:sp>
      <p:sp>
        <p:nvSpPr>
          <p:cNvPr id="12" name="column-line-690-3">
            <a:extLst xmlns:a="http://schemas.openxmlformats.org/drawingml/2006/main">
              <a:ext uri="{FF2B5EF4-FFF2-40B4-BE49-F238E27FC236}">
                <a16:creationId xmlns:a16="http://schemas.microsoft.com/office/drawing/2014/main" id="{9596FA81-FEEF-48FE-A0B5-72687F2A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958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精简交接，保留未知与剩余</a:t>
            </a:r>
          </a:p>
        </p:txBody>
      </p:sp>
      <p:sp>
        <p:nvSpPr>
          <p:cNvPr id="13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1E816F85-4216-4F05-813C-7AFE626A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小任务顺序完成即可，分工完成不代表整体完成</a:t>
            </a:r>
          </a:p>
        </p:txBody>
      </p:sp>
    </p:spTree>
    <p:extLst>
      <p:ext uri="{BB962C8B-B14F-4D97-AF65-F5344CB8AC3E}">
        <p14:creationId xmlns:p14="http://schemas.microsoft.com/office/powerpoint/2010/main" val="120527271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101F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BAE4C99-FEF6-4449-9D0E-5EFCE7FE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发布恢复与反馈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1CC3316-6352-474F-93F7-0A5FBFFC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3" name="intro">
            <a:extLst xmlns:a="http://schemas.openxmlformats.org/drawingml/2006/main">
              <a:ext uri="{FF2B5EF4-FFF2-40B4-BE49-F238E27FC236}">
                <a16:creationId xmlns:a16="http://schemas.microsoft.com/office/drawing/2014/main" id="{246F6FB7-22DA-442A-A75C-92E1E2A6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rPr>
              <a:t>方案 6：验证结果进入实际运行，再回到项目事实</a:t>
            </a:r>
          </a:p>
        </p:txBody>
      </p:sp>
      <p:sp>
        <p:nvSpPr>
          <p:cNvPr id="4" name="num-0">
            <a:extLst xmlns:a="http://schemas.openxmlformats.org/drawingml/2006/main">
              <a:ext uri="{FF2B5EF4-FFF2-40B4-BE49-F238E27FC236}">
                <a16:creationId xmlns:a16="http://schemas.microsoft.com/office/drawing/2014/main" id="{62FC01B4-1BCA-40F0-A17C-26471A02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label-0">
            <a:extLst xmlns:a="http://schemas.openxmlformats.org/drawingml/2006/main">
              <a:ext uri="{FF2B5EF4-FFF2-40B4-BE49-F238E27FC236}">
                <a16:creationId xmlns:a16="http://schemas.microsoft.com/office/drawing/2014/main" id="{0DAE5B19-0E7D-4B25-9B83-047380B9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812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本地闭环</a:t>
            </a:r>
          </a:p>
        </p:txBody>
      </p:sp>
      <p:sp>
        <p:nvSpPr>
          <p:cNvPr id="6" name="detail-0">
            <a:extLst xmlns:a="http://schemas.openxmlformats.org/drawingml/2006/main">
              <a:ext uri="{FF2B5EF4-FFF2-40B4-BE49-F238E27FC236}">
                <a16:creationId xmlns:a16="http://schemas.microsoft.com/office/drawing/2014/main" id="{52978E1F-CEAC-49D4-BFE7-409C0776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981200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rPr>
              <a:t>刷新进程，核对健康、接口与资源</a:t>
            </a:r>
          </a:p>
        </p:txBody>
      </p:sp>
      <p:sp>
        <p:nvSpPr>
          <p:cNvPr id="7" name="num-1">
            <a:extLst xmlns:a="http://schemas.openxmlformats.org/drawingml/2006/main">
              <a:ext uri="{FF2B5EF4-FFF2-40B4-BE49-F238E27FC236}">
                <a16:creationId xmlns:a16="http://schemas.microsoft.com/office/drawing/2014/main" id="{21E20179-6432-49A5-A24F-1C50A165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label-1">
            <a:extLst xmlns:a="http://schemas.openxmlformats.org/drawingml/2006/main">
              <a:ext uri="{FF2B5EF4-FFF2-40B4-BE49-F238E27FC236}">
                <a16:creationId xmlns:a16="http://schemas.microsoft.com/office/drawing/2014/main" id="{CF2C6C5B-1F9D-4077-B545-9CAD688F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051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标准发布</a:t>
            </a:r>
          </a:p>
        </p:txBody>
      </p:sp>
      <p:sp>
        <p:nvSpPr>
          <p:cNvPr id="9" name="detail-1">
            <a:extLst xmlns:a="http://schemas.openxmlformats.org/drawingml/2006/main">
              <a:ext uri="{FF2B5EF4-FFF2-40B4-BE49-F238E27FC236}">
                <a16:creationId xmlns:a16="http://schemas.microsoft.com/office/drawing/2014/main" id="{56C1498B-FE73-4078-B38B-47C93663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05100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rPr>
              <a:t>版本、检查、Git、部署与后验收</a:t>
            </a:r>
          </a:p>
        </p:txBody>
      </p:sp>
      <p:sp>
        <p:nvSpPr>
          <p:cNvPr id="10" name="num-2">
            <a:extLst xmlns:a="http://schemas.openxmlformats.org/drawingml/2006/main">
              <a:ext uri="{FF2B5EF4-FFF2-40B4-BE49-F238E27FC236}">
                <a16:creationId xmlns:a16="http://schemas.microsoft.com/office/drawing/2014/main" id="{D96648FF-3B00-4BF5-99BC-9C9F513D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label-2">
            <a:extLst xmlns:a="http://schemas.openxmlformats.org/drawingml/2006/main">
              <a:ext uri="{FF2B5EF4-FFF2-40B4-BE49-F238E27FC236}">
                <a16:creationId xmlns:a16="http://schemas.microsoft.com/office/drawing/2014/main" id="{5C87AE70-DD83-495F-BF1F-3EF3BAC2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290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可恢复性</a:t>
            </a:r>
          </a:p>
        </p:txBody>
      </p:sp>
      <p:sp>
        <p:nvSpPr>
          <p:cNvPr id="12" name="detail-2">
            <a:extLst xmlns:a="http://schemas.openxmlformats.org/drawingml/2006/main">
              <a:ext uri="{FF2B5EF4-FFF2-40B4-BE49-F238E27FC236}">
                <a16:creationId xmlns:a16="http://schemas.microsoft.com/office/drawing/2014/main" id="{0F053C7B-FD06-4E37-97B5-76D55BEA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29000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rPr>
              <a:t>隔离恢复，数据与配置共同核对</a:t>
            </a:r>
          </a:p>
        </p:txBody>
      </p:sp>
      <p:sp>
        <p:nvSpPr>
          <p:cNvPr id="13" name="num-3">
            <a:extLst xmlns:a="http://schemas.openxmlformats.org/drawingml/2006/main">
              <a:ext uri="{FF2B5EF4-FFF2-40B4-BE49-F238E27FC236}">
                <a16:creationId xmlns:a16="http://schemas.microsoft.com/office/drawing/2014/main" id="{149F8383-FEFA-4377-8EC4-60AC3BFF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label-3">
            <a:extLst xmlns:a="http://schemas.openxmlformats.org/drawingml/2006/main">
              <a:ext uri="{FF2B5EF4-FFF2-40B4-BE49-F238E27FC236}">
                <a16:creationId xmlns:a16="http://schemas.microsoft.com/office/drawing/2014/main" id="{76A3AC3F-025C-4D6B-980F-0FE49BCA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529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实际反馈</a:t>
            </a:r>
          </a:p>
        </p:txBody>
      </p:sp>
      <p:sp>
        <p:nvSpPr>
          <p:cNvPr id="15" name="detail-3">
            <a:extLst xmlns:a="http://schemas.openxmlformats.org/drawingml/2006/main">
              <a:ext uri="{FF2B5EF4-FFF2-40B4-BE49-F238E27FC236}">
                <a16:creationId xmlns:a16="http://schemas.microsoft.com/office/drawing/2014/main" id="{037DA2AE-2134-4A92-8F4D-D0BA6EF7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152900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rPr>
              <a:t>核心流程、耗时、费用与返工</a:t>
            </a:r>
          </a:p>
        </p:txBody>
      </p:sp>
      <p:sp>
        <p:nvSpPr>
          <p:cNvPr id="16" name="num-4">
            <a:extLst xmlns:a="http://schemas.openxmlformats.org/drawingml/2006/main">
              <a:ext uri="{FF2B5EF4-FFF2-40B4-BE49-F238E27FC236}">
                <a16:creationId xmlns:a16="http://schemas.microsoft.com/office/drawing/2014/main" id="{437E903A-C92A-42B5-9A8A-B03C8F77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7" name="label-4">
            <a:extLst xmlns:a="http://schemas.openxmlformats.org/drawingml/2006/main">
              <a:ext uri="{FF2B5EF4-FFF2-40B4-BE49-F238E27FC236}">
                <a16:creationId xmlns:a16="http://schemas.microsoft.com/office/drawing/2014/main" id="{E00A5BD4-E70E-4440-8648-08137BA9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768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知识接续</a:t>
            </a:r>
          </a:p>
        </p:txBody>
      </p:sp>
      <p:sp>
        <p:nvSpPr>
          <p:cNvPr id="18" name="detail-4">
            <a:extLst xmlns:a="http://schemas.openxmlformats.org/drawingml/2006/main">
              <a:ext uri="{FF2B5EF4-FFF2-40B4-BE49-F238E27FC236}">
                <a16:creationId xmlns:a16="http://schemas.microsoft.com/office/drawing/2014/main" id="{62CE4A6F-D94B-440B-9048-2EDBE253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876800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rPr>
              <a:t>当前事实更新，遗留项保留去向</a:t>
            </a:r>
          </a:p>
        </p:txBody>
      </p:sp>
      <p:sp>
        <p:nvSpPr>
          <p:cNvPr id="19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A264E6D1-96F0-472D-8DB8-FF36ACB6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rPr>
              <a:t>测试通过、线上更新、质量恢复与备份可恢复分别证明</a:t>
            </a:r>
          </a:p>
        </p:txBody>
      </p:sp>
    </p:spTree>
    <p:extLst>
      <p:ext uri="{BB962C8B-B14F-4D97-AF65-F5344CB8AC3E}">
        <p14:creationId xmlns:p14="http://schemas.microsoft.com/office/powerpoint/2010/main" val="31990121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96F2314-A67A-4B10-B9C6-7CE9354B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发布顺序与放行证据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7573C6F-BC07-4191-93A3-2E7AC20E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7C87E0-7FE3-4202-91A7-74F384ABAAE3}"/>
              </a:ext>
            </a:extLst>
          </p:cNvPr>
          <p:cNvGraphicFramePr/>
          <p:nvPr/>
        </p:nvGraphicFramePr>
        <p:xfrm>
          <a:off xmlns:a="http://schemas.openxmlformats.org/drawingml/2006/main" x="685800" y="1828800"/>
          <a:ext xmlns:a="http://schemas.openxmlformats.org/drawingml/2006/main" cx="10820400" cy="379095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857500"/>
                <a:gridCol w="7962900"/>
              </a:tblGrid>
              <a:tr h="6318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放行证据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版本与验证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记录同步，适用检查通过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本地运行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进程、健康、接口、资源一致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Git 范围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精确暂存，目标提交已推送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标准部署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配置、迁移和服务按流程处理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后验收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提交、字段、权限、任务与质量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</a:tbl>
          </a:graphicData>
        </a:graphic>
      </p:graphicFrame>
      <p:sp>
        <p:nvSpPr>
          <p:cNvPr id="4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B7D9A50D-0BDE-441F-86B6-3A338768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任一必需验收失败，发布仍未完成</a:t>
            </a:r>
          </a:p>
        </p:txBody>
      </p:sp>
    </p:spTree>
    <p:extLst>
      <p:ext uri="{BB962C8B-B14F-4D97-AF65-F5344CB8AC3E}">
        <p14:creationId xmlns:p14="http://schemas.microsoft.com/office/powerpoint/2010/main" val="30092967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DBB3C66-B6D1-41F0-A020-833E31A2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恢复能力与实际反馈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D1CB85F-963A-4CCE-980F-561C492F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3" name="column-heading-72">
            <a:extLst xmlns:a="http://schemas.openxmlformats.org/drawingml/2006/main">
              <a:ext uri="{FF2B5EF4-FFF2-40B4-BE49-F238E27FC236}">
                <a16:creationId xmlns:a16="http://schemas.microsoft.com/office/drawing/2014/main" id="{FA17BD51-5374-4F5A-9ABC-1949C496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93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恢复条件</a:t>
            </a:r>
          </a:p>
        </p:txBody>
      </p:sp>
      <p:sp>
        <p:nvSpPr>
          <p:cNvPr id="4" name="column-line-72-0">
            <a:extLst xmlns:a="http://schemas.openxmlformats.org/drawingml/2006/main">
              <a:ext uri="{FF2B5EF4-FFF2-40B4-BE49-F238E27FC236}">
                <a16:creationId xmlns:a16="http://schemas.microsoft.com/office/drawing/2014/main" id="{E4732251-4194-4CA3-B179-743CFC96B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触发条件、旧版本与负责人</a:t>
            </a:r>
          </a:p>
        </p:txBody>
      </p:sp>
      <p:sp>
        <p:nvSpPr>
          <p:cNvPr id="5" name="column-line-72-1">
            <a:extLst xmlns:a="http://schemas.openxmlformats.org/drawingml/2006/main">
              <a:ext uri="{FF2B5EF4-FFF2-40B4-BE49-F238E27FC236}">
                <a16:creationId xmlns:a16="http://schemas.microsoft.com/office/drawing/2014/main" id="{B6911231-745F-4D9A-827F-AEA2E4E0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数据、配置、代码共同恢复</a:t>
            </a:r>
          </a:p>
        </p:txBody>
      </p:sp>
      <p:sp>
        <p:nvSpPr>
          <p:cNvPr id="6" name="column-line-72-2">
            <a:extLst xmlns:a="http://schemas.openxmlformats.org/drawingml/2006/main">
              <a:ext uri="{FF2B5EF4-FFF2-40B4-BE49-F238E27FC236}">
                <a16:creationId xmlns:a16="http://schemas.microsoft.com/office/drawing/2014/main" id="{4E4AC20B-5AB8-4E2C-8753-62200533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隔离恢复、对账与核心流程</a:t>
            </a:r>
          </a:p>
        </p:txBody>
      </p:sp>
      <p:sp>
        <p:nvSpPr>
          <p:cNvPr id="7" name="column-line-72-3">
            <a:extLst xmlns:a="http://schemas.openxmlformats.org/drawingml/2006/main">
              <a:ext uri="{FF2B5EF4-FFF2-40B4-BE49-F238E27FC236}">
                <a16:creationId xmlns:a16="http://schemas.microsoft.com/office/drawing/2014/main" id="{782F6E07-125C-481E-97F6-E23C80EE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未演练部分保留未验证</a:t>
            </a:r>
          </a:p>
        </p:txBody>
      </p:sp>
      <p:sp>
        <p:nvSpPr>
          <p:cNvPr id="8" name="column-heading-690">
            <a:extLst xmlns:a="http://schemas.openxmlformats.org/drawingml/2006/main">
              <a:ext uri="{FF2B5EF4-FFF2-40B4-BE49-F238E27FC236}">
                <a16:creationId xmlns:a16="http://schemas.microsoft.com/office/drawing/2014/main" id="{4C062ED3-BB4D-451C-8432-679B7887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493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迭代依据</a:t>
            </a:r>
          </a:p>
        </p:txBody>
      </p:sp>
      <p:sp>
        <p:nvSpPr>
          <p:cNvPr id="9" name="column-line-690-0">
            <a:extLst xmlns:a="http://schemas.openxmlformats.org/drawingml/2006/main">
              <a:ext uri="{FF2B5EF4-FFF2-40B4-BE49-F238E27FC236}">
                <a16:creationId xmlns:a16="http://schemas.microsoft.com/office/drawing/2014/main" id="{FAC7277E-3876-4F21-975C-FEB0945E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527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用户是否完成核心流程</a:t>
            </a:r>
          </a:p>
        </p:txBody>
      </p:sp>
      <p:sp>
        <p:nvSpPr>
          <p:cNvPr id="10" name="column-line-690-1">
            <a:extLst xmlns:a="http://schemas.openxmlformats.org/drawingml/2006/main">
              <a:ext uri="{FF2B5EF4-FFF2-40B4-BE49-F238E27FC236}">
                <a16:creationId xmlns:a16="http://schemas.microsoft.com/office/drawing/2014/main" id="{378B3D6A-BC80-4236-9E89-C7D8BCB4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004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实际耗时、调用与资源</a:t>
            </a:r>
          </a:p>
        </p:txBody>
      </p:sp>
      <p:sp>
        <p:nvSpPr>
          <p:cNvPr id="11" name="column-line-690-2">
            <a:extLst xmlns:a="http://schemas.openxmlformats.org/drawingml/2006/main">
              <a:ext uri="{FF2B5EF4-FFF2-40B4-BE49-F238E27FC236}">
                <a16:creationId xmlns:a16="http://schemas.microsoft.com/office/drawing/2014/main" id="{1AC10D52-F556-40B5-8531-062EE350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481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AI 阅读、协作和返工</a:t>
            </a:r>
          </a:p>
        </p:txBody>
      </p:sp>
      <p:sp>
        <p:nvSpPr>
          <p:cNvPr id="12" name="column-line-690-3">
            <a:extLst xmlns:a="http://schemas.openxmlformats.org/drawingml/2006/main">
              <a:ext uri="{FF2B5EF4-FFF2-40B4-BE49-F238E27FC236}">
                <a16:creationId xmlns:a16="http://schemas.microsoft.com/office/drawing/2014/main" id="{2A20A11B-5A19-4193-9261-C01A88AF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958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反馈回到对应方案与原事实</a:t>
            </a:r>
          </a:p>
        </p:txBody>
      </p:sp>
      <p:sp>
        <p:nvSpPr>
          <p:cNvPr id="13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DACAA431-FA44-464E-9A87-B6701681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生成备份文件不等于可恢复，未测量不承诺节省比例</a:t>
            </a:r>
          </a:p>
        </p:txBody>
      </p:sp>
    </p:spTree>
    <p:extLst>
      <p:ext uri="{BB962C8B-B14F-4D97-AF65-F5344CB8AC3E}">
        <p14:creationId xmlns:p14="http://schemas.microsoft.com/office/powerpoint/2010/main" val="70451618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8EE60E8-12B1-44A8-8DF1-6BF24D9F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运行方案的复用与回执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09BFD34-F9A5-4159-88C6-C844C05E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3" name="column-heading-72">
            <a:extLst xmlns:a="http://schemas.openxmlformats.org/drawingml/2006/main">
              <a:ext uri="{FF2B5EF4-FFF2-40B4-BE49-F238E27FC236}">
                <a16:creationId xmlns:a16="http://schemas.microsoft.com/office/drawing/2014/main" id="{B60A5A69-CB13-44FB-9BAA-7D7858CC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93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项目生成结果</a:t>
            </a:r>
          </a:p>
        </p:txBody>
      </p:sp>
      <p:sp>
        <p:nvSpPr>
          <p:cNvPr id="4" name="column-line-72-0">
            <a:extLst xmlns:a="http://schemas.openxmlformats.org/drawingml/2006/main">
              <a:ext uri="{FF2B5EF4-FFF2-40B4-BE49-F238E27FC236}">
                <a16:creationId xmlns:a16="http://schemas.microsoft.com/office/drawing/2014/main" id="{F6566AA0-602B-40C5-8EC9-882742AC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真实入口与版本来源</a:t>
            </a:r>
          </a:p>
        </p:txBody>
      </p:sp>
      <p:sp>
        <p:nvSpPr>
          <p:cNvPr id="5" name="column-line-72-1">
            <a:extLst xmlns:a="http://schemas.openxmlformats.org/drawingml/2006/main">
              <a:ext uri="{FF2B5EF4-FFF2-40B4-BE49-F238E27FC236}">
                <a16:creationId xmlns:a16="http://schemas.microsoft.com/office/drawing/2014/main" id="{6ADF692F-2260-4DAF-A573-BAE2D46D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完整发布与恢复顺序</a:t>
            </a:r>
          </a:p>
        </p:txBody>
      </p:sp>
      <p:sp>
        <p:nvSpPr>
          <p:cNvPr id="6" name="column-line-72-2">
            <a:extLst xmlns:a="http://schemas.openxmlformats.org/drawingml/2006/main">
              <a:ext uri="{FF2B5EF4-FFF2-40B4-BE49-F238E27FC236}">
                <a16:creationId xmlns:a16="http://schemas.microsoft.com/office/drawing/2014/main" id="{601C94E0-4AF2-46DC-94AB-F8DD87AD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接口、资源、任务和质量验收</a:t>
            </a:r>
          </a:p>
        </p:txBody>
      </p:sp>
      <p:sp>
        <p:nvSpPr>
          <p:cNvPr id="7" name="column-line-72-3">
            <a:extLst xmlns:a="http://schemas.openxmlformats.org/drawingml/2006/main">
              <a:ext uri="{FF2B5EF4-FFF2-40B4-BE49-F238E27FC236}">
                <a16:creationId xmlns:a16="http://schemas.microsoft.com/office/drawing/2014/main" id="{896E5945-E144-4183-B56B-47F7B461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权限范围与反馈记录</a:t>
            </a:r>
          </a:p>
        </p:txBody>
      </p:sp>
      <p:sp>
        <p:nvSpPr>
          <p:cNvPr id="8" name="column-heading-690">
            <a:extLst xmlns:a="http://schemas.openxmlformats.org/drawingml/2006/main">
              <a:ext uri="{FF2B5EF4-FFF2-40B4-BE49-F238E27FC236}">
                <a16:creationId xmlns:a16="http://schemas.microsoft.com/office/drawing/2014/main" id="{E674A778-79F1-4499-A4BB-D50D794B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493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交付回执</a:t>
            </a:r>
          </a:p>
        </p:txBody>
      </p:sp>
      <p:sp>
        <p:nvSpPr>
          <p:cNvPr id="9" name="column-line-690-0">
            <a:extLst xmlns:a="http://schemas.openxmlformats.org/drawingml/2006/main">
              <a:ext uri="{FF2B5EF4-FFF2-40B4-BE49-F238E27FC236}">
                <a16:creationId xmlns:a16="http://schemas.microsoft.com/office/drawing/2014/main" id="{B3D47A1C-CAB0-45A5-BFB7-2AA36FB4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527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版本、环境、检查与证据</a:t>
            </a:r>
          </a:p>
        </p:txBody>
      </p:sp>
      <p:sp>
        <p:nvSpPr>
          <p:cNvPr id="10" name="column-line-690-1">
            <a:extLst xmlns:a="http://schemas.openxmlformats.org/drawingml/2006/main">
              <a:ext uri="{FF2B5EF4-FFF2-40B4-BE49-F238E27FC236}">
                <a16:creationId xmlns:a16="http://schemas.microsoft.com/office/drawing/2014/main" id="{8568AD31-2B3D-4DF8-A0CA-3B66D984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004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同类数量和异常去向</a:t>
            </a:r>
          </a:p>
        </p:txBody>
      </p:sp>
      <p:sp>
        <p:nvSpPr>
          <p:cNvPr id="11" name="column-line-690-2">
            <a:extLst xmlns:a="http://schemas.openxmlformats.org/drawingml/2006/main">
              <a:ext uri="{FF2B5EF4-FFF2-40B4-BE49-F238E27FC236}">
                <a16:creationId xmlns:a16="http://schemas.microsoft.com/office/drawing/2014/main" id="{E1C11D72-40EA-4228-B5DF-DC236C03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481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本地、生产、数据、恢复状态</a:t>
            </a:r>
          </a:p>
        </p:txBody>
      </p:sp>
      <p:sp>
        <p:nvSpPr>
          <p:cNvPr id="12" name="column-line-690-3">
            <a:extLst xmlns:a="http://schemas.openxmlformats.org/drawingml/2006/main">
              <a:ext uri="{FF2B5EF4-FFF2-40B4-BE49-F238E27FC236}">
                <a16:creationId xmlns:a16="http://schemas.microsoft.com/office/drawing/2014/main" id="{247B1A41-92DD-493A-AF4E-475FF2DE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958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知识变化及真实未完成</a:t>
            </a:r>
          </a:p>
        </p:txBody>
      </p:sp>
      <p:sp>
        <p:nvSpPr>
          <p:cNvPr id="13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B2F44A1E-A200-401A-B712-B84869E5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检查范围匹配改动，有效检查不因形式重复运行</a:t>
            </a:r>
          </a:p>
        </p:txBody>
      </p:sp>
    </p:spTree>
    <p:extLst>
      <p:ext uri="{BB962C8B-B14F-4D97-AF65-F5344CB8AC3E}">
        <p14:creationId xmlns:p14="http://schemas.microsoft.com/office/powerpoint/2010/main" val="175952297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818408-68CC-4EA9-8657-8518471A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一个数据列表的完整闭环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EB912B5-2723-4A8C-8C21-6B06438C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F98161-524C-4D28-8EC3-4FC1E010EEF2}"/>
              </a:ext>
            </a:extLst>
          </p:cNvPr>
          <p:cNvGraphicFramePr/>
          <p:nvPr/>
        </p:nvGraphicFramePr>
        <p:xfrm>
          <a:off xmlns:a="http://schemas.openxmlformats.org/drawingml/2006/main" x="685800" y="1685925"/>
          <a:ext xmlns:a="http://schemas.openxmlformats.org/drawingml/2006/main" cx="10820400" cy="398145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3286125"/>
                <a:gridCol w="7534275"/>
              </a:tblGrid>
              <a:tr h="56877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使用方案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要形成的结果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</a:tr>
              <a:tr h="56877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 需求与结构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核心流程、已有能力和完成条件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56877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 上下文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相关权威契约与必要旧反例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56877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 数据与任务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身份、增量、去重与失败保留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56877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 共享界面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表格、状态、权限与桌面手机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56877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 共同验收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正常、失败、同类和旧能力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56877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 运行再回到 1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版本、字段、恢复与事实更新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</a:tbl>
          </a:graphicData>
        </a:graphic>
      </p:graphicFrame>
      <p:sp>
        <p:nvSpPr>
          <p:cNvPr id="4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F96C36F7-A2E5-45B6-9890-6AA81EFE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同一个功能满足共同条件，读者无需重新拼装孤立答案</a:t>
            </a:r>
          </a:p>
        </p:txBody>
      </p:sp>
    </p:spTree>
    <p:extLst>
      <p:ext uri="{BB962C8B-B14F-4D97-AF65-F5344CB8AC3E}">
        <p14:creationId xmlns:p14="http://schemas.microsoft.com/office/powerpoint/2010/main" val="156007557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C4573FD-54EA-4013-BE90-602D18B3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生成自己项目的落地方案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119DAB9-F4A1-47FA-A824-0108E03A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3" name="num-0">
            <a:extLst xmlns:a="http://schemas.openxmlformats.org/drawingml/2006/main">
              <a:ext uri="{FF2B5EF4-FFF2-40B4-BE49-F238E27FC236}">
                <a16:creationId xmlns:a16="http://schemas.microsoft.com/office/drawing/2014/main" id="{6F9704AE-E956-473E-BFE8-1E68236F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label-0">
            <a:extLst xmlns:a="http://schemas.openxmlformats.org/drawingml/2006/main">
              <a:ext uri="{FF2B5EF4-FFF2-40B4-BE49-F238E27FC236}">
                <a16:creationId xmlns:a16="http://schemas.microsoft.com/office/drawing/2014/main" id="{3C69F0CA-8021-4BB6-A41D-2481BAE7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812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输入项目事实</a:t>
            </a:r>
          </a:p>
        </p:txBody>
      </p:sp>
      <p:sp>
        <p:nvSpPr>
          <p:cNvPr id="5" name="detail-0">
            <a:extLst xmlns:a="http://schemas.openxmlformats.org/drawingml/2006/main">
              <a:ext uri="{FF2B5EF4-FFF2-40B4-BE49-F238E27FC236}">
                <a16:creationId xmlns:a16="http://schemas.microsoft.com/office/drawing/2014/main" id="{AC704A04-606A-4F6E-9727-DED75CFE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1981200"/>
            <a:ext cx="709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用户流程、阶段、资源、限制与范围</a:t>
            </a:r>
          </a:p>
        </p:txBody>
      </p:sp>
      <p:sp>
        <p:nvSpPr>
          <p:cNvPr id="6" name="num-1">
            <a:extLst xmlns:a="http://schemas.openxmlformats.org/drawingml/2006/main">
              <a:ext uri="{FF2B5EF4-FFF2-40B4-BE49-F238E27FC236}">
                <a16:creationId xmlns:a16="http://schemas.microsoft.com/office/drawing/2014/main" id="{A7DC887C-E78C-4CEA-8429-7BAAC1A2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label-1">
            <a:extLst xmlns:a="http://schemas.openxmlformats.org/drawingml/2006/main">
              <a:ext uri="{FF2B5EF4-FFF2-40B4-BE49-F238E27FC236}">
                <a16:creationId xmlns:a16="http://schemas.microsoft.com/office/drawing/2014/main" id="{736211EB-79A5-4B24-A413-AC7F21E1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051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核对当前实现</a:t>
            </a:r>
          </a:p>
        </p:txBody>
      </p:sp>
      <p:sp>
        <p:nvSpPr>
          <p:cNvPr id="8" name="detail-1">
            <a:extLst xmlns:a="http://schemas.openxmlformats.org/drawingml/2006/main">
              <a:ext uri="{FF2B5EF4-FFF2-40B4-BE49-F238E27FC236}">
                <a16:creationId xmlns:a16="http://schemas.microsoft.com/office/drawing/2014/main" id="{4F6BED55-ED5F-415B-8F5E-3F5A86E2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705100"/>
            <a:ext cx="709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读取入口，确认已有、复用和缺口</a:t>
            </a:r>
          </a:p>
        </p:txBody>
      </p:sp>
      <p:sp>
        <p:nvSpPr>
          <p:cNvPr id="9" name="num-2">
            <a:extLst xmlns:a="http://schemas.openxmlformats.org/drawingml/2006/main">
              <a:ext uri="{FF2B5EF4-FFF2-40B4-BE49-F238E27FC236}">
                <a16:creationId xmlns:a16="http://schemas.microsoft.com/office/drawing/2014/main" id="{42452072-55F2-45C1-A0D7-908F4308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label-2">
            <a:extLst xmlns:a="http://schemas.openxmlformats.org/drawingml/2006/main">
              <a:ext uri="{FF2B5EF4-FFF2-40B4-BE49-F238E27FC236}">
                <a16:creationId xmlns:a16="http://schemas.microsoft.com/office/drawing/2014/main" id="{A96E89B1-BF3A-41DD-953B-4AD6150A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290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选择建设深度</a:t>
            </a:r>
          </a:p>
        </p:txBody>
      </p:sp>
      <p:sp>
        <p:nvSpPr>
          <p:cNvPr id="11" name="detail-2">
            <a:extLst xmlns:a="http://schemas.openxmlformats.org/drawingml/2006/main">
              <a:ext uri="{FF2B5EF4-FFF2-40B4-BE49-F238E27FC236}">
                <a16:creationId xmlns:a16="http://schemas.microsoft.com/office/drawing/2014/main" id="{80E916AA-2A44-4D26-8558-FAE448C6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429000"/>
            <a:ext cx="709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最小配置、实际文件、契约与顺序</a:t>
            </a:r>
          </a:p>
        </p:txBody>
      </p:sp>
      <p:sp>
        <p:nvSpPr>
          <p:cNvPr id="12" name="num-3">
            <a:extLst xmlns:a="http://schemas.openxmlformats.org/drawingml/2006/main">
              <a:ext uri="{FF2B5EF4-FFF2-40B4-BE49-F238E27FC236}">
                <a16:creationId xmlns:a16="http://schemas.microsoft.com/office/drawing/2014/main" id="{83175707-67D5-4287-86AE-4376701B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3" name="label-3">
            <a:extLst xmlns:a="http://schemas.openxmlformats.org/drawingml/2006/main">
              <a:ext uri="{FF2B5EF4-FFF2-40B4-BE49-F238E27FC236}">
                <a16:creationId xmlns:a16="http://schemas.microsoft.com/office/drawing/2014/main" id="{060469D2-0C05-43C4-AA9D-9C37B158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529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固定门禁</a:t>
            </a:r>
          </a:p>
        </p:txBody>
      </p:sp>
      <p:sp>
        <p:nvSpPr>
          <p:cNvPr id="14" name="detail-3">
            <a:extLst xmlns:a="http://schemas.openxmlformats.org/drawingml/2006/main">
              <a:ext uri="{FF2B5EF4-FFF2-40B4-BE49-F238E27FC236}">
                <a16:creationId xmlns:a16="http://schemas.microsoft.com/office/drawing/2014/main" id="{0A48A28D-7B6E-4C3C-84D9-F850CA7E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152900"/>
            <a:ext cx="709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触发、条件、证据、失败与执行入口</a:t>
            </a:r>
          </a:p>
        </p:txBody>
      </p:sp>
      <p:sp>
        <p:nvSpPr>
          <p:cNvPr id="15" name="num-4">
            <a:extLst xmlns:a="http://schemas.openxmlformats.org/drawingml/2006/main">
              <a:ext uri="{FF2B5EF4-FFF2-40B4-BE49-F238E27FC236}">
                <a16:creationId xmlns:a16="http://schemas.microsoft.com/office/drawing/2014/main" id="{4A84397A-8489-4FF6-9CCE-EE2E9842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6" name="label-4">
            <a:extLst xmlns:a="http://schemas.openxmlformats.org/drawingml/2006/main">
              <a:ext uri="{FF2B5EF4-FFF2-40B4-BE49-F238E27FC236}">
                <a16:creationId xmlns:a16="http://schemas.microsoft.com/office/drawing/2014/main" id="{A22F175A-A14C-4CF6-B423-3268113B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768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给出完整示例</a:t>
            </a:r>
          </a:p>
        </p:txBody>
      </p:sp>
      <p:sp>
        <p:nvSpPr>
          <p:cNvPr id="17" name="detail-4">
            <a:extLst xmlns:a="http://schemas.openxmlformats.org/drawingml/2006/main">
              <a:ext uri="{FF2B5EF4-FFF2-40B4-BE49-F238E27FC236}">
                <a16:creationId xmlns:a16="http://schemas.microsoft.com/office/drawing/2014/main" id="{10F0EFDA-B9A7-4EE9-B33D-B26766B0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876800"/>
            <a:ext cx="709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标明真实状态，保留未知与未完成</a:t>
            </a:r>
          </a:p>
        </p:txBody>
      </p:sp>
      <p:sp>
        <p:nvSpPr>
          <p:cNvPr id="18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9ED1616C-D8D2-42E1-B371-F9C23F62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总提示词与六个专项生成模板见 Markdown 和讲者备注</a:t>
            </a:r>
          </a:p>
        </p:txBody>
      </p:sp>
    </p:spTree>
    <p:extLst>
      <p:ext uri="{BB962C8B-B14F-4D97-AF65-F5344CB8AC3E}">
        <p14:creationId xmlns:p14="http://schemas.microsoft.com/office/powerpoint/2010/main" val="149926703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032136B-2CCD-4580-947B-5C1AF300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资料与适用边界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B0CEF7C-8EA9-4F26-8D85-C7080D8E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sp>
        <p:nvSpPr>
          <p:cNvPr id="3" name="sources-heading">
            <a:extLst xmlns:a="http://schemas.openxmlformats.org/drawingml/2006/main">
              <a:ext uri="{FF2B5EF4-FFF2-40B4-BE49-F238E27FC236}">
                <a16:creationId xmlns:a16="http://schemas.microsoft.com/office/drawing/2014/main" id="{26189D6A-45F9-460A-92EB-87BA0139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分享正文与复用模板</a:t>
            </a:r>
          </a:p>
        </p:txBody>
      </p:sp>
      <p:sp>
        <p:nvSpPr>
          <p:cNvPr id="4" name="source-md">
            <a:extLst xmlns:a="http://schemas.openxmlformats.org/drawingml/2006/main">
              <a:ext uri="{FF2B5EF4-FFF2-40B4-BE49-F238E27FC236}">
                <a16:creationId xmlns:a16="http://schemas.microsoft.com/office/drawing/2014/main" id="{2D179D20-5CF4-4645-A3ED-2A41C2DD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a8da1d18d214c7e"/>
              </a:rPr>
              <a:t>六套方案、最小配置、门禁与项目生成提示词</a:t>
            </a:r>
          </a:p>
        </p:txBody>
      </p:sp>
      <p:sp>
        <p:nvSpPr>
          <p:cNvPr id="5" name="evidence-heading">
            <a:extLst xmlns:a="http://schemas.openxmlformats.org/drawingml/2006/main">
              <a:ext uri="{FF2B5EF4-FFF2-40B4-BE49-F238E27FC236}">
                <a16:creationId xmlns:a16="http://schemas.microsoft.com/office/drawing/2014/main" id="{0D2E29CE-94BD-4A80-A74C-CD52D150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33775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存在小站的实践依据</a:t>
            </a:r>
          </a:p>
        </p:txBody>
      </p:sp>
      <p:sp>
        <p:nvSpPr>
          <p:cNvPr id="6" name="evidence">
            <a:extLst xmlns:a="http://schemas.openxmlformats.org/drawingml/2006/main">
              <a:ext uri="{FF2B5EF4-FFF2-40B4-BE49-F238E27FC236}">
                <a16:creationId xmlns:a16="http://schemas.microsoft.com/office/drawing/2014/main" id="{E5521E6A-4228-4A96-87BE-258C4246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规则、知识索引、架构、决策、事故、检查与发布记录</a:t>
            </a:r>
          </a:p>
        </p:txBody>
      </p:sp>
      <p:sp>
        <p:nvSpPr>
          <p:cNvPr id="7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F52DB803-B1FB-4164-94A9-BCDEE496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原问题用于覆盖检查，固定流程和生成模板已归入对应方案</a:t>
            </a:r>
          </a:p>
        </p:txBody>
      </p:sp>
    </p:spTree>
    <p:extLst>
      <p:ext uri="{BB962C8B-B14F-4D97-AF65-F5344CB8AC3E}">
        <p14:creationId xmlns:p14="http://schemas.microsoft.com/office/powerpoint/2010/main" val="1955110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2026-10-09T08:03:46.2510000Z</dcterms:created>
  <dcterms:modified xsi:type="dcterms:W3CDTF">2026-10-09T08:03:46.2510000Z</dcterms:modified>
</coreProperties>
</file>