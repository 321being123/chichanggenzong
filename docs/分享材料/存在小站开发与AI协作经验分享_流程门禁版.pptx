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e2b4eb0c7342ae" /><Relationship Type="http://schemas.openxmlformats.org/officeDocument/2006/relationships/extended-properties" Target="/docProps/app.xml" Id="Rfe3c1e0f1f774a37" /><Relationship Type="http://schemas.openxmlformats.org/officeDocument/2006/relationships/officeDocument" Target="/ppt/presentation.xml" Id="R27e73479ae5f45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7fd6f972149dc"/>
  </p:sldMasterIdLst>
  <p:notesMasterIdLst>
    <p:notesMasterId xmlns:r="http://schemas.openxmlformats.org/officeDocument/2006/relationships" r:id="R9963ff5eb476452f"/>
  </p:notesMasterIdLst>
  <p:sldIdLst>
    <p:sldId xmlns:r="http://schemas.openxmlformats.org/officeDocument/2006/relationships" id="256" r:id="Recb725bc9a564dd9"/>
    <p:sldId xmlns:r="http://schemas.openxmlformats.org/officeDocument/2006/relationships" id="257" r:id="Rf4a7198154f542b9"/>
    <p:sldId xmlns:r="http://schemas.openxmlformats.org/officeDocument/2006/relationships" id="258" r:id="Ree344bc5d84346ec"/>
    <p:sldId xmlns:r="http://schemas.openxmlformats.org/officeDocument/2006/relationships" id="259" r:id="R8c799756fab347f7"/>
    <p:sldId xmlns:r="http://schemas.openxmlformats.org/officeDocument/2006/relationships" id="260" r:id="Ra31a8f9f4dca49cc"/>
    <p:sldId xmlns:r="http://schemas.openxmlformats.org/officeDocument/2006/relationships" id="261" r:id="R476c4d733e7048b2"/>
    <p:sldId xmlns:r="http://schemas.openxmlformats.org/officeDocument/2006/relationships" id="262" r:id="Rf55713eb2e994d3e"/>
    <p:sldId xmlns:r="http://schemas.openxmlformats.org/officeDocument/2006/relationships" id="263" r:id="R63a7f3061a3e4951"/>
    <p:sldId xmlns:r="http://schemas.openxmlformats.org/officeDocument/2006/relationships" id="264" r:id="R6270a7b8b4aa433a"/>
    <p:sldId xmlns:r="http://schemas.openxmlformats.org/officeDocument/2006/relationships" id="265" r:id="R71e32b42cd8b47f1"/>
    <p:sldId xmlns:r="http://schemas.openxmlformats.org/officeDocument/2006/relationships" id="266" r:id="R00f6618056e345c9"/>
    <p:sldId xmlns:r="http://schemas.openxmlformats.org/officeDocument/2006/relationships" id="267" r:id="R06aa04b8c9b544ee"/>
    <p:sldId xmlns:r="http://schemas.openxmlformats.org/officeDocument/2006/relationships" id="268" r:id="Rf39030139cb246ea"/>
    <p:sldId xmlns:r="http://schemas.openxmlformats.org/officeDocument/2006/relationships" id="269" r:id="R250c25d28f1f423a"/>
    <p:sldId xmlns:r="http://schemas.openxmlformats.org/officeDocument/2006/relationships" id="270" r:id="Ra1851ffd07744a15"/>
    <p:sldId xmlns:r="http://schemas.openxmlformats.org/officeDocument/2006/relationships" id="271" r:id="R3803540f0b9442ad"/>
    <p:sldId xmlns:r="http://schemas.openxmlformats.org/officeDocument/2006/relationships" id="272" r:id="R10ba780bc58242b5"/>
    <p:sldId xmlns:r="http://schemas.openxmlformats.org/officeDocument/2006/relationships" id="273" r:id="Reb4a7d4d178b440e"/>
    <p:sldId xmlns:r="http://schemas.openxmlformats.org/officeDocument/2006/relationships" id="274" r:id="R82b44d40c6d840c9"/>
    <p:sldId xmlns:r="http://schemas.openxmlformats.org/officeDocument/2006/relationships" id="275" r:id="R12abe7e3802e4c34"/>
    <p:sldId xmlns:r="http://schemas.openxmlformats.org/officeDocument/2006/relationships" id="276" r:id="Rda4b6034d95248bc"/>
    <p:sldId xmlns:r="http://schemas.openxmlformats.org/officeDocument/2006/relationships" id="277" r:id="R0892e1895c6d4e73"/>
    <p:sldId xmlns:r="http://schemas.openxmlformats.org/officeDocument/2006/relationships" id="278" r:id="R23e668c6751b4001"/>
    <p:sldId xmlns:r="http://schemas.openxmlformats.org/officeDocument/2006/relationships" id="279" r:id="R5b57c53a26004f26"/>
    <p:sldId xmlns:r="http://schemas.openxmlformats.org/officeDocument/2006/relationships" id="280" r:id="Rf8653c9c52334c5c"/>
    <p:sldId xmlns:r="http://schemas.openxmlformats.org/officeDocument/2006/relationships" id="281" r:id="R187821eacd364150"/>
    <p:sldId xmlns:r="http://schemas.openxmlformats.org/officeDocument/2006/relationships" id="282" r:id="R5ba1f2abe5654d12"/>
    <p:sldId xmlns:r="http://schemas.openxmlformats.org/officeDocument/2006/relationships" id="283" r:id="Re131ad2b749d4559"/>
    <p:sldId xmlns:r="http://schemas.openxmlformats.org/officeDocument/2006/relationships" id="284" r:id="R2ba1dc09e1ee48ee"/>
    <p:sldId xmlns:r="http://schemas.openxmlformats.org/officeDocument/2006/relationships" id="285" r:id="R501a16a5935e4a3e"/>
    <p:sldId xmlns:r="http://schemas.openxmlformats.org/officeDocument/2006/relationships" id="286" r:id="Rcc5ce546be95442e"/>
    <p:sldId xmlns:r="http://schemas.openxmlformats.org/officeDocument/2006/relationships" id="287" r:id="Rd1699341d73e4eaf"/>
    <p:sldId xmlns:r="http://schemas.openxmlformats.org/officeDocument/2006/relationships" id="288" r:id="R075dd8d1f78e4160"/>
    <p:sldId xmlns:r="http://schemas.openxmlformats.org/officeDocument/2006/relationships" id="289" r:id="R9a5c52be6d65464c"/>
    <p:sldId xmlns:r="http://schemas.openxmlformats.org/officeDocument/2006/relationships" id="290" r:id="Re19bed1aa90d4f74"/>
    <p:sldId xmlns:r="http://schemas.openxmlformats.org/officeDocument/2006/relationships" id="291" r:id="R1de3190650904394"/>
    <p:sldId xmlns:r="http://schemas.openxmlformats.org/officeDocument/2006/relationships" id="292" r:id="R35c28f25b6d4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1185ee8de403e" /><Relationship Type="http://schemas.openxmlformats.org/officeDocument/2006/relationships/slideMaster" Target="/ppt/slideMasters/slideMaster1.xml" Id="Rb8f7fd6f972149dc" /><Relationship Type="http://schemas.openxmlformats.org/officeDocument/2006/relationships/notesMaster" Target="/ppt/notesMasters/notesMaster1.xml" Id="R9963ff5eb476452f" /><Relationship Type="http://schemas.openxmlformats.org/officeDocument/2006/relationships/presProps" Target="/ppt/presProps.xml" Id="R09c2bc13d8ff4096" /><Relationship Type="http://schemas.openxmlformats.org/officeDocument/2006/relationships/tableStyles" Target="/ppt/tableStyles.xml" Id="Rb2cdfa424b1f40e9" /><Relationship Type="http://schemas.openxmlformats.org/officeDocument/2006/relationships/slide" Target="/ppt/slides/slide1.xml" Id="Recb725bc9a564dd9" /><Relationship Type="http://schemas.openxmlformats.org/officeDocument/2006/relationships/slide" Target="/ppt/slides/slide2.xml" Id="Rf4a7198154f542b9" /><Relationship Type="http://schemas.openxmlformats.org/officeDocument/2006/relationships/slide" Target="/ppt/slides/slide3.xml" Id="Ree344bc5d84346ec" /><Relationship Type="http://schemas.openxmlformats.org/officeDocument/2006/relationships/slide" Target="/ppt/slides/slide4.xml" Id="R8c799756fab347f7" /><Relationship Type="http://schemas.openxmlformats.org/officeDocument/2006/relationships/slide" Target="/ppt/slides/slide5.xml" Id="Ra31a8f9f4dca49cc" /><Relationship Type="http://schemas.openxmlformats.org/officeDocument/2006/relationships/slide" Target="/ppt/slides/slide6.xml" Id="R476c4d733e7048b2" /><Relationship Type="http://schemas.openxmlformats.org/officeDocument/2006/relationships/slide" Target="/ppt/slides/slide7.xml" Id="Rf55713eb2e994d3e" /><Relationship Type="http://schemas.openxmlformats.org/officeDocument/2006/relationships/slide" Target="/ppt/slides/slide8.xml" Id="R63a7f3061a3e4951" /><Relationship Type="http://schemas.openxmlformats.org/officeDocument/2006/relationships/slide" Target="/ppt/slides/slide9.xml" Id="R6270a7b8b4aa433a" /><Relationship Type="http://schemas.openxmlformats.org/officeDocument/2006/relationships/slide" Target="/ppt/slides/slide10.xml" Id="R71e32b42cd8b47f1" /><Relationship Type="http://schemas.openxmlformats.org/officeDocument/2006/relationships/slide" Target="/ppt/slides/slide11.xml" Id="R00f6618056e345c9" /><Relationship Type="http://schemas.openxmlformats.org/officeDocument/2006/relationships/slide" Target="/ppt/slides/slide12.xml" Id="R06aa04b8c9b544ee" /><Relationship Type="http://schemas.openxmlformats.org/officeDocument/2006/relationships/slide" Target="/ppt/slides/slide13.xml" Id="Rf39030139cb246ea" /><Relationship Type="http://schemas.openxmlformats.org/officeDocument/2006/relationships/slide" Target="/ppt/slides/slide14.xml" Id="R250c25d28f1f423a" /><Relationship Type="http://schemas.openxmlformats.org/officeDocument/2006/relationships/slide" Target="/ppt/slides/slide15.xml" Id="Ra1851ffd07744a15" /><Relationship Type="http://schemas.openxmlformats.org/officeDocument/2006/relationships/slide" Target="/ppt/slides/slide16.xml" Id="R3803540f0b9442ad" /><Relationship Type="http://schemas.openxmlformats.org/officeDocument/2006/relationships/slide" Target="/ppt/slides/slide17.xml" Id="R10ba780bc58242b5" /><Relationship Type="http://schemas.openxmlformats.org/officeDocument/2006/relationships/slide" Target="/ppt/slides/slide18.xml" Id="Reb4a7d4d178b440e" /><Relationship Type="http://schemas.openxmlformats.org/officeDocument/2006/relationships/slide" Target="/ppt/slides/slide19.xml" Id="R82b44d40c6d840c9" /><Relationship Type="http://schemas.openxmlformats.org/officeDocument/2006/relationships/slide" Target="/ppt/slides/slide20.xml" Id="R12abe7e3802e4c34" /><Relationship Type="http://schemas.openxmlformats.org/officeDocument/2006/relationships/slide" Target="/ppt/slides/slide21.xml" Id="Rda4b6034d95248bc" /><Relationship Type="http://schemas.openxmlformats.org/officeDocument/2006/relationships/slide" Target="/ppt/slides/slide22.xml" Id="R0892e1895c6d4e73" /><Relationship Type="http://schemas.openxmlformats.org/officeDocument/2006/relationships/slide" Target="/ppt/slides/slide23.xml" Id="R23e668c6751b4001" /><Relationship Type="http://schemas.openxmlformats.org/officeDocument/2006/relationships/slide" Target="/ppt/slides/slide24.xml" Id="R5b57c53a26004f26" /><Relationship Type="http://schemas.openxmlformats.org/officeDocument/2006/relationships/slide" Target="/ppt/slides/slide25.xml" Id="Rf8653c9c52334c5c" /><Relationship Type="http://schemas.openxmlformats.org/officeDocument/2006/relationships/slide" Target="/ppt/slides/slide26.xml" Id="R187821eacd364150" /><Relationship Type="http://schemas.openxmlformats.org/officeDocument/2006/relationships/slide" Target="/ppt/slides/slide27.xml" Id="R5ba1f2abe5654d12" /><Relationship Type="http://schemas.openxmlformats.org/officeDocument/2006/relationships/slide" Target="/ppt/slides/slide28.xml" Id="Re131ad2b749d4559" /><Relationship Type="http://schemas.openxmlformats.org/officeDocument/2006/relationships/slide" Target="/ppt/slides/slide29.xml" Id="R2ba1dc09e1ee48ee" /><Relationship Type="http://schemas.openxmlformats.org/officeDocument/2006/relationships/slide" Target="/ppt/slides/slide30.xml" Id="R501a16a5935e4a3e" /><Relationship Type="http://schemas.openxmlformats.org/officeDocument/2006/relationships/slide" Target="/ppt/slides/slide31.xml" Id="Rcc5ce546be95442e" /><Relationship Type="http://schemas.openxmlformats.org/officeDocument/2006/relationships/slide" Target="/ppt/slides/slide32.xml" Id="Rd1699341d73e4eaf" /><Relationship Type="http://schemas.openxmlformats.org/officeDocument/2006/relationships/slide" Target="/ppt/slides/slide33.xml" Id="R075dd8d1f78e4160" /><Relationship Type="http://schemas.openxmlformats.org/officeDocument/2006/relationships/slide" Target="/ppt/slides/slide34.xml" Id="R9a5c52be6d65464c" /><Relationship Type="http://schemas.openxmlformats.org/officeDocument/2006/relationships/slide" Target="/ppt/slides/slide35.xml" Id="Re19bed1aa90d4f74" /><Relationship Type="http://schemas.openxmlformats.org/officeDocument/2006/relationships/slide" Target="/ppt/slides/slide36.xml" Id="R1de3190650904394" /><Relationship Type="http://schemas.openxmlformats.org/officeDocument/2006/relationships/slide" Target="/ppt/slides/slide37.xml" Id="R35c28f25b6d4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1de1b2588b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de554fdfe4d47" /><Relationship Type="http://schemas.openxmlformats.org/officeDocument/2006/relationships/notesMaster" Target="/ppt/notesMasters/notesMaster1.xml" Id="R291c5043490140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8a2d13fcb84417" /><Relationship Type="http://schemas.openxmlformats.org/officeDocument/2006/relationships/notesMaster" Target="/ppt/notesMasters/notesMaster1.xml" Id="R56ee48c7c9b0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fb2389f43481c" /><Relationship Type="http://schemas.openxmlformats.org/officeDocument/2006/relationships/notesMaster" Target="/ppt/notesMasters/notesMaster1.xml" Id="R9979869c48b140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5ef6e0ceb04d36" /><Relationship Type="http://schemas.openxmlformats.org/officeDocument/2006/relationships/notesMaster" Target="/ppt/notesMasters/notesMaster1.xml" Id="R7d3863d25328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80df6ab4da495a" /><Relationship Type="http://schemas.openxmlformats.org/officeDocument/2006/relationships/notesMaster" Target="/ppt/notesMasters/notesMaster1.xml" Id="R0c002f41425a44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118cdcc6ed4b5d" /><Relationship Type="http://schemas.openxmlformats.org/officeDocument/2006/relationships/notesMaster" Target="/ppt/notesMasters/notesMaster1.xml" Id="Re86beb7480e7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653d78c1ac4599" /><Relationship Type="http://schemas.openxmlformats.org/officeDocument/2006/relationships/notesMaster" Target="/ppt/notesMasters/notesMaster1.xml" Id="Rd9adcaa9ffc342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35e85b0d794f81" /><Relationship Type="http://schemas.openxmlformats.org/officeDocument/2006/relationships/notesMaster" Target="/ppt/notesMasters/notesMaster1.xml" Id="R43b38aadb85148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64925259674e4f" /><Relationship Type="http://schemas.openxmlformats.org/officeDocument/2006/relationships/notesMaster" Target="/ppt/notesMasters/notesMaster1.xml" Id="R2a60fadfc9a342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84fec3ba43402d" /><Relationship Type="http://schemas.openxmlformats.org/officeDocument/2006/relationships/notesMaster" Target="/ppt/notesMasters/notesMaster1.xml" Id="R68971fb613674b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c3e69d549b4b2e" /><Relationship Type="http://schemas.openxmlformats.org/officeDocument/2006/relationships/notesMaster" Target="/ppt/notesMasters/notesMaster1.xml" Id="Rbc92469269c94e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b8ae84d1c44c3b" /><Relationship Type="http://schemas.openxmlformats.org/officeDocument/2006/relationships/notesMaster" Target="/ppt/notesMasters/notesMaster1.xml" Id="R6f2d317b8ff24b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96f2063f214ada" /><Relationship Type="http://schemas.openxmlformats.org/officeDocument/2006/relationships/notesMaster" Target="/ppt/notesMasters/notesMaster1.xml" Id="R4726746fa5fb4c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e20499d12f46f6" /><Relationship Type="http://schemas.openxmlformats.org/officeDocument/2006/relationships/notesMaster" Target="/ppt/notesMasters/notesMaster1.xml" Id="R75a0f52bc4bb49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bd9bdee1da4832" /><Relationship Type="http://schemas.openxmlformats.org/officeDocument/2006/relationships/notesMaster" Target="/ppt/notesMasters/notesMaster1.xml" Id="Ra504f7f147104c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6eebc7d2424a90" /><Relationship Type="http://schemas.openxmlformats.org/officeDocument/2006/relationships/notesMaster" Target="/ppt/notesMasters/notesMaster1.xml" Id="R1c526b8e338945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dd47299b2d4839" /><Relationship Type="http://schemas.openxmlformats.org/officeDocument/2006/relationships/notesMaster" Target="/ppt/notesMasters/notesMaster1.xml" Id="Rafa79b888a6045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1812b4275944ca" /><Relationship Type="http://schemas.openxmlformats.org/officeDocument/2006/relationships/notesMaster" Target="/ppt/notesMasters/notesMaster1.xml" Id="R9aa759e48fa64e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9e2a0d4ceb4092" /><Relationship Type="http://schemas.openxmlformats.org/officeDocument/2006/relationships/notesMaster" Target="/ppt/notesMasters/notesMaster1.xml" Id="R4d69c1a80ce040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229b61423d42a7" /><Relationship Type="http://schemas.openxmlformats.org/officeDocument/2006/relationships/notesMaster" Target="/ppt/notesMasters/notesMaster1.xml" Id="R9928989ed17048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45b424601c410b" /><Relationship Type="http://schemas.openxmlformats.org/officeDocument/2006/relationships/notesMaster" Target="/ppt/notesMasters/notesMaster1.xml" Id="Rf061e53dbf3b41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812b74d79445ad" /><Relationship Type="http://schemas.openxmlformats.org/officeDocument/2006/relationships/notesMaster" Target="/ppt/notesMasters/notesMaster1.xml" Id="R834fa69974c34f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e313ff240a4744" /><Relationship Type="http://schemas.openxmlformats.org/officeDocument/2006/relationships/notesMaster" Target="/ppt/notesMasters/notesMaster1.xml" Id="R6ac51117d78b4ba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38c27f309a4126" /><Relationship Type="http://schemas.openxmlformats.org/officeDocument/2006/relationships/notesMaster" Target="/ppt/notesMasters/notesMaster1.xml" Id="Rcfaf5cf639d04d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c487c835524c74" /><Relationship Type="http://schemas.openxmlformats.org/officeDocument/2006/relationships/notesMaster" Target="/ppt/notesMasters/notesMaster1.xml" Id="R449baec8590643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180883e3b84226" /><Relationship Type="http://schemas.openxmlformats.org/officeDocument/2006/relationships/notesMaster" Target="/ppt/notesMasters/notesMaster1.xml" Id="R2ffa2c54c0ff4e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2eda65ae084457" /><Relationship Type="http://schemas.openxmlformats.org/officeDocument/2006/relationships/notesMaster" Target="/ppt/notesMasters/notesMaster1.xml" Id="R7880c01f24b54a4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841c18d2674288" /><Relationship Type="http://schemas.openxmlformats.org/officeDocument/2006/relationships/notesMaster" Target="/ppt/notesMasters/notesMaster1.xml" Id="R630190eab80545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2a0951ea034ded" /><Relationship Type="http://schemas.openxmlformats.org/officeDocument/2006/relationships/notesMaster" Target="/ppt/notesMasters/notesMaster1.xml" Id="Rda242e22f9234d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915dcce0174d96" /><Relationship Type="http://schemas.openxmlformats.org/officeDocument/2006/relationships/notesMaster" Target="/ppt/notesMasters/notesMaster1.xml" Id="R671dc1003b5942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a1045aa59d4c25" /><Relationship Type="http://schemas.openxmlformats.org/officeDocument/2006/relationships/notesMaster" Target="/ppt/notesMasters/notesMaster1.xml" Id="R77559e65b9b34c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6a04f400e254ff8" /><Relationship Type="http://schemas.openxmlformats.org/officeDocument/2006/relationships/notesMaster" Target="/ppt/notesMasters/notesMaster1.xml" Id="R527532da7c8d43f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c0d4c55d9049f8" /><Relationship Type="http://schemas.openxmlformats.org/officeDocument/2006/relationships/notesMaster" Target="/ppt/notesMasters/notesMaster1.xml" Id="R844c31a875ac45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7355e49c1649ad" /><Relationship Type="http://schemas.openxmlformats.org/officeDocument/2006/relationships/notesMaster" Target="/ppt/notesMasters/notesMaster1.xml" Id="Rbb2d24d812824d0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dcf0e454de6465f" /><Relationship Type="http://schemas.openxmlformats.org/officeDocument/2006/relationships/notesMaster" Target="/ppt/notesMasters/notesMaster1.xml" Id="Ra36807b12c1d4f9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eea41d20a54943" /><Relationship Type="http://schemas.openxmlformats.org/officeDocument/2006/relationships/notesMaster" Target="/ppt/notesMasters/notesMaster1.xml" Id="R87fb6e8d5140457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511c19f03154b91" /><Relationship Type="http://schemas.openxmlformats.org/officeDocument/2006/relationships/notesMaster" Target="/ppt/notesMasters/notesMaster1.xml" Id="R405f662e1115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存在小站从持仓和交易导入开始，逐步增加多账户、收益分析、公告解析、可转债和后台任务。分享重点是如果重新开始，应怎样确定业务边界、数据归属、共享实现和验收条件，同时组织 AI 长期协作。项目经历与新项目建议分别说明，技术栈建议不代表现有网站已迁移。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视觉来源：ImageGen 生成的分层结构概念插图，非真实系统截图。</a:t>
            </a:r>
          </a:p>
          <a:p xmlns:a="http://schemas.openxmlformats.org/drawingml/2006/main">
            <a:r>
              <a:t>本次增补：由项目固定规则提炼十份可复制模板，并说明触发条件、通过证据及自动门禁边界。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技术五问关注网站的结构与持续扩展，AI 六问关注重复错误、协作与长期接续。整场按两部分展开，最后用任务契约和起步顺序落到实际行动。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新增第三部分：从项目启动到知识交付的十份可复制模板。完整模板见正文及新增页备注。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先向 AI 说明用户类型、公开内容、交互、写入与后台任务，再比较两种候选架构。维护者能理解和接续方案也是选择依据。功能数量并不能单独决定是否需要微服务。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这些是面向新项目的参考选择。公开内容与登录工具有不同需求。Vue 官方提供基于 Vite 的工具链，React 官方建议新应用优先评估框架，Next.js 提供服务端与客户端组件边界。若 JS/TS 是主要语言，可评估 Node 后端；熟悉 Python 者可评估 Django。全栈框架内也可组织业务服务，无需另建重复后端。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https://expressjs.com/en/guide/using-middleware.html</a:t>
            </a:r>
          </a:p>
          <a:p xmlns:a="http://schemas.openxmlformats.org/drawingml/2006/main">
            <a:r>
              <a:t>https://docs.djangoproject.com/en/5.2/intro/overview/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起步可以使用一个仓库、一个业务应用，按职责组织模块。前后端分层不要求立即分别部署。后台服务函数不要绑死 HTTP 对象，耗时或可靠续跑需求出现后能够移到 Worker。存在小站当前使用原生前端、Express、PostgreSQL 和 Python，生产已拆分 Web 与 Worker。新项目 Vue 建议不代表本项目已经使用 Vue。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数据分层是职责划分，起步可以放在同一个数据库。原始记录用于追溯和重解析，标准事实供业务共享，计算结果需要时保存版本或快照，页面按权限查询。简单页面不必提前建立专属快照。SQLite 适合低并发工具，多进程和并发写入已经明确时可评估 PostgreSQL。不要长期维护两份都能修改的权威事实。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https://www.sqlite.org/whentouse.html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证券代码带市场和来源，内部关联采用统一证券与公司 ID。代码用文本保留前导零。用户数据明确所有权。业务日期、事件时间、采集时间分开。金额等精确数值可用 NUMERIC，应用层仍要正确处理十进制和传输。高频字段用正式列，未标准化字段可用 JSONB，逐字节原文单独保留。唯一性按真实业务身份判断，不能误合并同日多笔交易。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D:/存在小站/docs/incidents/INC-0003-历史证券主档冲突导致持仓行情缺失.md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数据源明确首次范围、增量依据、更正窗口、去重、缓存、失败保留和完成证据。失败不推进覆盖水位，不覆盖上一份有效数据。最新日期不能证明中间完整。普通页面打开、图表切换和布局调整只读数据库或缓存；明确人工刷新走统一受控入口。后台、补跑、离线脚本复用同一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D:/存在小站/docs/incidents/INC-0016-页面读取绕过数据层导致行情页面慢加载.md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本项目出现过固定处理 8 条却标记整个资料补全成功的事故。批次只是执行方式，不是业务完成条件。任务需要目标日、依赖、产出、质量与阶段状态；部分完成保存剩余队列、未完成阶段和下一次时间。没有执行的阶段与失败阶段分开。只有范围完整的成功空结果才可记录核验无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D:/存在小站/docs/incidents/INC-0018-IPO资料补全固定8条及多重隐性上限.md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三问讨论合理冗余。原文、必要历史、可重算快照和明确扩展字段值得保留，重复的权威表、采集入口、计算实现会引入冲突。先给变化留边界，真实需求出现后再实现。新链路验证后再迁移，明确旧权威写入退出条件。功能数量增加先按模块拆分，独立扩容与发布需求再评估服务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做包含标题、统计、工具栏、表格、表单、弹窗和手机状态的代表性页面，再扩展同类页面。采用组件库时选定主题和封装方式。原生前端也能通过共享样式与交互形成同样的职责。业务页只保留列宽等差异，公共样式回到共享入口。给 AI 明确读取路径和参考页，而不是仅说简洁美观。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式统一也包括交互统一。金融宽表在自己的容器横滑，保留字段与数值。手机菜单、触屏、键盘、弹窗需同时设计。加载、空、错误、过期与无权限统一。旧请求晚返回不能覆盖当前页。屏幕旋转、缩放和布局变化不额外取数。本项目正文手机分界 760px、导航 900px，其他项目可选自己的统一断点。未做真机测试应保留未验证范围。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五问要求研发共同规则。可用一个文档的六节，不必分别写六份长方案。先走通登录、写入、校验、事务、查询、桌面与手机展示、发布验收的完整功能。外部采集加入失败、重复和续跑案例。目录职责清楚还要落实调用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完成与发布完成分开。本项目曾出现本地修复没有进入生产、旧前端文件仍生效。测试、健康接口和单个任务成功不单独证明业务可用。需核对当前提交版本、静态资源、接口字段、目标数据和质量状态。迁移账号与运行账号职责区分。代码回滚不会自动恢复被删除的数据，破坏性迁移需备份和恢复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D:/存在小站/docs/incidents/INC-0017-IPO发行阶段详情修复未进入生产.md</a:t>
            </a:r>
          </a:p>
          <a:p xmlns:a="http://schemas.openxmlformats.org/drawingml/2006/main">
            <a:r>
              <a:t>D:/存在小站/docs/生产部署流程.md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接下来讨论六个问题：重复犯错、多 Agent 协作、遗漏、token、知识库、跷跷板式修复。共同基础是可接续的仓库事实、可执行的约束与可验证的交付。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反复犯错不一定只是忘记。文档冲突、规则模糊、实现分散、测试预期错误或运行状态未更新都可能导致重复。对应修复机制不同。日期问题中散落的转换和只模拟字符串的测试漏掉真实 PG 类型，需统一入口和真实边界。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可复现反例，再形成不变量、更新原权威位置、收敛共享实现、加入失败检查、核查同类与存量影响、核对运行版本与恢复证据。本项目规定同类第三次出现升级为通用不变量检查；次数是项目规则，可复用结论是重复故障推动公共机制，而不是持续增加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D:/存在小站/docs/incidents/INC-0032-全项目日期时间边界审计与整改方案.md</a:t>
            </a:r>
          </a:p>
          <a:p xmlns:a="http://schemas.openxmlformats.org/drawingml/2006/main">
            <a:r>
              <a:t>D:/存在小站/AGENTS.md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二问的协作方法。开始前固定共同契约、基线和允许修改范围，再分数据、前端与复核。迁移、共享样式、锁文件和权威文档明确负责人。worktree 隔离文件而非数据库、端口与凭据。写入测试库或串行迁移，共享凭据仍走统一保护。集成者验收合并后的版本。小任务不必并行。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https://git-scm.com/docs/git-worktree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三问通过影响范围约束分析，不要求每个小改动全量审查系统。金融计算、权限、数据、任务和部署扩大检查。新增收益字段时检查交易、价格、汇率、日期、费用、缺失与用户权限，再检查快照重算和手机展示。要求区分事实、推测和未知。休市估值测试曾用相同的当前与历史价格，遗漏口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D:/存在小站/docs/incidents/INC-0034-休市持仓估值与归因价格口径错位.md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四问关注读取、输出、重复工作与返工的总成本。索引后读主题权威，必要时追历史。搜索命中符号与上下文，输出关键日志。一个任务保持独立交付边界。并行有重复上下文和集成成本。交接保存目标、改动、决定、检查版本、未知与下一步，不复制整个聊天。项目必需门禁不因节省 token 省略，没有测量不承诺比例。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五问的起点来自实际接续问题：会话不了解已有能力、修复规则未接续、新旧文件冲突、全量历史读取成本高。先采用 Git 文件体系，三个入口足够起步。规模与遗漏风险增加后再加入决定、事故、任务和机器路由，不需要先建设向量库。事实归属清楚后才有可靠检索。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D:/存在小站/docs/知识索引.md</a:t>
            </a:r>
          </a:p>
          <a:p xmlns:a="http://schemas.openxmlformats.org/drawingml/2006/main">
            <a:r>
              <a:t>D:/存在小站/docs/技术架构.md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知识不是把所有事实塞一个文件，同一个事实有一个权威位置。当前实现进架构，取舍进决策，根因和证据进事故，未完成进交接，索引只导航。新增前检索旧结论，优先更新原段落。保留独立根因、来源、授权、验收和未闭环证据。任务开始按描述读，结束按实际文件反向核对更新。check:knowledge 不能自动裁决文字语义是否正确。平台私有记忆只作指针。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D:/存在小站/docs/知识索引.md</a:t>
            </a:r>
          </a:p>
          <a:p xmlns:a="http://schemas.openxmlformats.org/drawingml/2006/main">
            <a:r>
              <a:t>D:/存在小站/docs/技术架构.md</a:t>
            </a:r>
          </a:p>
          <a:p xmlns:a="http://schemas.openxmlformats.org/drawingml/2006/main">
            <a:r>
              <a:t>D:/存在小站/docs/../governance/knowledge-map.json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六问要求同时列出目标改善和原能力不变量。页面速度、任务运行时长、手机布局和少调用接口都要共同守住数据口径、目标覆盖和完整字段。单案例、既有能力与同类范围分别核查。保护性等待不能冒充上游错误扩大熔断。真实目标冲突时说明取舍、降级和恢复条件，不能弱化测试或改变事实掩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D:/存在小站/docs/incidents/INC-0018-IPO资料补全固定8条及多重隐性上限.md</a:t>
            </a:r>
          </a:p>
          <a:p xmlns:a="http://schemas.openxmlformats.org/drawingml/2006/main">
            <a:r>
              <a:t>D:/存在小站/docs/incidents/INC-0006-港币汇率预算等待误熔断.md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模板可用于启动新网站、新增功能和修复。启动时说明用户、核心流程、公开内容、登录私有数据、后台任务、维护语言与资源。要求比较候选技术栈，分别列现在必建、预留边界、以后触发。每次任务固定目标、原能力、验收条件、事实入口与改动范围，再要求链路分析、复用、同类核查、知识更新、门禁与未验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可复制模板：</a:t>
            </a:r>
          </a:p>
          <a:p xmlns:a="http://schemas.openxmlformats.org/drawingml/2006/main">
            <a:r>
              <a:t>我要做【】，主要用户是【】，核心流程是【】。公开内容需求【】，私有数据与后台任务【】，可维护语言与部署资源【】。请比较两个候选架构，明确模块、对象、数据契约、共享样式、验证和发布，分别列必建、预留与后续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目标【】，复现或预期【】，必须保持【】，完成标准【】。先按索引读取并核对代码，说明已有能力、可复用能力和真正缺口。检查来源、数据库、服务、接口、页面、任务、权限和环境。复用公共入口，核查同类与存量影响，更新原权威段落，交付适用检查、实际运行证据和未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新手先确定第一版范围，再把简短规则保存到项目根目录。按任务类型调用相应模板，收尾时保留运行与知识证据。模板来自现有项目流程，参数须替换为自己的真实配置。复制文字不等于自动门禁已实现。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1：新网站启动与最小可用范围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复制给 AI，用于开始一个新项目。增加了需求边界、用户验证和维护成本，避免一开始把全部未来功能都建出来。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我要做一个网站，主要用户是【】，核心使用流程是【】。</a:t>
            </a:r>
          </a:p>
          <a:p xmlns:a="http://schemas.openxmlformats.org/drawingml/2006/main">
            <a:r>
              <a:t>第一版只解决的真实问题：【】。</a:t>
            </a:r>
          </a:p>
          <a:p xmlns:a="http://schemas.openxmlformats.org/drawingml/2006/main">
            <a:r>
              <a:t>第一版明确不包含的功能：【】。</a:t>
            </a:r>
          </a:p>
          <a:p xmlns:a="http://schemas.openxmlformats.org/drawingml/2006/main">
            <a:r>
              <a:t>怎样判断用户确实完成了核心流程：【】。</a:t>
            </a:r>
          </a:p>
          <a:p xmlns:a="http://schemas.openxmlformats.org/drawingml/2006/main">
            <a:r>
              <a:t>公开内容与搜索收录需求：【】。</a:t>
            </a:r>
          </a:p>
          <a:p xmlns:a="http://schemas.openxmlformats.org/drawingml/2006/main">
            <a:r>
              <a:t>登录、用户私有数据、写入与后台任务需求：【】。</a:t>
            </a:r>
          </a:p>
          <a:p xmlns:a="http://schemas.openxmlformats.org/drawingml/2006/main">
            <a:r>
              <a:t>我能维护的语言、可承担的部署方式和资源约束：【】。</a:t>
            </a:r>
          </a:p>
          <a:p xmlns:a="http://schemas.openxmlformats.org/drawingml/2006/main">
            <a:r>
              <a:t>月度费用与运行资源上限：【】。未知费用标为待核验，不编造报价。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先完成这些设计：</a:t>
            </a:r>
          </a:p>
          <a:p xmlns:a="http://schemas.openxmlformats.org/drawingml/2006/main">
            <a:r>
              <a:t>1. 比较两个适合场景的技术栈，说明维护成本并给出选择理由。</a:t>
            </a:r>
          </a:p>
          <a:p xmlns:a="http://schemas.openxmlformats.org/drawingml/2006/main">
            <a:r>
              <a:t>2. 明确前端、API、业务服务、数据访问、来源适配和后台任务的职责。</a:t>
            </a:r>
          </a:p>
          <a:p xmlns:a="http://schemas.openxmlformats.org/drawingml/2006/main">
            <a:r>
              <a:t>3. 定义核心对象、用户归属、字段单位/币种/日期、唯一键和权威写入位置。</a:t>
            </a:r>
          </a:p>
          <a:p xmlns:a="http://schemas.openxmlformats.org/drawingml/2006/main">
            <a:r>
              <a:t>4. 说明首次数据范围、增量、更正、失败保留、缓存与完成判定。</a:t>
            </a:r>
          </a:p>
          <a:p xmlns:a="http://schemas.openxmlformats.org/drawingml/2006/main">
            <a:r>
              <a:t>5. 先做代表性页面及共享组件，统一桌面、手机与状态交互。</a:t>
            </a:r>
          </a:p>
          <a:p xmlns:a="http://schemas.openxmlformats.org/drawingml/2006/main">
            <a:r>
              <a:t>6. 设计一个完整功能的验收，包含正常、失败、重复和权限情况。</a:t>
            </a:r>
          </a:p>
          <a:p xmlns:a="http://schemas.openxmlformats.org/drawingml/2006/main">
            <a:r>
              <a:t>7. 定义配置、迁移、发布、实际运行验收与恢复方式。</a:t>
            </a:r>
          </a:p>
          <a:p xmlns:a="http://schemas.openxmlformats.org/drawingml/2006/main">
            <a:r>
              <a:t>8. 建立简短规则、知识索引和当前架构，给每项知识确定归属。</a:t>
            </a:r>
          </a:p>
          <a:p xmlns:a="http://schemas.openxmlformats.org/drawingml/2006/main">
            <a:r>
              <a:t>9. 列出密钥、个人数据和用户数据隔离要求，以及备份恢复的验证方法。</a:t>
            </a:r>
          </a:p>
          <a:p xmlns:a="http://schemas.openxmlformats.org/drawingml/2006/main">
            <a:r>
              <a:t>10. 先跑通一个核心流程，用实际反馈决定第二批功能。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分别列出现在必须建设、预留边界即可、触发条件出现后再建设的内容。</a:t>
            </a:r>
          </a:p>
          <a:p xmlns:a="http://schemas.openxmlformats.org/drawingml/2006/main">
            <a:r>
              <a:t>先查已有能力，避免平行数据源、任务、计算和样式。</a:t>
            </a:r>
          </a:p>
          <a:p xmlns:a="http://schemas.openxmlformats.org/drawingml/2006/main">
            <a:r>
              <a:t>未知事实写为待核验，不假定架构图已经实现。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模板 2：项目根目录的 AGENTS.md 起步版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把下面整段保存为自己项目的 `AGENTS.md`，填写配置。它是本项目固定规则的精简通用版；数据采集、多用户、后台任务等不存在时，相应规则暂不触发。不要把存在小站已经增长到当前规模的全部规则无差别搬入新项目。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项目研发规则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项目配置</a:t>
            </a:r>
          </a:p>
          <a:p xmlns:a="http://schemas.openxmlformats.org/drawingml/2006/main">
            <a:r>
              <a:t>- 项目根目录：【】；主要语言与运行时：【】。</a:t>
            </a:r>
          </a:p>
          <a:p xmlns:a="http://schemas.openxmlformats.org/drawingml/2006/main">
            <a:r>
              <a:t>- 知识入口：docs/知识索引.md；当前架构：docs/技术架构.md。</a:t>
            </a:r>
          </a:p>
          <a:p xmlns:a="http://schemas.openxmlformats.org/drawingml/2006/main">
            <a:r>
              <a:t>- 机器路由：【路径，或尚未建立，先按知识索引选择章节】。</a:t>
            </a:r>
          </a:p>
          <a:p xmlns:a="http://schemas.openxmlformats.org/drawingml/2006/main">
            <a:r>
              <a:t>- 共享 UI 入口：【】；权威数据写入入口：【】。</a:t>
            </a:r>
          </a:p>
          <a:p xmlns:a="http://schemas.openxmlformats.org/drawingml/2006/main">
            <a:r>
              <a:t>- 业务时区：【】；版本来源：【】。</a:t>
            </a:r>
          </a:p>
          <a:p xmlns:a="http://schemas.openxmlformats.org/drawingml/2006/main">
            <a:r>
              <a:t>- 相关测试：【已存在命令】；全量检查：【已存在命令】。</a:t>
            </a:r>
          </a:p>
          <a:p xmlns:a="http://schemas.openxmlformats.org/drawingml/2006/main">
            <a:r>
              <a:t>- 知识检查：【已存在命令，或人工核对索引、链接和更新范围】。</a:t>
            </a:r>
          </a:p>
          <a:p xmlns:a="http://schemas.openxmlformats.org/drawingml/2006/main">
            <a:r>
              <a:t>- 本地启动/刷新方式：【】；健康接口：【】。</a:t>
            </a:r>
          </a:p>
          <a:p xmlns:a="http://schemas.openxmlformats.org/drawingml/2006/main">
            <a:r>
              <a:t>- 发布流程文档：【】；生产写入的授权边界：【】。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开始任务</a:t>
            </a:r>
          </a:p>
          <a:p xmlns:a="http://schemas.openxmlformats.org/drawingml/2006/main">
            <a:r>
              <a:t>1. 确认项目根、Git 基线和未提交改动，保留其他人的文件。</a:t>
            </a:r>
          </a:p>
          <a:p xmlns:a="http://schemas.openxmlformats.org/drawingml/2006/main">
            <a:r>
              <a:t>2. 先读本规则、知识索引，再按主题读取权威架构与专项文档。</a:t>
            </a:r>
          </a:p>
          <a:p xmlns:a="http://schemas.openxmlformats.org/drawingml/2006/main">
            <a:r>
              <a:t>3. 按实际代码明确已有能力、可复用能力、真正缺口。</a:t>
            </a:r>
          </a:p>
          <a:p xmlns:a="http://schemas.openxmlformats.org/drawingml/2006/main">
            <a:r>
              <a:t>4. 写清本次目标、范围、必须保持的条件和完成标准。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设计与实现</a:t>
            </a:r>
          </a:p>
          <a:p xmlns:a="http://schemas.openxmlformats.org/drawingml/2006/main">
            <a:r>
              <a:t>1. 说明数据源、数据库、服务、接口、页面/任务、权限与环境的影响。</a:t>
            </a:r>
          </a:p>
          <a:p xmlns:a="http://schemas.openxmlformats.org/drawingml/2006/main">
            <a:r>
              <a:t>2. 优先扩展现有采集、写入、计算、调度和共享 UI，避免平行实现。</a:t>
            </a:r>
          </a:p>
          <a:p xmlns:a="http://schemas.openxmlformats.org/drawingml/2006/main">
            <a:r>
              <a:t>3. 每项事实只有一个权威写入位置，保留来源、业务日期和版本。</a:t>
            </a:r>
          </a:p>
          <a:p xmlns:a="http://schemas.openxmlformats.org/drawingml/2006/main">
            <a:r>
              <a:t>4. 失败或未知不能覆盖有效数据，空结果、零值、失败分别处理。</a:t>
            </a:r>
          </a:p>
          <a:p xmlns:a="http://schemas.openxmlformats.org/drawingml/2006/main">
            <a:r>
              <a:t>5. 分批执行须保存剩余进度，未完成工作不得报告成功。</a:t>
            </a:r>
          </a:p>
          <a:p xmlns:a="http://schemas.openxmlformats.org/drawingml/2006/main">
            <a:r>
              <a:t>6. 任务目标日期传入所有阶段，不能被运行机器的当天日期替代。</a:t>
            </a:r>
          </a:p>
          <a:p xmlns:a="http://schemas.openxmlformats.org/drawingml/2006/main">
            <a:r>
              <a:t>7. 用户权限由服务端检查，密钥不进入前端、仓库、文档或日志。</a:t>
            </a:r>
          </a:p>
          <a:p xmlns:a="http://schemas.openxmlformats.org/drawingml/2006/main">
            <a:r>
              <a:t>8. 前端同时考虑桌面、手机、触屏、键盘和加载/空/错/权限状态。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修复问题</a:t>
            </a:r>
          </a:p>
          <a:p xmlns:a="http://schemas.openxmlformats.org/drawingml/2006/main">
            <a:r>
              <a:t>1. 沿完整链路定位根因，同时核查同类对象与同类功能。</a:t>
            </a:r>
          </a:p>
          <a:p xmlns:a="http://schemas.openxmlformats.org/drawingml/2006/main">
            <a:r>
              <a:t>2. 区分代码修复、存量数据修复、运行状态恢复，分别验收。</a:t>
            </a:r>
          </a:p>
          <a:p xmlns:a="http://schemas.openxmlformats.org/drawingml/2006/main">
            <a:r>
              <a:t>3. 保持已验证的业务条件，不能靠删数据或弱化测试获得通过。</a:t>
            </a:r>
          </a:p>
          <a:p xmlns:a="http://schemas.openxmlformats.org/drawingml/2006/main">
            <a:r>
              <a:t>4. 重大或重复问题留下根因、同类范围、回归和恢复证据。</a:t>
            </a:r>
          </a:p>
          <a:p xmlns:a="http://schemas.openxmlformats.org/drawingml/2006/main">
            <a:r>
              <a:t>5. 同类问题第三次出现时，把共性条件升级为通用测试或静态检查。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验证与交付</a:t>
            </a:r>
          </a:p>
          <a:p xmlns:a="http://schemas.openxmlformats.org/drawingml/2006/main">
            <a:r>
              <a:t>1. 执行适用的相关测试和最终检查，记录通过、失败、跳过及版本。</a:t>
            </a:r>
          </a:p>
          <a:p xmlns:a="http://schemas.openxmlformats.org/drawingml/2006/main">
            <a:r>
              <a:t>2. 代码变化后按项目配置刷新本地运行，核对健康、接口和静态资源。</a:t>
            </a:r>
          </a:p>
          <a:p xmlns:a="http://schemas.openxmlformats.org/drawingml/2006/main">
            <a:r>
              <a:t>3. 未实测的生产、视觉、真机和恢复能力明确写未验证。</a:t>
            </a:r>
          </a:p>
          <a:p xmlns:a="http://schemas.openxmlformats.org/drawingml/2006/main">
            <a:r>
              <a:t>4. 按实际改动更新原权威段落，修正替代关系、索引与链接。</a:t>
            </a:r>
          </a:p>
          <a:p xmlns:a="http://schemas.openxmlformats.org/drawingml/2006/main">
            <a:r>
              <a:t>5. 只暂存本任务实际修改的文件，提交前检查暂存清单。</a:t>
            </a:r>
          </a:p>
          <a:p xmlns:a="http://schemas.openxmlformats.org/drawingml/2006/main">
            <a:r>
              <a:t>6. 发布遵循版本记录、验证、提交推送、标准部署、部署后验收。</a:t>
            </a:r>
          </a:p>
          <a:p xmlns:a="http://schemas.openxmlformats.org/drawingml/2006/main">
            <a:r>
              <a:t>7. 生产数据写入须在已有明确授权的范围内执行，不能自行扩大。</a:t>
            </a:r>
          </a:p>
          <a:p xmlns:a="http://schemas.openxmlformats.org/drawingml/2006/main">
            <a:r>
              <a:t>8. 交付说明结果、证据、同类范围、知识变化和剩余事项。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 的 Node 项目可在命令配置中使用 `npm.cmd`；其他环境填写实际命令。项目的端口、分支、服务名称、数据库目录和版本格式也应按自己的环境确定，不能照抄本项目固定值。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起步版是精简通用规则，不复制本项目专用服务器、凭据、目录和服务名。没有机器路由时先按索引选择章节。不存在的命令与检查写尚未建立，先实现再宣称可用。Windows PowerShell 的 npm 使用 npm.cmd，其他环境采用实际命令。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2：项目根目录的 AGENTS.md 起步版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把下面整段保存为自己项目的 `AGENTS.md`，填写配置。它是本项目固定规则的精简通用版；数据采集、多用户、后台任务等不存在时，相应规则暂不触发。不要把存在小站已经增长到当前规模的全部规则无差别搬入新项目。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项目研发规则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项目配置</a:t>
            </a:r>
          </a:p>
          <a:p xmlns:a="http://schemas.openxmlformats.org/drawingml/2006/main">
            <a:r>
              <a:t>- 项目根目录：【】；主要语言与运行时：【】。</a:t>
            </a:r>
          </a:p>
          <a:p xmlns:a="http://schemas.openxmlformats.org/drawingml/2006/main">
            <a:r>
              <a:t>- 知识入口：docs/知识索引.md；当前架构：docs/技术架构.md。</a:t>
            </a:r>
          </a:p>
          <a:p xmlns:a="http://schemas.openxmlformats.org/drawingml/2006/main">
            <a:r>
              <a:t>- 机器路由：【路径，或尚未建立，先按知识索引选择章节】。</a:t>
            </a:r>
          </a:p>
          <a:p xmlns:a="http://schemas.openxmlformats.org/drawingml/2006/main">
            <a:r>
              <a:t>- 共享 UI 入口：【】；权威数据写入入口：【】。</a:t>
            </a:r>
          </a:p>
          <a:p xmlns:a="http://schemas.openxmlformats.org/drawingml/2006/main">
            <a:r>
              <a:t>- 业务时区：【】；版本来源：【】。</a:t>
            </a:r>
          </a:p>
          <a:p xmlns:a="http://schemas.openxmlformats.org/drawingml/2006/main">
            <a:r>
              <a:t>- 相关测试：【已存在命令】；全量检查：【已存在命令】。</a:t>
            </a:r>
          </a:p>
          <a:p xmlns:a="http://schemas.openxmlformats.org/drawingml/2006/main">
            <a:r>
              <a:t>- 知识检查：【已存在命令，或人工核对索引、链接和更新范围】。</a:t>
            </a:r>
          </a:p>
          <a:p xmlns:a="http://schemas.openxmlformats.org/drawingml/2006/main">
            <a:r>
              <a:t>- 本地启动/刷新方式：【】；健康接口：【】。</a:t>
            </a:r>
          </a:p>
          <a:p xmlns:a="http://schemas.openxmlformats.org/drawingml/2006/main">
            <a:r>
              <a:t>- 发布流程文档：【】；生产写入的授权边界：【】。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开始任务</a:t>
            </a:r>
          </a:p>
          <a:p xmlns:a="http://schemas.openxmlformats.org/drawingml/2006/main">
            <a:r>
              <a:t>1. 确认项目根、Git 基线和未提交改动，保留其他人的文件。</a:t>
            </a:r>
          </a:p>
          <a:p xmlns:a="http://schemas.openxmlformats.org/drawingml/2006/main">
            <a:r>
              <a:t>2. 先读本规则、知识索引，再按主题读取权威架构与专项文档。</a:t>
            </a:r>
          </a:p>
          <a:p xmlns:a="http://schemas.openxmlformats.org/drawingml/2006/main">
            <a:r>
              <a:t>3. 按实际代码明确已有能力、可复用能力、真正缺口。</a:t>
            </a:r>
          </a:p>
          <a:p xmlns:a="http://schemas.openxmlformats.org/drawingml/2006/main">
            <a:r>
              <a:t>4. 写清本次目标、范围、必须保持的条件和完成标准。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设计与实现</a:t>
            </a:r>
          </a:p>
          <a:p xmlns:a="http://schemas.openxmlformats.org/drawingml/2006/main">
            <a:r>
              <a:t>1. 说明数据源、数据库、服务、接口、页面/任务、权限与环境的影响。</a:t>
            </a:r>
          </a:p>
          <a:p xmlns:a="http://schemas.openxmlformats.org/drawingml/2006/main">
            <a:r>
              <a:t>2. 优先扩展现有采集、写入、计算、调度和共享 UI，避免平行实现。</a:t>
            </a:r>
          </a:p>
          <a:p xmlns:a="http://schemas.openxmlformats.org/drawingml/2006/main">
            <a:r>
              <a:t>3. 每项事实只有一个权威写入位置，保留来源、业务日期和版本。</a:t>
            </a:r>
          </a:p>
          <a:p xmlns:a="http://schemas.openxmlformats.org/drawingml/2006/main">
            <a:r>
              <a:t>4. 失败或未知不能覆盖有效数据，空结果、零值、失败分别处理。</a:t>
            </a:r>
          </a:p>
          <a:p xmlns:a="http://schemas.openxmlformats.org/drawingml/2006/main">
            <a:r>
              <a:t>5. 分批执行须保存剩余进度，未完成工作不得报告成功。</a:t>
            </a:r>
          </a:p>
          <a:p xmlns:a="http://schemas.openxmlformats.org/drawingml/2006/main">
            <a:r>
              <a:t>6. 任务目标日期传入所有阶段，不能被运行机器的当天日期替代。</a:t>
            </a:r>
          </a:p>
          <a:p xmlns:a="http://schemas.openxmlformats.org/drawingml/2006/main">
            <a:r>
              <a:t>7. 用户权限由服务端检查，密钥不进入前端、仓库、文档或日志。</a:t>
            </a:r>
          </a:p>
          <a:p xmlns:a="http://schemas.openxmlformats.org/drawingml/2006/main">
            <a:r>
              <a:t>8. 前端同时考虑桌面、手机、触屏、键盘和加载/空/错/权限状态。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修复问题</a:t>
            </a:r>
          </a:p>
          <a:p xmlns:a="http://schemas.openxmlformats.org/drawingml/2006/main">
            <a:r>
              <a:t>1. 沿完整链路定位根因，同时核查同类对象与同类功能。</a:t>
            </a:r>
          </a:p>
          <a:p xmlns:a="http://schemas.openxmlformats.org/drawingml/2006/main">
            <a:r>
              <a:t>2. 区分代码修复、存量数据修复、运行状态恢复，分别验收。</a:t>
            </a:r>
          </a:p>
          <a:p xmlns:a="http://schemas.openxmlformats.org/drawingml/2006/main">
            <a:r>
              <a:t>3. 保持已验证的业务条件，不能靠删数据或弱化测试获得通过。</a:t>
            </a:r>
          </a:p>
          <a:p xmlns:a="http://schemas.openxmlformats.org/drawingml/2006/main">
            <a:r>
              <a:t>4. 重大或重复问题留下根因、同类范围、回归和恢复证据。</a:t>
            </a:r>
          </a:p>
          <a:p xmlns:a="http://schemas.openxmlformats.org/drawingml/2006/main">
            <a:r>
              <a:t>5. 同类问题第三次出现时，把共性条件升级为通用测试或静态检查。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验证与交付</a:t>
            </a:r>
          </a:p>
          <a:p xmlns:a="http://schemas.openxmlformats.org/drawingml/2006/main">
            <a:r>
              <a:t>1. 执行适用的相关测试和最终检查，记录通过、失败、跳过及版本。</a:t>
            </a:r>
          </a:p>
          <a:p xmlns:a="http://schemas.openxmlformats.org/drawingml/2006/main">
            <a:r>
              <a:t>2. 代码变化后按项目配置刷新本地运行，核对健康、接口和静态资源。</a:t>
            </a:r>
          </a:p>
          <a:p xmlns:a="http://schemas.openxmlformats.org/drawingml/2006/main">
            <a:r>
              <a:t>3. 未实测的生产、视觉、真机和恢复能力明确写未验证。</a:t>
            </a:r>
          </a:p>
          <a:p xmlns:a="http://schemas.openxmlformats.org/drawingml/2006/main">
            <a:r>
              <a:t>4. 按实际改动更新原权威段落，修正替代关系、索引与链接。</a:t>
            </a:r>
          </a:p>
          <a:p xmlns:a="http://schemas.openxmlformats.org/drawingml/2006/main">
            <a:r>
              <a:t>5. 只暂存本任务实际修改的文件，提交前检查暂存清单。</a:t>
            </a:r>
          </a:p>
          <a:p xmlns:a="http://schemas.openxmlformats.org/drawingml/2006/main">
            <a:r>
              <a:t>6. 发布遵循版本记录、验证、提交推送、标准部署、部署后验收。</a:t>
            </a:r>
          </a:p>
          <a:p xmlns:a="http://schemas.openxmlformats.org/drawingml/2006/main">
            <a:r>
              <a:t>7. 生产数据写入须在已有明确授权的范围内执行，不能自行扩大。</a:t>
            </a:r>
          </a:p>
          <a:p xmlns:a="http://schemas.openxmlformats.org/drawingml/2006/main">
            <a:r>
              <a:t>8. 交付说明结果、证据、同类范围、知识变化和剩余事项。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PowerShell 的 Node 项目可在命令配置中使用 `npm.cmd`；其他环境填写实际命令。项目的端口、分支、服务名称、数据库目录和版本格式也应按自己的环境确定，不能照抄本项目固定值。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1 将真实用户流程、第一版排除范围、费用与维护能力纳入起步决策。模板 3 要求读权威入口并核对代码。能明确已有能力、可复用能力、真正缺口后再设计，新增平行链路须有理由。验收应同时保持原能力与本次改善。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1：新网站启动与最小可用范围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复制给 AI，用于开始一个新项目。增加了需求边界、用户验证和维护成本，避免一开始把全部未来功能都建出来。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我要做一个网站，主要用户是【】，核心使用流程是【】。</a:t>
            </a:r>
          </a:p>
          <a:p xmlns:a="http://schemas.openxmlformats.org/drawingml/2006/main">
            <a:r>
              <a:t>第一版只解决的真实问题：【】。</a:t>
            </a:r>
          </a:p>
          <a:p xmlns:a="http://schemas.openxmlformats.org/drawingml/2006/main">
            <a:r>
              <a:t>第一版明确不包含的功能：【】。</a:t>
            </a:r>
          </a:p>
          <a:p xmlns:a="http://schemas.openxmlformats.org/drawingml/2006/main">
            <a:r>
              <a:t>怎样判断用户确实完成了核心流程：【】。</a:t>
            </a:r>
          </a:p>
          <a:p xmlns:a="http://schemas.openxmlformats.org/drawingml/2006/main">
            <a:r>
              <a:t>公开内容与搜索收录需求：【】。</a:t>
            </a:r>
          </a:p>
          <a:p xmlns:a="http://schemas.openxmlformats.org/drawingml/2006/main">
            <a:r>
              <a:t>登录、用户私有数据、写入与后台任务需求：【】。</a:t>
            </a:r>
          </a:p>
          <a:p xmlns:a="http://schemas.openxmlformats.org/drawingml/2006/main">
            <a:r>
              <a:t>我能维护的语言、可承担的部署方式和资源约束：【】。</a:t>
            </a:r>
          </a:p>
          <a:p xmlns:a="http://schemas.openxmlformats.org/drawingml/2006/main">
            <a:r>
              <a:t>月度费用与运行资源上限：【】。未知费用标为待核验，不编造报价。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先完成这些设计：</a:t>
            </a:r>
          </a:p>
          <a:p xmlns:a="http://schemas.openxmlformats.org/drawingml/2006/main">
            <a:r>
              <a:t>1. 比较两个适合场景的技术栈，说明维护成本并给出选择理由。</a:t>
            </a:r>
          </a:p>
          <a:p xmlns:a="http://schemas.openxmlformats.org/drawingml/2006/main">
            <a:r>
              <a:t>2. 明确前端、API、业务服务、数据访问、来源适配和后台任务的职责。</a:t>
            </a:r>
          </a:p>
          <a:p xmlns:a="http://schemas.openxmlformats.org/drawingml/2006/main">
            <a:r>
              <a:t>3. 定义核心对象、用户归属、字段单位/币种/日期、唯一键和权威写入位置。</a:t>
            </a:r>
          </a:p>
          <a:p xmlns:a="http://schemas.openxmlformats.org/drawingml/2006/main">
            <a:r>
              <a:t>4. 说明首次数据范围、增量、更正、失败保留、缓存与完成判定。</a:t>
            </a:r>
          </a:p>
          <a:p xmlns:a="http://schemas.openxmlformats.org/drawingml/2006/main">
            <a:r>
              <a:t>5. 先做代表性页面及共享组件，统一桌面、手机与状态交互。</a:t>
            </a:r>
          </a:p>
          <a:p xmlns:a="http://schemas.openxmlformats.org/drawingml/2006/main">
            <a:r>
              <a:t>6. 设计一个完整功能的验收，包含正常、失败、重复和权限情况。</a:t>
            </a:r>
          </a:p>
          <a:p xmlns:a="http://schemas.openxmlformats.org/drawingml/2006/main">
            <a:r>
              <a:t>7. 定义配置、迁移、发布、实际运行验收与恢复方式。</a:t>
            </a:r>
          </a:p>
          <a:p xmlns:a="http://schemas.openxmlformats.org/drawingml/2006/main">
            <a:r>
              <a:t>8. 建立简短规则、知识索引和当前架构，给每项知识确定归属。</a:t>
            </a:r>
          </a:p>
          <a:p xmlns:a="http://schemas.openxmlformats.org/drawingml/2006/main">
            <a:r>
              <a:t>9. 列出密钥、个人数据和用户数据隔离要求，以及备份恢复的验证方法。</a:t>
            </a:r>
          </a:p>
          <a:p xmlns:a="http://schemas.openxmlformats.org/drawingml/2006/main">
            <a:r>
              <a:t>10. 先跑通一个核心流程，用实际反馈决定第二批功能。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分别列出现在必须建设、预留边界即可、触发条件出现后再建设的内容。</a:t>
            </a:r>
          </a:p>
          <a:p xmlns:a="http://schemas.openxmlformats.org/drawingml/2006/main">
            <a:r>
              <a:t>先查已有能力，避免平行数据源、任务、计算和样式。</a:t>
            </a:r>
          </a:p>
          <a:p xmlns:a="http://schemas.openxmlformats.org/drawingml/2006/main">
            <a:r>
              <a:t>未知事实写为待核验，不假定架构图已经实现。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模板 3：新增功能的设计与实施门禁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复制给 AI，用于功能开始前和实施过程中。它把“先核对现状再设计”落实为具体输出。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本次目标：【】。</a:t>
            </a:r>
          </a:p>
          <a:p xmlns:a="http://schemas.openxmlformats.org/drawingml/2006/main">
            <a:r>
              <a:t>复现案例或预期行为：【】。</a:t>
            </a:r>
          </a:p>
          <a:p xmlns:a="http://schemas.openxmlformats.org/drawingml/2006/main">
            <a:r>
              <a:t>必须保持的原能力与业务条件：【】。</a:t>
            </a:r>
          </a:p>
          <a:p xmlns:a="http://schemas.openxmlformats.org/drawingml/2006/main">
            <a:r>
              <a:t>完成标准：【】。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请先读知识索引，按主题读取权威文档，并核对当前代码。</a:t>
            </a:r>
          </a:p>
          <a:p xmlns:a="http://schemas.openxmlformats.org/drawingml/2006/main">
            <a:r>
              <a:t>先说明已有能力、可复用能力、真正缺口。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给出本次涉及的链路：</a:t>
            </a:r>
          </a:p>
          <a:p xmlns:a="http://schemas.openxmlformats.org/drawingml/2006/main">
            <a:r>
              <a:t>数据源 → 数据库 → 服务/计算 → 接口 → 页面/任务 → 权限与环境。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实施要求：</a:t>
            </a:r>
          </a:p>
          <a:p xmlns:a="http://schemas.openxmlformats.org/drawingml/2006/main">
            <a:r>
              <a:t>- 优先扩展现有公共入口；新增入口说明原因。</a:t>
            </a:r>
          </a:p>
          <a:p xmlns:a="http://schemas.openxmlformats.org/drawingml/2006/main">
            <a:r>
              <a:t>- 修复公共根因，核查同类对象，判断存量数据与运行状态。</a:t>
            </a:r>
          </a:p>
          <a:p xmlns:a="http://schemas.openxmlformats.org/drawingml/2006/main">
            <a:r>
              <a:t>- 同时验证目标改善和原有不变量。</a:t>
            </a:r>
          </a:p>
          <a:p xmlns:a="http://schemas.openxmlformats.org/drawingml/2006/main">
            <a:r>
              <a:t>- 修改当前权威段落，避免重复追加历史流水。</a:t>
            </a:r>
          </a:p>
          <a:p xmlns:a="http://schemas.openxmlformats.org/drawingml/2006/main">
            <a:r>
              <a:t>- 完成适用的项目检查和实际运行验收；未验证项明确保留。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交付说明：</a:t>
            </a:r>
          </a:p>
          <a:p xmlns:a="http://schemas.openxmlformats.org/drawingml/2006/main">
            <a:r>
              <a:t>改了什么、为什么有效、核查范围、验证证据、仍未完成什么。</a:t>
            </a:r>
          </a:p>
          <a:p xmlns:a="http://schemas.openxmlformats.org/drawingml/2006/main">
            <a:r>
              <a:t>若要多 Agent 并行，先固定共同契约、基线和各自写入范围，由一个集成者收尾。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**放行条件：** 能指出复用入口、实际缺口、影响范围和验收方法。若仍不知道原数据从哪里来、谁写入、任务怎样运行，就先完成调查，不能靠新建另一条链路跳过问题。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单个对象是定位样本，修复范围按公共根因确定。代码、存量数据、缓存和实际运行状态分别处理。同类核查要有集合、数量和异常去向。重大或重复问题留下根因及恢复证据，同类第三次出现升级为通用检查。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4：Bug 根因、同类范围与防复发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用户指出一个对象时，就把它当定位样本。不要把“这一条显示正常”作为整项任务的结束条件。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问题样本：【】；期望与实际：【】；复现环境与版本：【】。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请按以下顺序处理：</a:t>
            </a:r>
          </a:p>
          <a:p xmlns:a="http://schemas.openxmlformats.org/drawingml/2006/main">
            <a:r>
              <a:t>1. 保存复现依据，确认数据日期、对象身份、账号权限和运行版本。</a:t>
            </a:r>
          </a:p>
          <a:p xmlns:a="http://schemas.openxmlformats.org/drawingml/2006/main">
            <a:r>
              <a:t>2. 逐层核对数据源、原始记录、标准事实、服务计算、接口响应、</a:t>
            </a:r>
          </a:p>
          <a:p xmlns:a="http://schemas.openxmlformats.org/drawingml/2006/main">
            <a:r>
              <a:t>   页面展示及实际进程，定位最早发生偏差的位置。</a:t>
            </a:r>
          </a:p>
          <a:p xmlns:a="http://schemas.openxmlformats.org/drawingml/2006/main">
            <a:r>
              <a:t>3. 区分直接原因、根本原因、原保护机制为什么没有拦住。</a:t>
            </a:r>
          </a:p>
          <a:p xmlns:a="http://schemas.openxmlformats.org/drawingml/2006/main">
            <a:r>
              <a:t>4. 查询相同根因可能影响的其他对象、页面和任务，明确集合与数量。</a:t>
            </a:r>
          </a:p>
          <a:p xmlns:a="http://schemas.openxmlformats.org/drawingml/2006/main">
            <a:r>
              <a:t>5. 修复公共根因；分别说明代码、存量数据、缓存和运行状态如何处理。</a:t>
            </a:r>
          </a:p>
          <a:p xmlns:a="http://schemas.openxmlformats.org/drawingml/2006/main">
            <a:r>
              <a:t>6. 验证本次样本、相关正常流程、旧反例和同类集合。</a:t>
            </a:r>
          </a:p>
          <a:p xmlns:a="http://schemas.openxmlformats.org/drawingml/2006/main">
            <a:r>
              <a:t>7. 重大或重复问题更新事故记录，绑定回归证据和真实剩余缺口。</a:t>
            </a:r>
          </a:p>
          <a:p xmlns:a="http://schemas.openxmlformats.org/drawingml/2006/main">
            <a:r>
              <a:t>8. 第三次同类问题出现时，增加通用不变量检查，不能只补第三个特例。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交付：核查集合、通过数量、失败数量、未核验数量、异常去向。</a:t>
            </a:r>
          </a:p>
          <a:p xmlns:a="http://schemas.openxmlformats.org/drawingml/2006/main">
            <a:r>
              <a:t>如没有权限或环境完成其中一项，保留为未完成，不报告全部恢复。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**放行条件：** 根因有链路证据，同类核查有明确范围，恢复证据对应实际对象和数据日期。代码已修好但历史错值尚未修复，应分别报告。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D:\存在小站\docs\incidents\README.md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5 固定单一入口、增量、失败保留、目标日传递、剩余进度及阶段质量。简单项目不必预建完整数据集注册表，但应保证重复不重复写入、中断可续跑、坏数据不覆盖有效事实。未知接口额度不能编造。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5：数据接入、后台任务与完成判定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适用于有外部 API、导入、公告或后台计算的网站。模板复用了本项目“单一采集入口、增量、失败保留、持续续跑、数据质量”的固定规则。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新增或调整的数据能力：【】。</a:t>
            </a:r>
          </a:p>
          <a:p xmlns:a="http://schemas.openxmlformats.org/drawingml/2006/main">
            <a:r>
              <a:t>先核对已有数据源适配器、事实表、采集入口、任务 Runner 与消费者。</a:t>
            </a:r>
          </a:p>
          <a:p xmlns:a="http://schemas.openxmlformats.org/drawingml/2006/main">
            <a:r>
              <a:t>不能承载时，说明原因和新增范围。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数据契约：</a:t>
            </a:r>
          </a:p>
          <a:p xmlns:a="http://schemas.openxmlformats.org/drawingml/2006/main">
            <a:r>
              <a:t>- 对象身份与用户归属：【】。</a:t>
            </a:r>
          </a:p>
          <a:p xmlns:a="http://schemas.openxmlformats.org/drawingml/2006/main">
            <a:r>
              <a:t>- 来源证据、字段单位/币种、业务日期与时区：【】。</a:t>
            </a:r>
          </a:p>
          <a:p xmlns:a="http://schemas.openxmlformats.org/drawingml/2006/main">
            <a:r>
              <a:t>- 正式列、原始响应/文件、解析或计算版本：【】。</a:t>
            </a:r>
          </a:p>
          <a:p xmlns:a="http://schemas.openxmlformats.org/drawingml/2006/main">
            <a:r>
              <a:t>- 唯一键、去重方式、索引、质量条件：【】。</a:t>
            </a:r>
          </a:p>
          <a:p xmlns:a="http://schemas.openxmlformats.org/drawingml/2006/main">
            <a:r>
              <a:t>- 首次全量范围、日常增量、重叠窗口、更正与缺口检查：【】。</a:t>
            </a:r>
          </a:p>
          <a:p xmlns:a="http://schemas.openxmlformats.org/drawingml/2006/main">
            <a:r>
              <a:t>- 缓存有效期、失败保留和定点重试方式：【】。</a:t>
            </a:r>
          </a:p>
          <a:p xmlns:a="http://schemas.openxmlformats.org/drawingml/2006/main">
            <a:r>
              <a:t>- 官方接口限制及依据：【已核实值或未知】。未知不能自行编造额度。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执行契约：</a:t>
            </a:r>
          </a:p>
          <a:p xmlns:a="http://schemas.openxmlformats.org/drawingml/2006/main">
            <a:r>
              <a:t>- 自动、人工补跑和启动补偿共用入口：【】。</a:t>
            </a:r>
          </a:p>
          <a:p xmlns:a="http://schemas.openxmlformats.org/drawingml/2006/main">
            <a:r>
              <a:t>- 目标业务日由哪里传入、适用对象如何筛选：【】。</a:t>
            </a:r>
          </a:p>
          <a:p xmlns:a="http://schemas.openxmlformats.org/drawingml/2006/main">
            <a:r>
              <a:t>- 每个模式/阶段的产出、依赖数据分区与质量条件：【】。</a:t>
            </a:r>
          </a:p>
          <a:p xmlns:a="http://schemas.openxmlformats.org/drawingml/2006/main">
            <a:r>
              <a:t>- 批次止损、剩余队列/游标、剩余数量与续跑时间：【】。</a:t>
            </a:r>
          </a:p>
          <a:p xmlns:a="http://schemas.openxmlformats.org/drawingml/2006/main">
            <a:r>
              <a:t>- 已核实无新增、失败无数据、部分完成、完全完成如何区分：【】。</a:t>
            </a:r>
          </a:p>
          <a:p xmlns:a="http://schemas.openxmlformats.org/drawingml/2006/main">
            <a:r>
              <a:t>- 告警作用域及恢复所需的新成功/质量证据：【】。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必须验证：</a:t>
            </a:r>
          </a:p>
          <a:p xmlns:a="http://schemas.openxmlformats.org/drawingml/2006/main">
            <a:r>
              <a:t>1. 页面读取和普通刷新不重复联网。</a:t>
            </a:r>
          </a:p>
          <a:p xmlns:a="http://schemas.openxmlformats.org/drawingml/2006/main">
            <a:r>
              <a:t>2. 重复执行不重复入库，失败不覆盖上一份有效事实。</a:t>
            </a:r>
          </a:p>
          <a:p xmlns:a="http://schemas.openxmlformats.org/drawingml/2006/main">
            <a:r>
              <a:t>3. 缺页、部分失败与分批止损保留未完成状态和剩余工作。</a:t>
            </a:r>
          </a:p>
          <a:p xmlns:a="http://schemas.openxmlformats.org/drawingml/2006/main">
            <a:r>
              <a:t>4. 游标不因失败前进，也不因补旧数据回退较新的成功水位。</a:t>
            </a:r>
          </a:p>
          <a:p xmlns:a="http://schemas.openxmlformats.org/drawingml/2006/main">
            <a:r>
              <a:t>5. 所有本阶段声明的产出日期正确、质量通过后才允许成功。</a:t>
            </a:r>
          </a:p>
          <a:p xmlns:a="http://schemas.openxmlformats.org/drawingml/2006/main">
            <a:r>
              <a:t>6. 恢复只关闭实际匹配的告警，空查询或普通成功不能冒充质量恢复。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小项目不必一开始建立本项目完整的数据集注册表，但上述完成条件仍要表达在任务结果和测试里。中断后还能接着做、错误数据不会覆盖好数据，应从第一条重要采集链路开始保证。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D:\存在小站\governance\rule-traceability.json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共享前端规则与桌面手机同步完成。44px 操作区域、16px 输入字体以及 760/900px 分界是本项目设计基线，新项目应明确是否沿用。自动行为、浏览器布局与真机验收分别记录，静态检查不能当作真机证据。遵守任务的性能和浏览器限制。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6：统一前端与移动端验收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这份可以与代表性页面、共享样式一起交给 AI。数值采用本项目已固定的设计基线，复制到新项目时应明确是否沿用。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本次页面/组件：【】；代表性页面与共享实现：【】。</a:t>
            </a:r>
          </a:p>
          <a:p xmlns:a="http://schemas.openxmlformats.org/drawingml/2006/main">
            <a:r>
              <a:t>共享样式/组件负责公共规则，业务文件只保留字段与页面差异。</a:t>
            </a:r>
          </a:p>
          <a:p xmlns:a="http://schemas.openxmlformats.org/drawingml/2006/main">
            <a:r>
              <a:t>沿用正文分界 760px、导航分界 900px，或说明本项目另定的统一分界。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同时完成：</a:t>
            </a:r>
          </a:p>
          <a:p xmlns:a="http://schemas.openxmlformats.org/drawingml/2006/main">
            <a:r>
              <a:t>- 桌面与手机重排，宽表/密集图表仅在各自容器内横滑。</a:t>
            </a:r>
          </a:p>
          <a:p xmlns:a="http://schemas.openxmlformats.org/drawingml/2006/main">
            <a:r>
              <a:t>- 完整字段、权限、计算口径与取数链路保持一致。</a:t>
            </a:r>
          </a:p>
          <a:p xmlns:a="http://schemas.openxmlformats.org/drawingml/2006/main">
            <a:r>
              <a:t>- 交互目标至少 44px、输入字号 16px，不只依赖鼠标悬停。</a:t>
            </a:r>
          </a:p>
          <a:p xmlns:a="http://schemas.openxmlformats.org/drawingml/2006/main">
            <a:r>
              <a:t>- 加载、空数据、失败、无权限和过期状态使用公共规范。</a:t>
            </a:r>
          </a:p>
          <a:p xmlns:a="http://schemas.openxmlformats.org/drawingml/2006/main">
            <a:r>
              <a:t>- 菜单展开、旋转和图表点按不产生额外采集。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验收记录：</a:t>
            </a:r>
          </a:p>
          <a:p xmlns:a="http://schemas.openxmlformats.org/drawingml/2006/main">
            <a:r>
              <a:t>- 320/360/390/430/768/1024/1440px 与 760/900px 分界。</a:t>
            </a:r>
          </a:p>
          <a:p xmlns:a="http://schemas.openxmlformats.org/drawingml/2006/main">
            <a:r>
              <a:t>- 触屏、键盘、表格滚动、弹窗、桌面回归与原权限。</a:t>
            </a:r>
          </a:p>
          <a:p xmlns:a="http://schemas.openxmlformats.org/drawingml/2006/main">
            <a:r>
              <a:t>- 自动行为测试、浏览器布局检查、真机检查分别记结果。</a:t>
            </a:r>
          </a:p>
          <a:p xmlns:a="http://schemas.openxmlformats.org/drawingml/2006/main">
            <a:r>
              <a:t>- 有低性能或浏览器限制时先执行允许的检查，其余标为未验证。</a:t>
            </a:r>
          </a:p>
          <a:p xmlns:a="http://schemas.openxmlformats.org/drawingml/2006/main">
            <a:r>
              <a:t>- iOS Safari、Android Chrome、微信内置浏览器仅在实际测过后写通过。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静态检查能发现部分结构问题，不能证明手机上实际好用；视觉检查也不能证明没有重复联网或越权，几类证据要分别保留。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7 定义触发、检查、通过证据和失败处理。登记规则 ID、实现符号、反例测试和交付入口。通过故意违反规则的最小例子验证非零失败，再修正例子验证通过。只有提醒或尚未接入时，不称自动门禁已完成。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7：把“提醒 AI”变成可执行的自动门禁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这是复制流程时最容易漏的一步。只有 `AGENTS.md` 文字，AI 仍可能忘记；检查脚本能够返回失败，并接入测试或 CI，才会阻止相应错误继续流转。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要固定的规则：【用业务条件描述，不写某个补丁的内部写法】。</a:t>
            </a:r>
          </a:p>
          <a:p xmlns:a="http://schemas.openxmlformats.org/drawingml/2006/main">
            <a:r>
              <a:t>过去导致的错误：【】；适用的同类范围：【】。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请先检索现有检查，优先扩展原入口，然后登记：</a:t>
            </a:r>
          </a:p>
          <a:p xmlns:a="http://schemas.openxmlformats.org/drawingml/2006/main">
            <a:r>
              <a:t>- 规则 ID 和权威位置：【】。</a:t>
            </a:r>
          </a:p>
          <a:p xmlns:a="http://schemas.openxmlformats.org/drawingml/2006/main">
            <a:r>
              <a:t>- 触发条件、受保护的不变量：【】。</a:t>
            </a:r>
          </a:p>
          <a:p xmlns:a="http://schemas.openxmlformats.org/drawingml/2006/main">
            <a:r>
              <a:t>- 当前状态：【仅文字约束 / 已实现待接入 / 已接入待验证 / 已验证】。</a:t>
            </a:r>
          </a:p>
          <a:p xmlns:a="http://schemas.openxmlformats.org/drawingml/2006/main">
            <a:r>
              <a:t>- 实现文件与函数/检查符号：【】。</a:t>
            </a:r>
          </a:p>
          <a:p xmlns:a="http://schemas.openxmlformats.org/drawingml/2006/main">
            <a:r>
              <a:t>- 正常、失败、边界和旧反例测试：【】。</a:t>
            </a:r>
          </a:p>
          <a:p xmlns:a="http://schemas.openxmlformats.org/drawingml/2006/main">
            <a:r>
              <a:t>- 本地执行命令、CI/交付执行入口：【】。</a:t>
            </a:r>
          </a:p>
          <a:p xmlns:a="http://schemas.openxmlformats.org/drawingml/2006/main">
            <a:r>
              <a:t>- 失败时的退出码、提示与阻断阶段：【】。</a:t>
            </a:r>
          </a:p>
          <a:p xmlns:a="http://schemas.openxmlformats.org/drawingml/2006/main">
            <a:r>
              <a:t>- 负责人、最后验证日期与提交/结果证据：【】。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验收：故意构造一个违反规则的最小例子，检查必须失败；</a:t>
            </a:r>
          </a:p>
          <a:p xmlns:a="http://schemas.openxmlformats.org/drawingml/2006/main">
            <a:r>
              <a:t>修正例子后检查必须通过，并确认最终交付入口真的执行了它。</a:t>
            </a:r>
          </a:p>
          <a:p xmlns:a="http://schemas.openxmlformats.org/drawingml/2006/main">
            <a:r>
              <a:t>测试不能通过删除断言、吞掉异常或把失败改成零退出码来放行。</a:t>
            </a:r>
          </a:p>
          <a:p xmlns:a="http://schemas.openxmlformats.org/drawingml/2006/main">
            <a:r>
              <a:t>没有脚本或未接入时保留待补齐，不得宣称自动门禁已完成。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本项目可供参考的真实入口如下。此表确认的是仓库中存在的实现与接入方式，**不表示本轮重新执行了全部测试或 CI**，也不表示新项目复制文档后便获得这些能力。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门禁 | 本项目已有入口 | 新手怎样迁移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知识与版本同步 | `scripts/check-knowledge.js`、`npm.cmd run check:knowledge`；校验入口、路由、版本文件、任务矩阵与部分治理实现门槛 | 先按自己目录和版本规则实现，不直接照搬业务专属检查 |</a:t>
            </a:r>
          </a:p>
          <a:p xmlns:a="http://schemas.openxmlformats.org/drawingml/2006/main">
            <a:r>
              <a:t>| 日期边界 | `scripts/check-date-boundary.js`、`npm.cmd run check:date`，及日期相关测试 | 检查本项目业务时区、DATE 类型和目标日期传递，不能硬套其他市场时区 |</a:t>
            </a:r>
          </a:p>
          <a:p xmlns:a="http://schemas.openxmlformats.org/drawingml/2006/main">
            <a:r>
              <a:t>| 统一回归 | `server/test/run-all.js`、`npm.cmd run test:all`；独立测试库、Node/Python 测试、CI 模式关键测试跳过视为失败 | 接入自己的相关测试并隔离数据，跳过项单独报告 |</a:t>
            </a:r>
          </a:p>
          <a:p xmlns:a="http://schemas.openxmlformats.org/drawingml/2006/main">
            <a:r>
              <a:t>| 共享前端与资源版本 | `mobile-frontend.test.js`、`versioned-static-pages.test.js` 等纳入统一测试入口 | 用自己的共享组件和代表性页面建立行为检查，再补实际布局验收 |</a:t>
            </a:r>
          </a:p>
          <a:p xmlns:a="http://schemas.openxmlformats.org/drawingml/2006/main">
            <a:r>
              <a:t>| 数据与任务规则追踪 | `governance/rule-traceability.json`、任务矩阵生成器、任务保护与编排回归 | 为真正需要保护的规则登记实现和测试，复杂任务出现后再引入矩阵 |</a:t>
            </a:r>
          </a:p>
          <a:p xmlns:a="http://schemas.openxmlformats.org/drawingml/2006/main">
            <a:r>
              <a:t>| CI 基础检查与安全 | `.github/workflows/ci.yml`：语法、JSON、全量测试、知识检查、依赖审计及秘密扫描 | 按自己的语言、依赖、测试环境和威胁范围调整；扫描未命中不能证明没有泄露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 CI 的外部行情合约测试是非阻断步骤，网络或来源异常不能算验证通过。知识门禁也不能自动判断每句话是否仍符合现实。这些边界需要在交付中说明。[检查实现](../scripts/check-knowledge.js)、[测试入口](../server/test/run-all.js)、[CI 配置](../.github/workflows/ci.yml)、[规则追踪](../governance/rule-traceability.json)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新项目先核对 `package.json` 的 `scripts`，再填写命令。可以建立相同的 `check:knowledge` / `test:all` 名称，但必须先有真实实现；不要只复制命令后让 AI 输出“通过”。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仓库已存在以下脚本、回归和 CI 接入，此页是实现目录，不代表本次重新执行了全部测试与 CI。知识脚本检查路由、版本、矩阵与部分最低实现门槛，无法自动裁决所有文档语义。CI 外部行情合约测试非阻断，不能算必过验证。秘密扫描也不构成无泄露证明。新项目须按自己的结构实现，不能只复制命令。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7：把“提醒 AI”变成可执行的自动门禁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这是复制流程时最容易漏的一步。只有 `AGENTS.md` 文字，AI 仍可能忘记；检查脚本能够返回失败，并接入测试或 CI，才会阻止相应错误继续流转。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要固定的规则：【用业务条件描述，不写某个补丁的内部写法】。</a:t>
            </a:r>
          </a:p>
          <a:p xmlns:a="http://schemas.openxmlformats.org/drawingml/2006/main">
            <a:r>
              <a:t>过去导致的错误：【】；适用的同类范围：【】。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请先检索现有检查，优先扩展原入口，然后登记：</a:t>
            </a:r>
          </a:p>
          <a:p xmlns:a="http://schemas.openxmlformats.org/drawingml/2006/main">
            <a:r>
              <a:t>- 规则 ID 和权威位置：【】。</a:t>
            </a:r>
          </a:p>
          <a:p xmlns:a="http://schemas.openxmlformats.org/drawingml/2006/main">
            <a:r>
              <a:t>- 触发条件、受保护的不变量：【】。</a:t>
            </a:r>
          </a:p>
          <a:p xmlns:a="http://schemas.openxmlformats.org/drawingml/2006/main">
            <a:r>
              <a:t>- 当前状态：【仅文字约束 / 已实现待接入 / 已接入待验证 / 已验证】。</a:t>
            </a:r>
          </a:p>
          <a:p xmlns:a="http://schemas.openxmlformats.org/drawingml/2006/main">
            <a:r>
              <a:t>- 实现文件与函数/检查符号：【】。</a:t>
            </a:r>
          </a:p>
          <a:p xmlns:a="http://schemas.openxmlformats.org/drawingml/2006/main">
            <a:r>
              <a:t>- 正常、失败、边界和旧反例测试：【】。</a:t>
            </a:r>
          </a:p>
          <a:p xmlns:a="http://schemas.openxmlformats.org/drawingml/2006/main">
            <a:r>
              <a:t>- 本地执行命令、CI/交付执行入口：【】。</a:t>
            </a:r>
          </a:p>
          <a:p xmlns:a="http://schemas.openxmlformats.org/drawingml/2006/main">
            <a:r>
              <a:t>- 失败时的退出码、提示与阻断阶段：【】。</a:t>
            </a:r>
          </a:p>
          <a:p xmlns:a="http://schemas.openxmlformats.org/drawingml/2006/main">
            <a:r>
              <a:t>- 负责人、最后验证日期与提交/结果证据：【】。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验收：故意构造一个违反规则的最小例子，检查必须失败；</a:t>
            </a:r>
          </a:p>
          <a:p xmlns:a="http://schemas.openxmlformats.org/drawingml/2006/main">
            <a:r>
              <a:t>修正例子后检查必须通过，并确认最终交付入口真的执行了它。</a:t>
            </a:r>
          </a:p>
          <a:p xmlns:a="http://schemas.openxmlformats.org/drawingml/2006/main">
            <a:r>
              <a:t>测试不能通过删除断言、吞掉异常或把失败改成零退出码来放行。</a:t>
            </a:r>
          </a:p>
          <a:p xmlns:a="http://schemas.openxmlformats.org/drawingml/2006/main">
            <a:r>
              <a:t>没有脚本或未接入时保留待补齐，不得宣称自动门禁已完成。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本项目可供参考的真实入口如下。此表确认的是仓库中存在的实现与接入方式，**不表示本轮重新执行了全部测试或 CI**，也不表示新项目复制文档后便获得这些能力。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门禁 | 本项目已有入口 | 新手怎样迁移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知识与版本同步 | `scripts/check-knowledge.js`、`npm.cmd run check:knowledge`；校验入口、路由、版本文件、任务矩阵与部分治理实现门槛 | 先按自己目录和版本规则实现，不直接照搬业务专属检查 |</a:t>
            </a:r>
          </a:p>
          <a:p xmlns:a="http://schemas.openxmlformats.org/drawingml/2006/main">
            <a:r>
              <a:t>| 日期边界 | `scripts/check-date-boundary.js`、`npm.cmd run check:date`，及日期相关测试 | 检查本项目业务时区、DATE 类型和目标日期传递，不能硬套其他市场时区 |</a:t>
            </a:r>
          </a:p>
          <a:p xmlns:a="http://schemas.openxmlformats.org/drawingml/2006/main">
            <a:r>
              <a:t>| 统一回归 | `server/test/run-all.js`、`npm.cmd run test:all`；独立测试库、Node/Python 测试、CI 模式关键测试跳过视为失败 | 接入自己的相关测试并隔离数据，跳过项单独报告 |</a:t>
            </a:r>
          </a:p>
          <a:p xmlns:a="http://schemas.openxmlformats.org/drawingml/2006/main">
            <a:r>
              <a:t>| 共享前端与资源版本 | `mobile-frontend.test.js`、`versioned-static-pages.test.js` 等纳入统一测试入口 | 用自己的共享组件和代表性页面建立行为检查，再补实际布局验收 |</a:t>
            </a:r>
          </a:p>
          <a:p xmlns:a="http://schemas.openxmlformats.org/drawingml/2006/main">
            <a:r>
              <a:t>| 数据与任务规则追踪 | `governance/rule-traceability.json`、任务矩阵生成器、任务保护与编排回归 | 为真正需要保护的规则登记实现和测试，复杂任务出现后再引入矩阵 |</a:t>
            </a:r>
          </a:p>
          <a:p xmlns:a="http://schemas.openxmlformats.org/drawingml/2006/main">
            <a:r>
              <a:t>| CI 基础检查与安全 | `.github/workflows/ci.yml`：语法、JSON、全量测试、知识检查、依赖审计及秘密扫描 | 按自己的语言、依赖、测试环境和威胁范围调整；扫描未命中不能证明没有泄露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 CI 的外部行情合约测试是非阻断步骤，网络或来源异常不能算验证通过。知识门禁也不能自动判断每句话是否仍符合现实。这些边界需要在交付中说明。[检查实现](../scripts/check-knowledge.js)、[测试入口](../server/test/run-all.js)、[CI 配置](../.github/workflows/ci.yml)、[规则追踪](../governance/rule-traceability.json)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新项目先核对 `package.json` 的 `scripts`，再填写命令。可以建立相同的 `check:knowledge` / `test:all` 名称，但必须先有真实实现；不要只复制命令后让 AI 输出“通过”。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D:\存在小站\package.json</a:t>
            </a:r>
          </a:p>
          <a:p xmlns:a="http://schemas.openxmlformats.org/drawingml/2006/main">
            <a:r>
              <a:t>D:\存在小站\scripts\check-knowledge.js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8 固定顺序和放行证据。代码修改后刷新实际进程，健康、接口与资源版本一致。提交只暂存本任务文件，部署提交须在远端。数据写入沿用已有明确授权，不自行扩大。高风险迁移与配置准备备份和共同恢复。备份需隔离恢复演练，生成文件成功不等于可恢复。生产过程根据自己标准文档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8：本地闭环、Git 发布与恢复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复制作为发布任务的执行契约。这里固定的是顺序和通过条件，具体部署命令应来自自己的发布文档。生产权限、数据库路径和 SSH 认证必须按当前机器核实，不能猜旧环境的值。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变更范围：【】；本地/生产环境：【】；已有授权与数据写入范围：【】。</a:t>
            </a:r>
          </a:p>
          <a:p xmlns:a="http://schemas.openxmlformats.org/drawingml/2006/main">
            <a:r>
              <a:t>版本来源与更新方式：【】；标准部署文档/入口：【】。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本地闭环</a:t>
            </a:r>
          </a:p>
          <a:p xmlns:a="http://schemas.openxmlformats.org/drawingml/2006/main">
            <a:r>
              <a:t>1. 完成相关测试和最终检查，记录执行版本、失败与跳过。</a:t>
            </a:r>
          </a:p>
          <a:p xmlns:a="http://schemas.openxmlformats.org/drawingml/2006/main">
            <a:r>
              <a:t>2. 代码变更后按配置刷新/重启本地服务。</a:t>
            </a:r>
          </a:p>
          <a:p xmlns:a="http://schemas.openxmlformats.org/drawingml/2006/main">
            <a:r>
              <a:t>3. 核对健康返回版本、相关接口、页面引用的静态资源版本/内容。</a:t>
            </a:r>
          </a:p>
          <a:p xmlns:a="http://schemas.openxmlformats.org/drawingml/2006/main">
            <a:r>
              <a:t>4. 有后台任务时确认运行进程加载同一版本及相关任务定义。</a:t>
            </a:r>
          </a:p>
          <a:p xmlns:a="http://schemas.openxmlformats.org/drawingml/2006/main">
            <a:r>
              <a:t>5. 仅修改文档/演示材料时不为此重启服务或运行无关业务任务。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Git 范围</a:t>
            </a:r>
          </a:p>
          <a:p xmlns:a="http://schemas.openxmlformats.org/drawingml/2006/main">
            <a:r>
              <a:t>1. git status 逐项确认修改，检查 diff。</a:t>
            </a:r>
          </a:p>
          <a:p xmlns:a="http://schemas.openxmlformats.org/drawingml/2006/main">
            <a:r>
              <a:t>2. 精确暂存本次任务文件，不批量扫入其他人的未跟踪文件。</a:t>
            </a:r>
          </a:p>
          <a:p xmlns:a="http://schemas.openxmlformats.org/drawingml/2006/main">
            <a:r>
              <a:t>3. 检查暂存清单和暂存差异，按已授权发布范围提交推送。</a:t>
            </a:r>
          </a:p>
          <a:p xmlns:a="http://schemas.openxmlformats.org/drawingml/2006/main">
            <a:r>
              <a:t>4. 核对待部署提交已在目标远端分支，不能只保留本地代码。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生产发布</a:t>
            </a:r>
          </a:p>
          <a:p xmlns:a="http://schemas.openxmlformats.org/drawingml/2006/main">
            <a:r>
              <a:t>1. 先同步版本和变更记录，再进行最终验证。</a:t>
            </a:r>
          </a:p>
          <a:p xmlns:a="http://schemas.openxmlformats.org/drawingml/2006/main">
            <a:r>
              <a:t>2. 列出迁移、配置、数据写入、后台任务及回滚影响。</a:t>
            </a:r>
          </a:p>
          <a:p xmlns:a="http://schemas.openxmlformats.org/drawingml/2006/main">
            <a:r>
              <a:t>3. 数据写入只执行已明确授权的对象、日期和范围，不顺带全量补跑。</a:t>
            </a:r>
          </a:p>
          <a:p xmlns:a="http://schemas.openxmlformats.org/drawingml/2006/main">
            <a:r>
              <a:t>4. 按风险准备备份、旧版本与恢复步骤，迁移使用受控入口和相应角色。</a:t>
            </a:r>
          </a:p>
          <a:p xmlns:a="http://schemas.openxmlformats.org/drawingml/2006/main">
            <a:r>
              <a:t>5. 按标准入口部署，核对 Web、Worker 及健康检查等实际服务。</a:t>
            </a:r>
          </a:p>
          <a:p xmlns:a="http://schemas.openxmlformats.org/drawingml/2006/main">
            <a:r>
              <a:t>6. 验收提交、健康版本、资源、接口、页面字段、任务与数据质量。</a:t>
            </a:r>
          </a:p>
          <a:p xmlns:a="http://schemas.openxmlformats.org/drawingml/2006/main">
            <a:r>
              <a:t>7. 任一必需验收失败，报告部署失败并按恢复流程处理。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恢复验证</a:t>
            </a:r>
          </a:p>
          <a:p xmlns:a="http://schemas.openxmlformats.org/drawingml/2006/main">
            <a:r>
              <a:t>1. 发布前说明回滚触发条件、负责人、步骤及预期恢复时间。</a:t>
            </a:r>
          </a:p>
          <a:p xmlns:a="http://schemas.openxmlformats.org/drawingml/2006/main">
            <a:r>
              <a:t>2. 数据或配置与新代码绑定时，说明怎样共同恢复，不能只切旧代码。</a:t>
            </a:r>
          </a:p>
          <a:p xmlns:a="http://schemas.openxmlformats.org/drawingml/2006/main">
            <a:r>
              <a:t>3. 备份先在隔离环境验证可恢复，并核对关键数量/质量和核心业务流程。</a:t>
            </a:r>
          </a:p>
          <a:p xmlns:a="http://schemas.openxmlformats.org/drawingml/2006/main">
            <a:r>
              <a:t>4. 只有文件生成成功不能称恢复已验证；未演练的步骤标为未验证。</a:t>
            </a:r>
          </a:p>
          <a:p xmlns:a="http://schemas.openxmlformats.org/drawingml/2006/main">
            <a:r>
              <a:t>5. 回滚后重新核对健康、相关接口、任务、数据与告警恢复证据。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的安全范围可以从下面几条开始；`【】` 是待替换内容，不能原样执行。提交与推送仍按本次任务已有授权和项目约定处理。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git status --short</a:t>
            </a:r>
          </a:p>
          <a:p xmlns:a="http://schemas.openxmlformats.org/drawingml/2006/main">
            <a:r>
              <a:t>git diff -- "【本任务文件路径】"</a:t>
            </a:r>
          </a:p>
          <a:p xmlns:a="http://schemas.openxmlformats.org/drawingml/2006/main">
            <a:r>
              <a:t>git add -- "【本任务文件路径】"</a:t>
            </a:r>
          </a:p>
          <a:p xmlns:a="http://schemas.openxmlformats.org/drawingml/2006/main">
            <a:r>
              <a:t>git diff --cached --name-only</a:t>
            </a:r>
          </a:p>
          <a:p xmlns:a="http://schemas.openxmlformats.org/drawingml/2006/main">
            <a:r>
              <a:t>git diff --cached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权限和隐私也应进入发布条件：服务端判断资源属于哪个用户；导出、文件下载和后台入口分别检查权限；凭据使用自己的受控配置，不写进分享模板或提交。备份与恢复先在隔离环境验证，并明确生产修改授权。[本项目发布依据](生产部署流程.md)、[授权检查参考](https://cheatsheetseries.owasp.org/cheatsheets/Authorization_Cheat_Sheet.html)、[PostgreSQL 备份与恢复参考](https://www.postgresql.org/docs/current/backup-dump.html)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D:\存在小站\docs\生产部署流程.md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9 要求统一目标、基线、契约与写入范围，共享文件和数据写入有负责人。独立工作出现后再并行，最终由集成者验收。平台记忆只作仓库指针。减少 token 靠按路由阅读、精简交接、复用已有效的检查和停止无新证据的重复尝试。预算不足时交接真实剩余内容。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9：多 Agent 分工、交接与 token 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并行不是每个任务的默认步骤。存在独立工作、统一契约和明确写入范围时，再使用多 Agent；集成、共享数据库和部署应有明确责任人。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共同目标与完成条件：【】；Git 基线与运行环境：【】。</a:t>
            </a:r>
          </a:p>
          <a:p xmlns:a="http://schemas.openxmlformats.org/drawingml/2006/main">
            <a:r>
              <a:t>共同契约/业务不变量：【文件与章节】。</a:t>
            </a:r>
          </a:p>
          <a:p xmlns:a="http://schemas.openxmlformats.org/drawingml/2006/main">
            <a:r>
              <a:t>集成负责人：【】；共享文件/数据库/最终发布负责人：【】。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A：目标【】；可写文件【】；不得改动【】。</a:t>
            </a:r>
          </a:p>
          <a:p xmlns:a="http://schemas.openxmlformats.org/drawingml/2006/main">
            <a:r>
              <a:t>Agent B：目标【】；可写文件【】；不得改动【】。</a:t>
            </a:r>
          </a:p>
          <a:p xmlns:a="http://schemas.openxmlformats.org/drawingml/2006/main">
            <a:r>
              <a:t>共享契约变化时先通知集成者，由约定负责人更新后再继续依赖工作。</a:t>
            </a:r>
          </a:p>
          <a:p xmlns:a="http://schemas.openxmlformats.org/drawingml/2006/main">
            <a:r>
              <a:t>各 Agent 不各自创建第二套事实、采集、计算、样式或部署链路。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 Agent 的交接只保留：</a:t>
            </a:r>
          </a:p>
          <a:p xmlns:a="http://schemas.openxmlformats.org/drawingml/2006/main">
            <a:r>
              <a:t>1. 本次目标、边界、实际变更文件及基线。</a:t>
            </a:r>
          </a:p>
          <a:p xmlns:a="http://schemas.openxmlformats.org/drawingml/2006/main">
            <a:r>
              <a:t>2. 已确认结论及权威出处，不复制整段聊天。</a:t>
            </a:r>
          </a:p>
          <a:p xmlns:a="http://schemas.openxmlformats.org/drawingml/2006/main">
            <a:r>
              <a:t>3. 检查命令、执行版本、结果及证据位置。</a:t>
            </a:r>
          </a:p>
          <a:p xmlns:a="http://schemas.openxmlformats.org/drawingml/2006/main">
            <a:r>
              <a:t>4. 未完成、受阻、尚未核验的事项与下一步。</a:t>
            </a:r>
          </a:p>
          <a:p xmlns:a="http://schemas.openxmlformats.org/drawingml/2006/main">
            <a:r>
              <a:t>5. 集成风险、共享契约变化和所需权限。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集成者负责检查冲突、共同契约、同类范围、统一回归与最终运行验收。</a:t>
            </a:r>
          </a:p>
          <a:p xmlns:a="http://schemas.openxmlformats.org/drawingml/2006/main">
            <a:r>
              <a:t>项目事实写入同一仓库，平台记忆只保留指向仓库的接续指针。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控制上下文与成本：</a:t>
            </a:r>
          </a:p>
          <a:p xmlns:a="http://schemas.openxmlformats.org/drawingml/2006/main">
            <a:r>
              <a:t>- 先读索引再按路由读，不把全部历史发给每个 Agent。</a:t>
            </a:r>
          </a:p>
          <a:p xmlns:a="http://schemas.openxmlformats.org/drawingml/2006/main">
            <a:r>
              <a:t>- 搜索命中后只读必要段落，扩大阅读要对应实际不确定点。</a:t>
            </a:r>
          </a:p>
          <a:p xmlns:a="http://schemas.openxmlformats.org/drawingml/2006/main">
            <a:r>
              <a:t>- 不重复跑已经通过且未受后续修改影响的昂贵检查。</a:t>
            </a:r>
          </a:p>
          <a:p xmlns:a="http://schemas.openxmlformats.org/drawingml/2006/main">
            <a:r>
              <a:t>- 连续尝试没有新证据时停止同一尝试，记录阻塞并调整调查方向。</a:t>
            </a:r>
          </a:p>
          <a:p xmlns:a="http://schemas.openxmlformats.org/drawingml/2006/main">
            <a:r>
              <a:t>- 预算/时限【】只决定分批与交接，不能把未完成任务报成成功。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人负责确定业务目标、重要取舍和授权边界；AI 负责调查、实施和证据整理；集成者负责共同完成条件。范围内的普通可逆工作继续推进，不必每一步重新确认。没有测量前，不承诺并行或知识路由能节省固定百分比的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D:\存在小站\docs\tasks\README.md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10 使收尾有证据与边界。按实际改动核对路由，更新原权威位置，修正旧结论和索引引用，不无限追加流水。交付按版本、环境、检查、同类数量、本地与生产状态及真实未完成内容分别报告。本轮新增是分享需要，合并入原衍生文档，不建立第二套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可复制模板全文：</a:t>
            </a:r>
          </a:p>
          <a:p xmlns:a="http://schemas.openxmlformats.org/drawingml/2006/main">
            <a:r>
              <a:t>### 模板 10：知识更新与交付回执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它让“做完了”有可追溯内容，也防止项目知识库随着任务越来越混乱。复制用于任务收尾，不要求每个小任务新建一篇文档。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先按实际改动文件重新核对知识路由/主题索引。</a:t>
            </a:r>
          </a:p>
          <a:p xmlns:a="http://schemas.openxmlformats.org/drawingml/2006/main">
            <a:r>
              <a:t>本次知识处理逐项判断：</a:t>
            </a:r>
          </a:p>
          <a:p xmlns:a="http://schemas.openxmlformats.org/drawingml/2006/main">
            <a:r>
              <a:t>1. 是否有需要长期保存的新事实、决定、根因或未完成边界？</a:t>
            </a:r>
          </a:p>
          <a:p xmlns:a="http://schemas.openxmlformats.org/drawingml/2006/main">
            <a:r>
              <a:t>2. 它属于当前架构、研发规则、决策、事故、任务卡还是变更记录？</a:t>
            </a:r>
          </a:p>
          <a:p xmlns:a="http://schemas.openxmlformats.org/drawingml/2006/main">
            <a:r>
              <a:t>3. 现有结论在哪里，应就地替换、合并、归档，还是无需新增？</a:t>
            </a:r>
          </a:p>
          <a:p xmlns:a="http://schemas.openxmlformats.org/drawingml/2006/main">
            <a:r>
              <a:t>4. 保留来源、根因、授权、生产证据与真实未完成项。</a:t>
            </a:r>
          </a:p>
          <a:p xmlns:a="http://schemas.openxmlformats.org/drawingml/2006/main">
            <a:r>
              <a:t>5. 修正原段落、索引和链接，历史归档退出默认阅读。</a:t>
            </a:r>
          </a:p>
          <a:p xmlns:a="http://schemas.openxmlformats.org/drawingml/2006/main">
            <a:r>
              <a:t>6. 规则或权威路由变化时，同步检查 read/update/checks 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交付回执：</a:t>
            </a:r>
          </a:p>
          <a:p xmlns:a="http://schemas.openxmlformats.org/drawingml/2006/main">
            <a:r>
              <a:t>- 目标与结果：【】。</a:t>
            </a:r>
          </a:p>
          <a:p xmlns:a="http://schemas.openxmlformats.org/drawingml/2006/main">
            <a:r>
              <a:t>- 实际改动文件与原因：【】。</a:t>
            </a:r>
          </a:p>
          <a:p xmlns:a="http://schemas.openxmlformats.org/drawingml/2006/main">
            <a:r>
              <a:t>- 验证版本、环境、检查命令和证据：【】。</a:t>
            </a:r>
          </a:p>
          <a:p xmlns:a="http://schemas.openxmlformats.org/drawingml/2006/main">
            <a:r>
              <a:t>- 同类核查范围：总数【】、通过【】、失败【】、未核验【】。</a:t>
            </a:r>
          </a:p>
          <a:p xmlns:a="http://schemas.openxmlformats.org/drawingml/2006/main">
            <a:r>
              <a:t>- 本地运行/生产发布/数据恢复各自状态：【】。</a:t>
            </a:r>
          </a:p>
          <a:p xmlns:a="http://schemas.openxmlformats.org/drawingml/2006/main">
            <a:r>
              <a:t>- 未验证与未完成事项、责任位置及下一步：【】。</a:t>
            </a:r>
          </a:p>
          <a:p xmlns:a="http://schemas.openxmlformats.org/drawingml/2006/main">
            <a:r>
              <a:t>- 知识处理：新增/替换/合并/归档/删除/不新增【及理由】。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**门禁的核心是证据与边界。** 测试通过不等于线上加载了新代码；健康接口正常不等于数据质量恢复；人工确认告警不等于故障消失；归档任务卡不等于遗留项已完成。把这些差别固定下来，AI 才不容易在交付时只给出一个笼统的“完成”。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D:\存在小站\docs\知识索引.md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践顺序可按六步推进：一个真实使用流程，架构与归属，数据契约，代表性页面与共享能力，完整功能发布验证，知识入口。前期保留边界而不是预先实现全部未来能力。真正故障、长期取舍与接续需求出现后，逐渐增加决策、事故与自动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本文基于分享文档与截至 2026-10-09 仓库中的既有实现和事故证据。来源链接在各页备注中。新项目的 Vue、TypeScript、目录、契约等建议不表示本项目已上线。当前项目事实以权威架构与已验证状态为准。工程门禁不能代替语义、真实运行和真机证据。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D:/存在小站/docs/存在小站开发与AI协作经验分享.md</a:t>
            </a:r>
          </a:p>
          <a:p xmlns:a="http://schemas.openxmlformats.org/drawingml/2006/main">
            <a:r>
              <a:t>新增流程模板取自 AGENTS.md、知识索引、架构、标准部署、检查脚本、统一测试及 CI。自动能力是否存在、是否接入、是否本次执行和是否验证真实运行分别说明。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d4e477d3543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d4dd8273448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22033a7b945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93874458c4c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a775ccdf64d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ac71dd5ca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E92E7-9796-407B-8DB4-F605ADFA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9B04F-1B33-4A61-965A-046D44C6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0A60D-31EE-45B8-941C-9AB38635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F4D9C-A80B-4DD3-AC6A-A5804BDE1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A0AC2-121F-4D6B-A1B7-302E32E10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53A29-1D44-4EB4-81FE-2F056BF15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1D51C-35D5-45DF-A47C-0BEDD147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0FC7FE-876B-48C1-B15F-431EA6317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51FA5-8E7C-470B-9122-E25F8E7A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522CE-12EE-41DE-B8E1-B9CDACE63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8d5e86b2264471" /><Relationship Type="http://schemas.openxmlformats.org/officeDocument/2006/relationships/slideLayout" Target="/ppt/slideLayouts/slideLayout1.xml" Id="R2056ce0e3440427b" /><Relationship Type="http://schemas.openxmlformats.org/officeDocument/2006/relationships/slideLayout" Target="/ppt/slideLayouts/slideLayout2.xml" Id="R3e4557fa378747ac" /><Relationship Type="http://schemas.openxmlformats.org/officeDocument/2006/relationships/slideLayout" Target="/ppt/slideLayouts/slideLayout3.xml" Id="R6ad846c2912646cd" /><Relationship Type="http://schemas.openxmlformats.org/officeDocument/2006/relationships/slideLayout" Target="/ppt/slideLayouts/slideLayout4.xml" Id="Rb7ebbfacef184c45" /><Relationship Type="http://schemas.openxmlformats.org/officeDocument/2006/relationships/slideLayout" Target="/ppt/slideLayouts/slideLayout5.xml" Id="R09cbd21aa493476f" /><Relationship Type="http://schemas.openxmlformats.org/officeDocument/2006/relationships/slideLayout" Target="/ppt/slideLayouts/slideLayout6.xml" Id="R85add5d1732a4d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6ce0e3440427b"/>
    <p:sldLayoutId xmlns:r="http://schemas.openxmlformats.org/officeDocument/2006/relationships" id="2147483650" r:id="R3e4557fa378747ac"/>
    <p:sldLayoutId xmlns:r="http://schemas.openxmlformats.org/officeDocument/2006/relationships" id="2147483651" r:id="R6ad846c2912646cd"/>
    <p:sldLayoutId xmlns:r="http://schemas.openxmlformats.org/officeDocument/2006/relationships" id="2147483652" r:id="Rb7ebbfacef184c45"/>
    <p:sldLayoutId xmlns:r="http://schemas.openxmlformats.org/officeDocument/2006/relationships" id="2147483653" r:id="R09cbd21aa493476f"/>
    <p:sldLayoutId xmlns:r="http://schemas.openxmlformats.org/officeDocument/2006/relationships" id="2147483654" r:id="R85add5d1732a4d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fd4841de149e5" /><Relationship Type="http://schemas.openxmlformats.org/officeDocument/2006/relationships/image" Target="/ppt/media/image.png" Id="R9a6c360e41d940a3" /><Relationship Type="http://schemas.openxmlformats.org/officeDocument/2006/relationships/notesSlide" Target="/ppt/notesSlides/notesSlide1.xml" Id="R961e4b2f75ff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6f3a90a77450a" /><Relationship Type="http://schemas.openxmlformats.org/officeDocument/2006/relationships/notesSlide" Target="/ppt/notesSlides/notesSlide2.xml" Id="R87e71ac5da30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b3ca1636c4126" /><Relationship Type="http://schemas.openxmlformats.org/officeDocument/2006/relationships/notesSlide" Target="/ppt/notesSlides/notesSlide3.xml" Id="R762d82a20dfe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a96e1191148b3" /><Relationship Type="http://schemas.openxmlformats.org/officeDocument/2006/relationships/notesSlide" Target="/ppt/notesSlides/notesSlide4.xml" Id="R05e8b16f2f4d4e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ccdd438e340c8" /><Relationship Type="http://schemas.openxmlformats.org/officeDocument/2006/relationships/notesSlide" Target="/ppt/notesSlides/notesSlide5.xml" Id="R6990b6e69fdc4a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0a35f792c4653" /><Relationship Type="http://schemas.openxmlformats.org/officeDocument/2006/relationships/notesSlide" Target="/ppt/notesSlides/notesSlide6.xml" Id="R0fda7b21f27745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a73f4b86b4921" /><Relationship Type="http://schemas.openxmlformats.org/officeDocument/2006/relationships/notesSlide" Target="/ppt/notesSlides/notesSlide7.xml" Id="R0ca6384ea1ab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decdead7144fa" /><Relationship Type="http://schemas.openxmlformats.org/officeDocument/2006/relationships/notesSlide" Target="/ppt/notesSlides/notesSlide8.xml" Id="Rd0d48982dd8f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8dc0792c04799" /><Relationship Type="http://schemas.openxmlformats.org/officeDocument/2006/relationships/notesSlide" Target="/ppt/notesSlides/notesSlide9.xml" Id="R1206d90387f5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6bf62e1bf42d6" /><Relationship Type="http://schemas.openxmlformats.org/officeDocument/2006/relationships/notesSlide" Target="/ppt/notesSlides/notesSlide10.xml" Id="Rd00d5aaa1b3a4d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0140813bc4881" /><Relationship Type="http://schemas.openxmlformats.org/officeDocument/2006/relationships/notesSlide" Target="/ppt/notesSlides/notesSlide11.xml" Id="Rde12771c394342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1866e9a334cf5" /><Relationship Type="http://schemas.openxmlformats.org/officeDocument/2006/relationships/notesSlide" Target="/ppt/notesSlides/notesSlide12.xml" Id="Raaa1280b917343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8f2c7a3a54171" /><Relationship Type="http://schemas.openxmlformats.org/officeDocument/2006/relationships/notesSlide" Target="/ppt/notesSlides/notesSlide13.xml" Id="Rb48bfa93c5a444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7747cd8a14f3f" /><Relationship Type="http://schemas.openxmlformats.org/officeDocument/2006/relationships/notesSlide" Target="/ppt/notesSlides/notesSlide14.xml" Id="R61d8a06965254d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758221d4a47bb" /><Relationship Type="http://schemas.openxmlformats.org/officeDocument/2006/relationships/notesSlide" Target="/ppt/notesSlides/notesSlide15.xml" Id="R0a1bf836931d47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a31fc12ba4f45" /><Relationship Type="http://schemas.openxmlformats.org/officeDocument/2006/relationships/notesSlide" Target="/ppt/notesSlides/notesSlide16.xml" Id="R6b9ccc76decb4f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38b60399246fb" /><Relationship Type="http://schemas.openxmlformats.org/officeDocument/2006/relationships/notesSlide" Target="/ppt/notesSlides/notesSlide17.xml" Id="R7b65827faaa645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6834f12b34ccf" /><Relationship Type="http://schemas.openxmlformats.org/officeDocument/2006/relationships/notesSlide" Target="/ppt/notesSlides/notesSlide18.xml" Id="R0ce62477f1be41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c39670d4b42a4" /><Relationship Type="http://schemas.openxmlformats.org/officeDocument/2006/relationships/notesSlide" Target="/ppt/notesSlides/notesSlide19.xml" Id="Rb8586c25714d42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8a48f0ad64b25" /><Relationship Type="http://schemas.openxmlformats.org/officeDocument/2006/relationships/notesSlide" Target="/ppt/notesSlides/notesSlide20.xml" Id="R88b0b77485624e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90c712cb8497a" /><Relationship Type="http://schemas.openxmlformats.org/officeDocument/2006/relationships/notesSlide" Target="/ppt/notesSlides/notesSlide21.xml" Id="Rcedb04572af94a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bff84dd974c2f" /><Relationship Type="http://schemas.openxmlformats.org/officeDocument/2006/relationships/notesSlide" Target="/ppt/notesSlides/notesSlide22.xml" Id="Re53d189ea7904e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7f41489be4b70" /><Relationship Type="http://schemas.openxmlformats.org/officeDocument/2006/relationships/notesSlide" Target="/ppt/notesSlides/notesSlide23.xml" Id="R326b83d99fb44f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4c02359e94897" /><Relationship Type="http://schemas.openxmlformats.org/officeDocument/2006/relationships/notesSlide" Target="/ppt/notesSlides/notesSlide24.xml" Id="R83944d4539fa4a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a31f196bf468d" /><Relationship Type="http://schemas.openxmlformats.org/officeDocument/2006/relationships/notesSlide" Target="/ppt/notesSlides/notesSlide25.xml" Id="R51934e5b54724a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05657e738471f" /><Relationship Type="http://schemas.openxmlformats.org/officeDocument/2006/relationships/notesSlide" Target="/ppt/notesSlides/notesSlide26.xml" Id="Rd8d6e2bc3d9349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627d08ad24db4" /><Relationship Type="http://schemas.openxmlformats.org/officeDocument/2006/relationships/notesSlide" Target="/ppt/notesSlides/notesSlide27.xml" Id="Reaf2a62a8d4c46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068995c8a449b" /><Relationship Type="http://schemas.openxmlformats.org/officeDocument/2006/relationships/notesSlide" Target="/ppt/notesSlides/notesSlide28.xml" Id="R59b5b3dc8a5140e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6f17bb906444c" /><Relationship Type="http://schemas.openxmlformats.org/officeDocument/2006/relationships/notesSlide" Target="/ppt/notesSlides/notesSlide29.xml" Id="Rcc4438f85c5a43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9de219959480e" /><Relationship Type="http://schemas.openxmlformats.org/officeDocument/2006/relationships/notesSlide" Target="/ppt/notesSlides/notesSlide30.xml" Id="Rccf47651dead47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b87dfc3d04074" /><Relationship Type="http://schemas.openxmlformats.org/officeDocument/2006/relationships/notesSlide" Target="/ppt/notesSlides/notesSlide31.xml" Id="Rffbc367d5de3463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86d97de03446c" /><Relationship Type="http://schemas.openxmlformats.org/officeDocument/2006/relationships/notesSlide" Target="/ppt/notesSlides/notesSlide32.xml" Id="R1427fd03171c406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b2f9b550443c3" /><Relationship Type="http://schemas.openxmlformats.org/officeDocument/2006/relationships/notesSlide" Target="/ppt/notesSlides/notesSlide33.xml" Id="R3bfe50e055144b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0956aaa4a4f46" /><Relationship Type="http://schemas.openxmlformats.org/officeDocument/2006/relationships/notesSlide" Target="/ppt/notesSlides/notesSlide34.xml" Id="R794ab094442e486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3c2c6dfa94194" /><Relationship Type="http://schemas.openxmlformats.org/officeDocument/2006/relationships/notesSlide" Target="/ppt/notesSlides/notesSlide35.xml" Id="R490edf53afcb41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984eb381342c6" /><Relationship Type="http://schemas.openxmlformats.org/officeDocument/2006/relationships/notesSlide" Target="/ppt/notesSlides/notesSlide36.xml" Id="R29bc2c30f637437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3131e027b40c6" /><Relationship Type="http://schemas.openxmlformats.org/officeDocument/2006/relationships/hyperlink" Target="file:///D:/&#23384;&#22312;&#23567;&#31449;/docs/&#23384;&#22312;&#23567;&#31449;&#24320;&#21457;&#19982;AI&#21327;&#20316;&#32463;&#39564;&#20998;&#20139;.md" TargetMode="External" Id="R6edb44cbb698430e" /><Relationship Type="http://schemas.openxmlformats.org/officeDocument/2006/relationships/notesSlide" Target="/ppt/notesSlides/notesSlide37.xml" Id="R2964a0af781347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2D143-1918-4C43-AC9D-75215C3D9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c360e41d940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5DB4CA-5829-4DBE-B18E-77E9BDC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38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存在小站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开发与 AI 协作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经验分享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6383D-2CD8-4368-A554-4F26B5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网站架构、AI 协作与研发流程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CCF8E5B-3FA3-423A-9022-C4FD6B5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AI 建站新手与独立开发者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86788-37B1-43BE-ACDE-2A08897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2432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EEDE01-6681-4EE0-BD60-8847EE1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分享路线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A84A5-4469-4E1A-AE67-8D15A3D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375EA867-09D0-4EA9-9648-348FF15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网站设计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2033FDB2-EE63-468D-B7CD-C269D5AE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01  前后端选型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40EB9118-8693-469C-8EC7-4EB6D75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02  数据架构与处理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EB778E71-301D-4652-AC22-DAA15F0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03  扩展空间与合理冗余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63FF06E4-5815-48EB-AE41-72437B6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04  统一样式与交互</a:t>
            </a:r>
          </a:p>
        </p:txBody>
      </p:sp>
      <p:sp>
        <p:nvSpPr>
          <p:cNvPr id="8" name="column-line-72-4">
            <a:extLst xmlns:a="http://schemas.openxmlformats.org/drawingml/2006/main">
              <a:ext uri="{FF2B5EF4-FFF2-40B4-BE49-F238E27FC236}">
                <a16:creationId xmlns:a16="http://schemas.microsoft.com/office/drawing/2014/main" id="{9D1968C7-3BAA-4316-A277-C31B385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05  研发与发布闭环</a:t>
            </a:r>
          </a:p>
        </p:txBody>
      </p:sp>
      <p:sp>
        <p:nvSpPr>
          <p:cNvPr id="9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A91FF815-F0F7-4E0F-A20F-3E40AA2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AI 协作</a:t>
            </a:r>
          </a:p>
        </p:txBody>
      </p:sp>
      <p:sp>
        <p:nvSpPr>
          <p:cNvPr id="10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B03DFABE-77B6-46D0-99C5-12E2193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01  重复犯错</a:t>
            </a:r>
          </a:p>
        </p:txBody>
      </p:sp>
      <p:sp>
        <p:nvSpPr>
          <p:cNvPr id="11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A8E8FF6E-944D-442E-A38B-CD328AF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02  多 Agent 协作</a:t>
            </a:r>
          </a:p>
        </p:txBody>
      </p:sp>
      <p:sp>
        <p:nvSpPr>
          <p:cNvPr id="12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97882053-A40E-49E2-8B20-D124CE2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03  考虑遗漏</a:t>
            </a:r>
          </a:p>
        </p:txBody>
      </p:sp>
      <p:sp>
        <p:nvSpPr>
          <p:cNvPr id="13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1FB0346B-6C51-40F3-979F-B8DF3BA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04  token 使用</a:t>
            </a:r>
          </a:p>
        </p:txBody>
      </p:sp>
      <p:sp>
        <p:nvSpPr>
          <p:cNvPr id="14" name="column-line-690-4">
            <a:extLst xmlns:a="http://schemas.openxmlformats.org/drawingml/2006/main">
              <a:ext uri="{FF2B5EF4-FFF2-40B4-BE49-F238E27FC236}">
                <a16:creationId xmlns:a16="http://schemas.microsoft.com/office/drawing/2014/main" id="{7B5FA676-5B3D-4AD6-822D-A1072DA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05  统一知识库</a:t>
            </a:r>
          </a:p>
        </p:txBody>
      </p:sp>
      <p:sp>
        <p:nvSpPr>
          <p:cNvPr id="15" name="column-line-690-5">
            <a:extLst xmlns:a="http://schemas.openxmlformats.org/drawingml/2006/main">
              <a:ext uri="{FF2B5EF4-FFF2-40B4-BE49-F238E27FC236}">
                <a16:creationId xmlns:a16="http://schemas.microsoft.com/office/drawing/2014/main" id="{6EA76CB6-1C35-4604-8C9F-721E941F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245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06  共同验收条件</a:t>
            </a:r>
          </a:p>
        </p:txBody>
      </p:sp>
      <p:sp>
        <p:nvSpPr>
          <p:cNvPr id="17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FE0E50E-1942-4AEB-8E3D-CD8C482D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第三部分：把已有固定流程与门禁变成十份可复制模板</a:t>
            </a:r>
          </a:p>
        </p:txBody>
      </p:sp>
    </p:spTree>
    <p:extLst>
      <p:ext uri="{BB962C8B-B14F-4D97-AF65-F5344CB8AC3E}">
        <p14:creationId xmlns:p14="http://schemas.microsoft.com/office/powerpoint/2010/main" val="1475696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4876C7-44E9-433F-B806-3E3DEB31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技术栈选型的五个依据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0EBE50-2AA3-4077-8951-4F2515F3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90CA05B-2567-4741-83F0-FD2D682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1：需求与维护能力共同决定架构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2F85B1E6-2315-4D8F-A8EF-23F50CE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D8A6CFD9-BD34-4103-B32A-D07A1FE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用户与内容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706994EA-A445-41D6-A2E9-06296120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812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公开内容是否需要搜索收录与首屏展示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4F6B6075-DB74-49CD-A68D-D47B239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327C1177-86C1-4ABF-BAF5-30C6705F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交互复杂度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0F1AD6E3-A246-4F21-9BF4-AB87C94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051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表格、筛选、表单、图表是否共享状态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3B078453-9EE9-40D5-A386-674D8788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680411D6-C49D-4F03-AB1C-282520D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数据写入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3042BEEF-C83E-4D9F-BA33-8913CBC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是否多用户、私有数据和并发修改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FEC59335-1A84-444F-9D57-7CBF66F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FA287BB3-A90D-4B1A-AEE7-F82BF74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后台工作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DB5DEFF3-F14C-4618-9F5A-17D7FF1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529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是否有定时采集、批量导入和耗时计算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0A0B8201-39B5-49CF-B99E-69228AB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24FD55D1-3B38-4B6B-9123-D9024F1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维护与部署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FB676E5F-214A-42DE-BF34-EBAA07C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7680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自己能维护的语言与运行成本</a:t>
            </a:r>
          </a:p>
        </p:txBody>
      </p:sp>
    </p:spTree>
    <p:extLst>
      <p:ext uri="{BB962C8B-B14F-4D97-AF65-F5344CB8AC3E}">
        <p14:creationId xmlns:p14="http://schemas.microsoft.com/office/powerpoint/2010/main" val="790623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3DB488-8B42-4F5E-8EC5-5BA3B19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三类网站的起步方案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03712-5254-40B3-9E4B-3E67F8D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A3478CB-F279-4788-8193-E5353EB2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新项目建议：先匹配场景，再比较成本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A558B-D634-49AF-9F80-0417912C3FE5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3905250"/>
                <a:gridCol w="4057650"/>
              </a:tblGrid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可评估的起点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主要考虑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展示与少量内容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 HTML/CSS/JS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或静态生成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简单发布与内容维护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登录后的数据工具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+ Vite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 React 框架方案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组件、路由与共享状态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公开内容加复杂交互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等服务端</a:t>
                      </a:r>
                    </a:p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渲染框架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渲染、缓存与部署边界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FF76BA3-E25B-46DF-9F87-290CFA2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同类新项目可评估 Vue + TypeScript、Node 后端与 PostgreSQL</a:t>
            </a:r>
          </a:p>
        </p:txBody>
      </p:sp>
    </p:spTree>
    <p:extLst>
      <p:ext uri="{BB962C8B-B14F-4D97-AF65-F5344CB8AC3E}">
        <p14:creationId xmlns:p14="http://schemas.microsoft.com/office/powerpoint/2010/main" val="1101134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864A2A-954E-403E-A66F-8ECE707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模块化单体的职责边界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DAEFC9-A7A1-4F67-BEA9-7B8CE3C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ABED00D-0AD9-40D7-BEB4-4EAA4B8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同一套业务服务支持页面请求与后台任务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44D37-DF1A-415D-B662-3EE46CE24427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90875"/>
                <a:gridCol w="7629525"/>
              </a:tblGrid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前端与共享 UI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展示、交互、页面状态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身份、权限、入参与响应契约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业务服务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计算规则、事务、统一读写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数据访问与来源适配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标准事实读写、外部来源转换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调度、目标日期、执行进度与续跑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5D78F55-D4F0-4E20-9AB1-F583B4F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本项目当前：原生前端、Express、PostgreSQL、Python、Web/Worker</a:t>
            </a:r>
          </a:p>
        </p:txBody>
      </p:sp>
    </p:spTree>
    <p:extLst>
      <p:ext uri="{BB962C8B-B14F-4D97-AF65-F5344CB8AC3E}">
        <p14:creationId xmlns:p14="http://schemas.microsoft.com/office/powerpoint/2010/main" val="1314405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7662F0-3E78-4AFB-B546-89178FD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数据分层与权威写入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04B5A6-D09D-44F6-B117-AC9A239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720A5E63-79E0-4698-95F0-038633C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2：每项事实有明确归属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8041F-1A62-4C6D-9593-20CE385B0C44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476500"/>
                <a:gridCol w="4686300"/>
                <a:gridCol w="3657600"/>
              </a:tblGrid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响应、文件、原文与来源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追溯与重解析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对象身份、交易、行情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统一业务口径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计算结果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指标、计算版本与快照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复用与历史解释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页面读取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权限内字段、必要缓存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快速且一致的展示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C6CFA57-0991-4E1F-925F-9F9C778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项目经历：SQLite 与 JSON 兼容路径逐步收敛到结构化数据库</a:t>
            </a:r>
          </a:p>
        </p:txBody>
      </p:sp>
    </p:spTree>
    <p:extLst>
      <p:ext uri="{BB962C8B-B14F-4D97-AF65-F5344CB8AC3E}">
        <p14:creationId xmlns:p14="http://schemas.microsoft.com/office/powerpoint/2010/main" val="1837364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5DE83-4B2C-4430-99BC-9883636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数据契约中的六项定义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253300-10D4-4CE7-B317-7900724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CCAB7323-9DD1-49B9-BD3D-AA28AAB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0F1821CD-6EAE-464A-B191-5F88E26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身份与归属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5C90948-22C0-4302-A3C5-6B97624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5260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内部对象 ID、外部映射、用户所有权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FCF2F057-AFAC-4C75-93A9-FB7934FF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4EACDA7A-5778-45EA-8FAC-B4C50AB6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日期与时间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79477B98-E13E-434D-BCB6-60F4155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业务日期、事件时间、采集时间分开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37D7D549-FA90-495A-8515-67877483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10EED288-CCD7-4A8E-A6F6-D874C302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数值与单位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B1A5275D-6577-4F15-A635-3ABD944A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币种、精度、舍入规则、缺失与零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9F907CA2-E9FF-47D5-B5BC-4620E90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E94AD629-5BDE-4B45-BF70-1B3D7027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唯一性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E392BA37-32B8-4719-87DD-484072A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8142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真实业务去重键，保留合法多笔记录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EA218019-B127-4928-B26A-BCE3C4C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F0A0EBF7-1A7F-4918-AF7D-6C018E4B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A453C6ED-2495-48B2-A741-56DC95E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57700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来源关联、解析版本、必要历史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E006F4A8-0578-4A97-A16C-3FB182F9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236D5B89-0998-4849-848D-DF98CA4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更新与约束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E759169C-0070-4D29-9996-95AB67E4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33975"/>
            <a:ext cx="690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事务、外键、唯一键和索引</a:t>
            </a:r>
          </a:p>
        </p:txBody>
      </p:sp>
    </p:spTree>
    <p:extLst>
      <p:ext uri="{BB962C8B-B14F-4D97-AF65-F5344CB8AC3E}">
        <p14:creationId xmlns:p14="http://schemas.microsoft.com/office/powerpoint/2010/main" val="1322174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A29BD2-72C5-4F57-AA9F-CE8AD78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增量更新与失败保留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D6656D-A204-457B-98CA-9152CCB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257FE5D-B798-4D2D-BC5B-E2F6E3D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来源契约决定怎样取数、怎样保留与怎样补漏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5EC1-1C2B-4D8E-A141-F696F172E9F0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42862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需要留下的证据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首次采集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明确对象与时间范围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范围、来源与完整分页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日常增量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游标或业务日增量更新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成功覆盖与必要更正窗口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保留有效事实，记录失败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对象、原因与剩余进度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历史补漏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检查日期差集，定向回补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缺口、修正版本与回归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1D240DD-D8D4-49E7-9A6D-4CD06000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普通浏览读取已落库结果；人工刷新仍通过统一受控入口</a:t>
            </a:r>
          </a:p>
        </p:txBody>
      </p:sp>
    </p:spTree>
    <p:extLst>
      <p:ext uri="{BB962C8B-B14F-4D97-AF65-F5344CB8AC3E}">
        <p14:creationId xmlns:p14="http://schemas.microsoft.com/office/powerpoint/2010/main" val="1286930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823F52-A332-48F7-A22F-65C98D5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任务完成与可续跑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BE78B6-7FD8-4E45-BADC-940F314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98222269-E7CE-4F29-9A35-71E5A449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执行进度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F9C43226-1D87-480C-AD0C-BD258A1D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本批处理了哪些对象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EAE628AB-0322-4B4E-9580-3851AA82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剩余对象与未完成阶段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A8D1AFB8-FBBE-46C8-B92E-0A148327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下次执行时间与原因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89A10ECC-C89E-4CE2-9E20-C98A1D61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目标业务日期保持一致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700ABDE9-D27C-4F35-8B83-19EAE08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完成证据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CAED73AD-A9EF-47CC-814C-23BBF06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声明的数据集全部发布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B2D51116-23A1-4495-ADF5-DFE06485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目标范围与日期匹配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E40255B4-6CF5-420C-90D2-1ECBF03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质量检查通过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2F82475A-45DD-4632-A2ED-3FFB048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没有遗留失败对象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ADAA4B4-2D1C-4B3A-BF61-9BE5B015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项目案例：只处理 8 条仍有剩余工作，曾被误报为整体成功</a:t>
            </a:r>
          </a:p>
        </p:txBody>
      </p:sp>
    </p:spTree>
    <p:extLst>
      <p:ext uri="{BB962C8B-B14F-4D97-AF65-F5344CB8AC3E}">
        <p14:creationId xmlns:p14="http://schemas.microsoft.com/office/powerpoint/2010/main" val="1766597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795880-FB7F-4E8B-BFC9-FCA097A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功能扩展的预留边界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C0DCBC-7021-4710-8F35-A435044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B836452-F4D8-4072-AAAC-A27AF9C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3：保留证据、历史与扩展接口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475E9-A1AB-4B60-911D-FDDF55113C4A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381250"/>
                <a:gridCol w="4429125"/>
                <a:gridCol w="4010025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起步时保留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升级依据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市场与币种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统一身份与明确数值语义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出现新市场需求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来源与指标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适配边界与共享计算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接入新来源或指标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所有权、模式与进度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实际并发与执行压力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字段与性能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迁移、兼容接口与可测查询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新增字段或性能瓶颈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D688D50-37EC-4BF9-9CBD-D853FD3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扩展前先确认：现有负责人、可复用入口、新增入口的必要性</a:t>
            </a:r>
          </a:p>
        </p:txBody>
      </p:sp>
    </p:spTree>
    <p:extLst>
      <p:ext uri="{BB962C8B-B14F-4D97-AF65-F5344CB8AC3E}">
        <p14:creationId xmlns:p14="http://schemas.microsoft.com/office/powerpoint/2010/main" val="2126540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DB477-0135-498F-90A7-2361D7D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统一前端的三类资产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675BB4-D88E-48C8-90B1-6ABAE50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1D543DA-BDCE-418D-BAA9-D876A6A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技术 4：AI 需要可查找、可复用、可验证的规范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402858F3-314A-4574-9248-9CE1CEC6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200FD10B-4351-4664-9148-449305D0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479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设计规则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D4726DE2-5AC9-420F-90E4-761097D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479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颜色、字号、间距、控件与响应断点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45A1B589-8656-46BC-A5D2-B6EB04D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58DC865D-E009-40A7-8BA8-4D1F2FE9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718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共享实现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A796D23C-5503-4032-BB8F-4672C23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71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布局、按钮、表格、弹窗和公共交互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756C1D5C-2659-4642-BFC9-5ADD636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286674DB-5C91-41FA-A48C-F631792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参考状态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F1ADD6B1-1058-4A2B-8B4B-54DF0738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常规、加载、空、错误、无权限与手机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621FFDE-198E-4CB2-ADBF-B38CA70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新增页面先复用；公共能力不足时扩展原共享入口</a:t>
            </a:r>
          </a:p>
        </p:txBody>
      </p:sp>
    </p:spTree>
    <p:extLst>
      <p:ext uri="{BB962C8B-B14F-4D97-AF65-F5344CB8AC3E}">
        <p14:creationId xmlns:p14="http://schemas.microsoft.com/office/powerpoint/2010/main" val="570798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38D0A3-BFD3-4A72-AFD9-F8B3742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手机适配与统一交互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F3E241-20DA-4667-9820-7E43D2C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1C059-6493-42DD-9F98-5410BB02DFD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052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8248650"/>
              </a:tblGrid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检查面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共同要求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布局与输入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手机重排、局部横滑、可触达控件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加载、空、失败、过期、权限一致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异步与取数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保留筛选，旧响应失效，布局变化不取数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桌面、手机、触屏与键盘分别检查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D3A3205-5A45-4310-81BB-21D5B11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本项目统一入口：shared/style.css、表格、手机与图表公共能力</a:t>
            </a:r>
          </a:p>
        </p:txBody>
      </p:sp>
    </p:spTree>
    <p:extLst>
      <p:ext uri="{BB962C8B-B14F-4D97-AF65-F5344CB8AC3E}">
        <p14:creationId xmlns:p14="http://schemas.microsoft.com/office/powerpoint/2010/main" val="650765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73F277-43C7-4C73-AF4D-327073A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起步阶段的六项研发设计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72F59F-D92D-4401-AE87-16BB7E7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CF93B6F4-3949-47FC-A612-6330E01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99E3F21C-F080-4470-A689-5A431A5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业务边界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65F0668-0C5C-44F9-B099-D59E809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核心对象、共享事实、所有权与修改权限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8981410-2BA0-4997-BF66-83C546C2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63400AA3-62FC-4FC6-A5E1-EE360165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模块调用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C3B83AB8-4D72-4A5B-B130-CBB3FC0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28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路由、服务、数据访问、来源和任务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5EA8A466-4ED3-407D-B036-0E21A6D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7862EF5D-8A37-4435-8F3B-C8CDE7D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接口契约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2BE2CF74-7D6B-4EBF-968D-DF407AE6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类型、单位、日期、分页、错误与兼容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70437EF4-F1A6-41F6-B1BF-80B8CDB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2524B142-A57A-4009-8C81-D4D077C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数据与任务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B198D7EF-D061-4202-8649-A0E4233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增量、失败保留、依赖、产出与完成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8ED69B6F-BC1A-4751-894B-3499BEC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DA854302-A643-459D-B322-1D3945EC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业务验证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527D29ED-FB3B-474D-8D83-7C8BF7F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57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长期不变量与能够触发问题的反例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82421967-D272-4DA3-88B2-7F6D8F8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211C7628-170F-4C1E-A25C-43D6BD3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环境发布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B2A38DB4-70B3-4F9D-AF70-A0B5424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33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配置、迁移、版本、备份与恢复</a:t>
            </a:r>
          </a:p>
        </p:txBody>
      </p:sp>
    </p:spTree>
    <p:extLst>
      <p:ext uri="{BB962C8B-B14F-4D97-AF65-F5344CB8AC3E}">
        <p14:creationId xmlns:p14="http://schemas.microsoft.com/office/powerpoint/2010/main" val="154351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7CA6E5-FCE1-4637-953E-3E89E8B3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发布后的业务验收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F94385-8F59-4914-A39D-FAE2A4EC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E6091B86-AB5E-426C-BB93-E38919B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版本与请求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D023F3EC-D088-43BB-8537-2E42214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提交与应用版本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6CB86F84-6F0D-4E16-A24A-D1AA8DE7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加载的静态资源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FDAE02E2-52FF-41FA-8728-D6D77CB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相关接口与实际字段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68E0FD7D-2BAD-4D12-996C-A0C32BCA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原权限和同类功能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F5A4681B-5C42-4D0B-AC4C-A110073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数据与运行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D3C877D8-0558-4504-8300-BDD0351A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任务运行记录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EAD4EFB5-D8A7-462D-A30B-D6A5164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目标分区与质量状态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2BE9DCB4-7B2D-41C3-B6CA-F0E279D1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剩余对象与恢复证据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0F2A4F41-5B7D-49DE-989A-F2D0CB0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迁移、备份与恢复能力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A5C5B9B-2EBC-4940-ABBA-045A87A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项目案例：本地修复完成后，生产仍使用旧代码与旧前端</a:t>
            </a:r>
          </a:p>
        </p:txBody>
      </p:sp>
    </p:spTree>
    <p:extLst>
      <p:ext uri="{BB962C8B-B14F-4D97-AF65-F5344CB8AC3E}">
        <p14:creationId xmlns:p14="http://schemas.microsoft.com/office/powerpoint/2010/main" val="1910485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757EC-72C7-4C67-96F5-3E255D8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协作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BBA2C5-4A06-4565-84B6-74298402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826AFC76-8CEC-4F69-9492-95BBCD1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01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长期协作需要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可接续的事实与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可验证的交付</a:t>
            </a:r>
          </a:p>
        </p:txBody>
      </p:sp>
      <p:sp>
        <p:nvSpPr>
          <p:cNvPr id="4" name="section-detail">
            <a:extLst xmlns:a="http://schemas.openxmlformats.org/drawingml/2006/main">
              <a:ext uri="{FF2B5EF4-FFF2-40B4-BE49-F238E27FC236}">
                <a16:creationId xmlns:a16="http://schemas.microsoft.com/office/drawing/2014/main" id="{71B4EE46-E16D-4C59-9BC2-6AFC91B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重复错误、协作边界、知识维护与共同验收</a:t>
            </a:r>
          </a:p>
        </p:txBody>
      </p:sp>
    </p:spTree>
    <p:extLst>
      <p:ext uri="{BB962C8B-B14F-4D97-AF65-F5344CB8AC3E}">
        <p14:creationId xmlns:p14="http://schemas.microsoft.com/office/powerpoint/2010/main" val="13584326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5EF23-2712-4EAD-A7D1-111D73E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重复犯错的原因与对应措施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BFF548-D899-4507-BB45-DDD5CC7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A18F7EA-C8C1-45EC-9CD9-C01762CB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1：原因定位决定防复发方式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FF185-1971-4C00-AE92-F4254D4B4781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905250"/>
                <a:gridCol w="69151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对应措施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缺少上下文或新旧冲突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固定入口，修正原权威段落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约束模糊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写出可判定的不变量与反例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公共实现分散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修复共享入口与数据库约束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测试未触及问题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核对业务预期，加入真实边界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旧数据与旧运行状态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处理存量影响并核对实际版本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34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4E770-43B9-479C-B8D1-89B9A15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重复故障的防复发流程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ED30C5-8122-49D9-9BD9-2035EDA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35BA6-DB4A-4256-B228-256AA67F3193}"/>
              </a:ext>
            </a:extLst>
          </p:cNvPr>
          <p:cNvGraphicFramePr/>
          <p:nvPr/>
        </p:nvGraphicFramePr>
        <p:xfrm>
          <a:off xmlns:a="http://schemas.openxmlformats.org/drawingml/2006/main" x="685800" y="1609725"/>
          <a:ext xmlns:a="http://schemas.openxmlformats.org/drawingml/2006/main" cx="10820400" cy="43434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409950"/>
                <a:gridCol w="7410450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要形成的结果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复现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明确输入、触发条件和错误输出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定义不变量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能够判断对错的业务条件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更新权威知识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修正原位置与旧结论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收敛实现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统一服务、公共函数或数据库约束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防复发检查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错误再次出现时检查会失败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同类与存量核查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覆盖其他对象和历史影响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运行证据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实际版本、结果与恢复状态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468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DE6AD-1E69-4377-BFA7-0D06043B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多 Agent 的分工与集成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0EAEA1-ABFA-4DE9-A7BD-7B8C6EB1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F25A722-A10D-49D3-9DD2-0B150E0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2：共同契约、独立范围、统一收尾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C52E-B5B3-46C7-9330-75D93C347519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4095750"/>
                <a:gridCol w="415290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主要责任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共同输入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协调与集成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定边界、合并、验收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基线与接口契约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数据与后端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迁移、服务与质量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字段、日期与权限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共享组件与页面交互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契约与参考页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反例与完整链路检查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最终集成的代码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5EA8C41-2F12-4621-A0F8-5D0590B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worktree 只隔离文件；数据库、端口、配置与凭据需要单独管理</a:t>
            </a:r>
          </a:p>
        </p:txBody>
      </p:sp>
    </p:spTree>
    <p:extLst>
      <p:ext uri="{BB962C8B-B14F-4D97-AF65-F5344CB8AC3E}">
        <p14:creationId xmlns:p14="http://schemas.microsoft.com/office/powerpoint/2010/main" val="18051345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D1FDD-52D8-4D23-8551-FF7CB46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避免遗漏的影响检查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5C310D-6138-441D-A92C-209B241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844ECC99-18D8-48D8-A5B8-F2111EA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E9532C0-87FC-4E01-A9EB-0830597A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现有能力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5E1DE2CA-7ABC-46B6-B834-998DE4F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240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已有实现、可复用入口与真正缺口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5377BF26-FC35-47AE-BCCB-D913EFE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09B0404B-3E17-4718-91B0-938D5E6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57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完整链路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6F318472-DF06-4715-8B52-C6515AE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5747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来源、库、计算、接口、页面与任务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FE845F1-76A6-4AF0-A39D-72DEB860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E58A605B-74A5-48F3-BB55-ED331A5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权限与环境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0161AC59-95A2-4A32-9A90-16AEB437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9090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用户隔离、日期时区与实际运行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0B77EC43-D035-48C9-B735-29D9046F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C98E40C8-1F1B-4DE2-A8E6-D7BBAE2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243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失败与边界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C4FA61F0-84CE-4524-B8BD-4002643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2432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空值、半完成、重复、晚返回与跨日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E9B018CC-8F02-4609-A8A5-68414E6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2711162F-99F8-4B81-AB0B-419D5ED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证据状态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4053D59A-37E2-49C9-8104-8F5F79C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577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已确认事实、待验证推测和未知</a:t>
            </a:r>
          </a:p>
        </p:txBody>
      </p:sp>
      <p:sp>
        <p:nvSpPr>
          <p:cNvPr id="1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0B26F7C-42C9-4D6C-B472-0A7B7C0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案例提醒：相同的模拟价格，可能掩盖当前与历史口径差异</a:t>
            </a:r>
          </a:p>
        </p:txBody>
      </p:sp>
    </p:spTree>
    <p:extLst>
      <p:ext uri="{BB962C8B-B14F-4D97-AF65-F5344CB8AC3E}">
        <p14:creationId xmlns:p14="http://schemas.microsoft.com/office/powerpoint/2010/main" val="7893892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4FD858-C944-4546-AF98-EF3CE97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token 使用与增量交接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B75585-2C6A-4507-AAB2-B8FF2D8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5C0D4D3D-7625-4D1A-8036-8FF3703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按需读取</a:t>
            </a:r>
          </a:p>
        </p:txBody>
      </p:sp>
      <p:sp>
        <p:nvSpPr>
          <p:cNvPr id="4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98976683-F37C-4C9F-9B7D-580981E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固定入口与主题路由</a:t>
            </a:r>
          </a:p>
        </p:txBody>
      </p:sp>
      <p:sp>
        <p:nvSpPr>
          <p:cNvPr id="5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8DFE7825-164C-4F86-80FC-4F0C277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当前权威段落优先</a:t>
            </a:r>
          </a:p>
        </p:txBody>
      </p:sp>
      <p:sp>
        <p:nvSpPr>
          <p:cNvPr id="6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4C34C267-D6F0-48B8-B9C4-5E1ECD2F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符号、路径与命中上下文</a:t>
            </a:r>
          </a:p>
        </p:txBody>
      </p:sp>
      <p:sp>
        <p:nvSpPr>
          <p:cNvPr id="7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E6F2D801-C8D3-465C-8714-0EE5919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历史仅按需要回查</a:t>
            </a:r>
          </a:p>
        </p:txBody>
      </p:sp>
      <p:sp>
        <p:nvSpPr>
          <p:cNvPr id="8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857F9D63-C94F-4D6A-B8E9-A47308C1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增量交接</a:t>
            </a:r>
          </a:p>
        </p:txBody>
      </p:sp>
      <p:sp>
        <p:nvSpPr>
          <p:cNvPr id="9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03A87D16-E450-41C3-A50D-9FAEDDD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目标、基线与改动文件</a:t>
            </a:r>
          </a:p>
        </p:txBody>
      </p:sp>
      <p:sp>
        <p:nvSpPr>
          <p:cNvPr id="10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F0272AF8-22A2-4165-9420-83D2A39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已确认原因与决定</a:t>
            </a:r>
          </a:p>
        </p:txBody>
      </p:sp>
      <p:sp>
        <p:nvSpPr>
          <p:cNvPr id="11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22DC8B6C-15C6-4C9C-9599-34900F1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检查版本与未知项</a:t>
            </a:r>
          </a:p>
        </p:txBody>
      </p:sp>
      <p:sp>
        <p:nvSpPr>
          <p:cNvPr id="12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3A8CAEF2-8241-4ACC-9126-13F47E0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下一步和权威入口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EF1EA7D-A696-4CEE-A0CD-50490AE5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减少重复上下文与返工，同时保留适用的检查门禁</a:t>
            </a:r>
          </a:p>
        </p:txBody>
      </p:sp>
    </p:spTree>
    <p:extLst>
      <p:ext uri="{BB962C8B-B14F-4D97-AF65-F5344CB8AC3E}">
        <p14:creationId xmlns:p14="http://schemas.microsoft.com/office/powerpoint/2010/main" val="16191795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8E2757-E00A-45B4-A5F0-0D5BCDE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统一知识库的起步结构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5704AF-1ED4-4309-8BD6-B72DB73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CCBD8812-7E2F-4B9C-BE2C-68B146C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AI 5：项目复杂后，聊天记录难以独立承担事实入口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E096A-B0B6-484E-8A86-6ED899DF3559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27051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762375"/>
                <a:gridCol w="7058025"/>
              </a:tblGrid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起步职责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简短研发约束与交付标准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知识索引.md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主题入口、权威位置与未完成事项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技术架构.md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当前模块、数据、接口、任务与发布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05D14C1-7E0F-4411-81D9-9616DAFB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增长后再加：决策、事故、交接，以及按 read/update/checks 路由</a:t>
            </a:r>
          </a:p>
        </p:txBody>
      </p:sp>
    </p:spTree>
    <p:extLst>
      <p:ext uri="{BB962C8B-B14F-4D97-AF65-F5344CB8AC3E}">
        <p14:creationId xmlns:p14="http://schemas.microsoft.com/office/powerpoint/2010/main" val="15375329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85FED-33E9-4F2D-B43E-3C09547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知识更新的归属与替代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624B4D-8C6F-4B8C-BF5D-5039DEF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31A279CB-BB3C-46D2-9EDD-62A3B276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50EAA96-11C2-496B-AB70-D68C6C36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62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先检索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E8CB5F30-F91D-45CE-B63C-773B109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6215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找到原结论，判断是否必要新增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210FB24-A6A4-4630-B24E-B557AC2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5746F605-5292-4EAE-A47B-CA26B94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定归属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1ED38F84-2E9C-4BD9-B7B1-AFEAC3B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9557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现状、取舍、事故、未完成各归其位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8572AC7-440E-497E-B1FE-DE6B3DF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A93BC5BE-5C13-4EB9-9F40-09C605A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就地替换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A9651FC7-DEEF-40B6-B6D8-A2070CE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同步旧段落、索引与相关引用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E7668CD7-5C81-4CA8-BDFC-7398F58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D3423F58-3B64-4927-8209-A9FC120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24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保留证据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E6CAD520-8F3C-481D-9DAF-923CEAE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6242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归档历史，保留根因与真实未闭环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7683BC46-1F93-4056-8D9A-35588107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3609F9B2-CB73-4198-B635-DCF5F725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双向核对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2641C241-3DAF-4616-A370-15349EA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9585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开始按主题读取，收尾按改动更新</a:t>
            </a:r>
          </a:p>
        </p:txBody>
      </p:sp>
    </p:spTree>
    <p:extLst>
      <p:ext uri="{BB962C8B-B14F-4D97-AF65-F5344CB8AC3E}">
        <p14:creationId xmlns:p14="http://schemas.microsoft.com/office/powerpoint/2010/main" val="213225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375860-8D61-46C1-83DE-810BE6A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避免跷跷板的共同验收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D91A80-B213-4CDE-9001-2E60601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DD2B8-46A8-4D05-BA5F-7ECCBCD97FE4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86000"/>
                <a:gridCol w="4286250"/>
                <a:gridCol w="4248150"/>
              </a:tblGrid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改善目标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同时保持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共同解法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页面更快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来源、日期、权限与口径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读取与采集分开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批量任务更稳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最终覆盖全部目标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分批、保存进度、续跑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手机更好用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字段完整、桌面仍可用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共享重排与局部横滑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少调用接口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更正和缺口可发现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增量水位与定向补漏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B5F70AC-13CF-4145-AAB7-B5B20B6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验收三个方向：当前案例、既有能力、同类范围</a:t>
            </a:r>
          </a:p>
        </p:txBody>
      </p:sp>
    </p:spTree>
    <p:extLst>
      <p:ext uri="{BB962C8B-B14F-4D97-AF65-F5344CB8AC3E}">
        <p14:creationId xmlns:p14="http://schemas.microsoft.com/office/powerpoint/2010/main" val="691628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ABF041-6A4B-4309-BBE0-85E850C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交给 AI 的任务契约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38B8D8-B2D2-410D-A20D-F12B7622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38A78A88-3DFA-4958-99D6-2B5F0B6A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93B81BD-D1E0-432A-9955-1B2B237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目标与边界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C640C1B2-C59D-4F10-AC2D-9BC87E4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用户、场景、复现和完成标准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11234FE3-336A-4CCF-BAEB-D970D9E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DB408627-FCEA-4CA9-82DD-19E72CD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已有事实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FFD6750D-AFF1-42E4-A8C6-06295D0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28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基线、权威资料、事实与未知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B376289C-DE24-4AE5-8908-522BB04D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0A877440-E529-49B9-8295-0CD39EE0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完整影响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2004772C-108A-4427-9AC3-E9FFE5B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数据链路、权限、运行环境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8C96D202-A912-4BE5-872F-544E8D3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C015DDE5-D4B9-42B0-B2C4-7189F6F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8ABDD6A5-4BF7-482F-92BF-00FA821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本次改善与必须保持的原能力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F81043B4-F83C-4051-B8C3-DAF5E42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3EF3180C-1AD6-451B-91B6-E9D8974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实施与协作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2B9CAF26-4434-4907-B7BB-6634217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57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复用入口、允许文件、集成负责人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F2E9CE95-7975-4EA3-AAD8-C78B006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4ABE0BDB-24B5-45CC-AFB8-3D2C88E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22D44D70-00B3-4332-8EFF-921832F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33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检查结果、同类范围、知识与未完成</a:t>
            </a:r>
          </a:p>
        </p:txBody>
      </p:sp>
    </p:spTree>
    <p:extLst>
      <p:ext uri="{BB962C8B-B14F-4D97-AF65-F5344CB8AC3E}">
        <p14:creationId xmlns:p14="http://schemas.microsoft.com/office/powerpoint/2010/main" val="8149097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F3041C-8CE0-45C3-ACEE-804BC16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可复制的研发流程与门禁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64DC03-5B74-4427-8763-0C5D1DF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5576728-5AAE-48D2-9177-D3C9742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十份模板：按阶段选择，先从最小闭环开始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4AA5FFCC-949C-4C2F-8772-992F40C0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42FAEA39-1EE4-4C69-BD90-06695B9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项目起步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3440F367-FF5B-42F2-A86E-36CE01B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第一版范围、真实配置与根目录规则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776D033A-AC46-495B-8946-4058359B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78E0235A-61E0-4D88-9DBA-E43FAC9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开始任务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249F08C3-CD19-48B9-B23E-571C679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读入口，核对现状、复用能力与缺口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C66063D0-149D-4F15-A738-824720F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5CAE513C-60BF-4455-86CD-40ECB56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分类实施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EE23E9BE-6285-4E54-9889-671D9A32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功能、Bug、数据任务或共享前端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A15B34CA-20C9-4BD3-BA42-54A7ABB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D8DC019C-EF19-4916-B7A0-E5B115C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自动保护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150F94BD-7AC6-4C2F-901F-AA8A7993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将重要不变量接入检查与交付入口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1CD06E70-AC1F-47F2-9246-7DF20EDC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0A1B4202-FDB4-4211-BE7F-6FC1D45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交付接续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3177DA2C-2014-4B3F-A9E5-41C449F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本地、发布恢复、协作与知识回执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E1BDEFF5-0A49-4D39-9C49-1A6D7FA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完整可复制文本见 Markdown 与对应页讲者备注</a:t>
            </a:r>
          </a:p>
        </p:txBody>
      </p:sp>
    </p:spTree>
    <p:extLst>
      <p:ext uri="{BB962C8B-B14F-4D97-AF65-F5344CB8AC3E}">
        <p14:creationId xmlns:p14="http://schemas.microsoft.com/office/powerpoint/2010/main" val="19979796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5E16D6-B94F-4D69-A5CE-850F707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项目根规则先填真实配置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FE80DE-0C19-4858-A702-C29C2939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2DD6A19D-CD4A-423C-845B-FEA1CB20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2：复制到自己项目根目录，填写配置</a:t>
            </a:r>
          </a:p>
        </p:txBody>
      </p:sp>
      <p:sp>
        <p:nvSpPr>
          <p:cNvPr id="4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7FFE7175-A907-4EBF-AE11-DBFE39ED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填写项目事实</a:t>
            </a:r>
          </a:p>
        </p:txBody>
      </p:sp>
      <p:sp>
        <p:nvSpPr>
          <p:cNvPr id="5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32C02824-CD80-4180-A8A2-514C8EF0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根目录、语言与运行时</a:t>
            </a:r>
          </a:p>
        </p:txBody>
      </p:sp>
      <p:sp>
        <p:nvSpPr>
          <p:cNvPr id="6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EBE91A17-A3E6-4E60-B57D-D02A804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知识索引与架构入口</a:t>
            </a:r>
          </a:p>
        </p:txBody>
      </p:sp>
      <p:sp>
        <p:nvSpPr>
          <p:cNvPr id="7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9B369F52-D50B-4C6C-8E19-6193ECB4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 UI 与权威数据入口</a:t>
            </a:r>
          </a:p>
        </p:txBody>
      </p:sp>
      <p:sp>
        <p:nvSpPr>
          <p:cNvPr id="8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2D389695-AF9A-4694-AD42-5D6BC237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业务时区与版本来源</a:t>
            </a:r>
          </a:p>
        </p:txBody>
      </p:sp>
      <p:sp>
        <p:nvSpPr>
          <p:cNvPr id="9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3B0365A8-BD0D-45A3-AE05-03E5DC7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填写执行入口</a:t>
            </a:r>
          </a:p>
        </p:txBody>
      </p:sp>
      <p:sp>
        <p:nvSpPr>
          <p:cNvPr id="10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76202D83-1663-4B8F-87E7-5229E3B2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已有测试与知识检查命令</a:t>
            </a:r>
          </a:p>
        </p:txBody>
      </p:sp>
      <p:sp>
        <p:nvSpPr>
          <p:cNvPr id="11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E0B6E04A-A385-4CAF-A85A-AD196FF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本地启动、刷新与健康接口</a:t>
            </a:r>
          </a:p>
        </p:txBody>
      </p:sp>
      <p:sp>
        <p:nvSpPr>
          <p:cNvPr id="12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07A6E557-C826-47A8-BEDA-8643A1C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发布流程与数据写入权限</a:t>
            </a:r>
          </a:p>
        </p:txBody>
      </p:sp>
      <p:sp>
        <p:nvSpPr>
          <p:cNvPr id="13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AF9005C0-5C68-404C-8634-C6A1172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未建立的能力明确留空</a:t>
            </a:r>
          </a:p>
        </p:txBody>
      </p:sp>
      <p:sp>
        <p:nvSpPr>
          <p:cNvPr id="1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31E2FED-1383-4947-884A-B8258B2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不用照搬端口、分支、数据库路径、服务名与四位版本号</a:t>
            </a:r>
          </a:p>
        </p:txBody>
      </p:sp>
    </p:spTree>
    <p:extLst>
      <p:ext uri="{BB962C8B-B14F-4D97-AF65-F5344CB8AC3E}">
        <p14:creationId xmlns:p14="http://schemas.microsoft.com/office/powerpoint/2010/main" val="339961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E1D4D-9691-46F7-B9F3-E32401E5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设计门禁先核对已有能力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0D41AA-0FCD-465F-A1A1-3808623E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DFDB8D0-4266-4460-9A93-093868D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1、3：从需求边界到可验证的方案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76A2CD69-E706-411A-8A22-992F42B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B285DD83-B416-4473-8CD3-26012D00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限定第一版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CDC3C10F-986B-4166-966A-B0539E7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一个核心流程，写明暂不做什么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FBDC282E-5E8B-4BB1-8412-B7C013E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F4CD907D-4880-4C13-9C9F-704B896D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核对现状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9D0C9F11-82EF-406D-8378-569EF09C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代码、任务、数据与真实运行边界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47AB43EB-2E35-4DDF-AD39-8C805E4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00536B9D-63E4-46F4-A2AA-EEB7B22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确认复用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C4DFA6C2-9023-476E-9292-F842B1E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说明公共入口与真正的缺口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59F0BDDD-782E-4463-82F7-5ACF4787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6D6661A6-34EF-49A2-9460-AEEA4A91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检查影响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4C5C8044-98F6-4C89-A19C-8055B67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完整数据链路、权限与环境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5E45C376-8AB2-4050-AF2C-FCD55C9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8C3C16CF-370A-4ED0-AB95-A85F533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确定验收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A0FF5F3A-65A6-45C0-BC11-024C1557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本次改善、原能力与失败场景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40C2977-EAB9-4774-9C3B-83149C84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放行：能指出实现入口、影响范围、同步文档与验证方法</a:t>
            </a:r>
          </a:p>
        </p:txBody>
      </p:sp>
    </p:spTree>
    <p:extLst>
      <p:ext uri="{BB962C8B-B14F-4D97-AF65-F5344CB8AC3E}">
        <p14:creationId xmlns:p14="http://schemas.microsoft.com/office/powerpoint/2010/main" val="20128271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7509F0-7538-4330-9DC2-70EE8193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Bug 修复验收样本与同类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7D0275-8693-4191-A055-81463A7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3A96ACE1-B21C-44F5-B5F5-63D6D78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4：先找最早偏差，修复后查询同类集合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F0F1-C535-4B24-8669-4F9AFF0BCCBA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667000"/>
                <a:gridCol w="81534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要求形成的证据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版本、环境、身份、日期与实际输出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完整链路中的最早偏差与根因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公共实现、存量数据与运行状态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同类核查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集合、通过/失败/未核验数量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防复发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旧反例与通用不变量检查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175B37F-C844-4F66-809F-30E4E21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放行：同类范围已核查，未恢复部分有明确去向</a:t>
            </a:r>
          </a:p>
        </p:txBody>
      </p:sp>
    </p:spTree>
    <p:extLst>
      <p:ext uri="{BB962C8B-B14F-4D97-AF65-F5344CB8AC3E}">
        <p14:creationId xmlns:p14="http://schemas.microsoft.com/office/powerpoint/2010/main" val="8624254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4B184-F9AB-4731-BB5C-BE6B1BCD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数据任务完成必须有证据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CAFEA2-EFEC-4666-8F64-F2C8FAD7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ECC7222-E72F-441D-BE04-EA1E3F3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5：成功、部分完成、失败与无新增分别判断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4FD50-6B1B-4DEB-AD0D-8C76D40D8935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667000"/>
                <a:gridCol w="81534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正确处理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重复执行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唯一键去重，共用采集与写入入口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异常或未知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保留有效事实，记录质量缺口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分批中断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保存队列、剩余数量与续跑时间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阶段完成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产出、日期、依赖和质量均有证据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新证据匹配实际作用域与数据分区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37F422C-7E66-4D49-88FA-7467E61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放行：声明的本阶段产出全部验证，剩余工作未被隐藏</a:t>
            </a:r>
          </a:p>
        </p:txBody>
      </p:sp>
    </p:spTree>
    <p:extLst>
      <p:ext uri="{BB962C8B-B14F-4D97-AF65-F5344CB8AC3E}">
        <p14:creationId xmlns:p14="http://schemas.microsoft.com/office/powerpoint/2010/main" val="12213337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90434-00CC-4A6A-B3D1-D68501D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前端门禁分别记录行为与实测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5AAF4A-A25E-424B-8E75-FB1432C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45817FFA-2615-4696-AB17-21BE6910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6：先交给 AI 代表性页面与公共实现</a:t>
            </a:r>
          </a:p>
        </p:txBody>
      </p:sp>
      <p:sp>
        <p:nvSpPr>
          <p:cNvPr id="4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CD8B0F48-F807-4392-A2BF-065DE7D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公共约束</a:t>
            </a:r>
          </a:p>
        </p:txBody>
      </p:sp>
      <p:sp>
        <p:nvSpPr>
          <p:cNvPr id="5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67AE283C-1FE7-43CF-BA4D-4600D59D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共享样式、组件与页面状态</a:t>
            </a:r>
          </a:p>
        </p:txBody>
      </p:sp>
      <p:sp>
        <p:nvSpPr>
          <p:cNvPr id="6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AA47D45D-F459-4425-8162-2FF3CAB1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桌面与手机同时重排</a:t>
            </a:r>
          </a:p>
        </p:txBody>
      </p:sp>
      <p:sp>
        <p:nvSpPr>
          <p:cNvPr id="7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04F72CD0-5B75-44D2-8EE8-64C6585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完整字段、权限与数据口径</a:t>
            </a:r>
          </a:p>
        </p:txBody>
      </p:sp>
      <p:sp>
        <p:nvSpPr>
          <p:cNvPr id="8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2AEA31DA-C1F7-47A3-9D25-135B3D7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旋转和交互不额外采集</a:t>
            </a:r>
          </a:p>
        </p:txBody>
      </p:sp>
      <p:sp>
        <p:nvSpPr>
          <p:cNvPr id="9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F205AF2B-83F2-4894-BB72-2058668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验收证据</a:t>
            </a:r>
          </a:p>
        </p:txBody>
      </p:sp>
      <p:sp>
        <p:nvSpPr>
          <p:cNvPr id="10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AD0700B1-4F14-4A8A-B1AE-207F2195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多尺寸与断点附近的布局</a:t>
            </a:r>
          </a:p>
        </p:txBody>
      </p:sp>
      <p:sp>
        <p:nvSpPr>
          <p:cNvPr id="11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A39A6A8B-14EC-4838-A71A-F5049FB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触屏、键盘、弹窗与滚动</a:t>
            </a:r>
          </a:p>
        </p:txBody>
      </p:sp>
      <p:sp>
        <p:nvSpPr>
          <p:cNvPr id="12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B357B2A9-D894-4998-A0DB-98E60A51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行为、布局、真机分别记录</a:t>
            </a:r>
          </a:p>
        </p:txBody>
      </p:sp>
      <p:sp>
        <p:nvSpPr>
          <p:cNvPr id="13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4F1188DA-61A5-44B0-88B7-242E6CA9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受限或未实测项保留未验证</a:t>
            </a:r>
          </a:p>
        </p:txBody>
      </p:sp>
      <p:sp>
        <p:nvSpPr>
          <p:cNvPr id="1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1C5BF6C-24A2-4639-9914-D4DFB8C9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放行：适用检查有证据，未实测能力没有被写成通过</a:t>
            </a:r>
          </a:p>
        </p:txBody>
      </p:sp>
    </p:spTree>
    <p:extLst>
      <p:ext uri="{BB962C8B-B14F-4D97-AF65-F5344CB8AC3E}">
        <p14:creationId xmlns:p14="http://schemas.microsoft.com/office/powerpoint/2010/main" val="15224666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DBA15B-927F-4362-BA01-58D710EE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让规则真正阻断同类错误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732854-C0A0-479A-A771-8472E9B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E3BEE7A9-8C5B-4E9F-B58B-FE8E3F6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7：文字约束逐步进入自动交付入口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8E44ED12-9CBD-444A-95B2-B9B1C11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BC752864-2192-479E-8B2A-BDAF827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定义条件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9DCA5B52-5830-482F-B44C-D4050AF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用长期业务不变量表达规则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51946294-7B53-42DC-9B5E-0F78726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89303F20-4445-4A2B-BCC6-AF1EE88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绑定实现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84D7EDE7-73B4-4C9A-B2DD-F86CFD5B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文件、函数、正常与反例测试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C9274E79-53EF-4EE6-8AF2-0134C4B5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A7393286-E3D1-4D06-9E47-12E4942D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接入入口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24A49BF5-1D16-43F7-B875-2E1BF66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本地检查、统一测试或 CI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3EAB190B-F68A-4ECC-A80D-1CF13A2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8EC7BD66-1CE5-45D8-A946-39046823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验证失败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A07FA899-F42C-4713-A75E-EB5F0C64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违反规则的最小例子必须失败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BDD359BA-3166-48B3-BFB4-C123AB8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5D1FC123-E0C2-49C5-947D-661786B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登记状态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528672B8-81F2-46CE-ADE5-825F51C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文字、待接入、待验证、已验证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49D8167-8731-4DA1-97A3-51D44696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放行：违反规则会失败，最终入口确实执行对应检查</a:t>
            </a:r>
          </a:p>
        </p:txBody>
      </p:sp>
    </p:spTree>
    <p:extLst>
      <p:ext uri="{BB962C8B-B14F-4D97-AF65-F5344CB8AC3E}">
        <p14:creationId xmlns:p14="http://schemas.microsoft.com/office/powerpoint/2010/main" val="3929234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C93387-4B78-4D28-8CCB-B1E5075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本项目已建立的检查入口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233D78-87A1-4D5F-BE4D-DA18ED42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F33BA5F-D6B6-4E1C-9AF6-D1F726C7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入口可以借鉴，实现与接入需要匹配自己的项目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D4AC6-AFB2-462E-99F1-2E40A08B771A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905125"/>
                <a:gridCol w="7915275"/>
              </a:tblGrid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已有执行入口或能力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check:knowledge，路由与矩阵检查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check:date，日期回归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test:all，独立测试库与 CI 跳过约束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前端与任务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移动行为、资源版本、任务规则回归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基础与安全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语法、JSON、依赖审计与秘密扫描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8786D51-A636-40DF-87C6-E4ED9D9A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检查入口存在，与本轮执行通过，是两种不同事实</a:t>
            </a:r>
          </a:p>
        </p:txBody>
      </p:sp>
    </p:spTree>
    <p:extLst>
      <p:ext uri="{BB962C8B-B14F-4D97-AF65-F5344CB8AC3E}">
        <p14:creationId xmlns:p14="http://schemas.microsoft.com/office/powerpoint/2010/main" val="14097951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35C267-B862-4D31-BD9D-04C7D490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本地发布与恢复形成闭环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10635B-496A-4ADD-B74C-5705F127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0DF6F546-8462-42D7-90F3-FF9BAEE8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8：执行命令来自自己的标准发布文档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AF783-60A2-4967-B70A-C2752B154DB3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7909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667000"/>
                <a:gridCol w="8153400"/>
              </a:tblGrid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版本与验证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记录同步，适用检查通过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本地运行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进程、健康、接口与资源一致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范围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精确暂存，目标提交已推送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生产发布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标准入口，写入在授权范围内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验收与恢复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服务、字段、质量及恢复记录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FB616C5-26D8-4C2E-B960-C7CAE03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失败按恢复流程处理；备份在隔离环境验证，不能只看文件存在</a:t>
            </a:r>
          </a:p>
        </p:txBody>
      </p:sp>
    </p:spTree>
    <p:extLst>
      <p:ext uri="{BB962C8B-B14F-4D97-AF65-F5344CB8AC3E}">
        <p14:creationId xmlns:p14="http://schemas.microsoft.com/office/powerpoint/2010/main" val="18260977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7890E-918D-4114-B392-5BE6A77F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多 Agent 先确定集成责任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C6EDF2-780D-431C-8155-6026470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F81BB10E-6953-4F4B-B903-F4295D8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9：按独立边界并行，由一个集成者完成收尾</a:t>
            </a:r>
          </a:p>
        </p:txBody>
      </p:sp>
      <p:sp>
        <p:nvSpPr>
          <p:cNvPr id="4" name="column-heading-72">
            <a:extLst xmlns:a="http://schemas.openxmlformats.org/drawingml/2006/main">
              <a:ext uri="{FF2B5EF4-FFF2-40B4-BE49-F238E27FC236}">
                <a16:creationId xmlns:a16="http://schemas.microsoft.com/office/drawing/2014/main" id="{9D426E6F-2278-4A77-A371-5BBDA49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开始协作前</a:t>
            </a:r>
          </a:p>
        </p:txBody>
      </p:sp>
      <p:sp>
        <p:nvSpPr>
          <p:cNvPr id="5" name="column-line-72-0">
            <a:extLst xmlns:a="http://schemas.openxmlformats.org/drawingml/2006/main">
              <a:ext uri="{FF2B5EF4-FFF2-40B4-BE49-F238E27FC236}">
                <a16:creationId xmlns:a16="http://schemas.microsoft.com/office/drawing/2014/main" id="{AF732632-12A0-4221-8ACF-3639B84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共同目标、基线与业务条件</a:t>
            </a:r>
          </a:p>
        </p:txBody>
      </p:sp>
      <p:sp>
        <p:nvSpPr>
          <p:cNvPr id="6" name="column-line-72-1">
            <a:extLst xmlns:a="http://schemas.openxmlformats.org/drawingml/2006/main">
              <a:ext uri="{FF2B5EF4-FFF2-40B4-BE49-F238E27FC236}">
                <a16:creationId xmlns:a16="http://schemas.microsoft.com/office/drawing/2014/main" id="{489E9506-DF67-4538-90DE-1DD250C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各自可写文件与禁止范围</a:t>
            </a:r>
          </a:p>
        </p:txBody>
      </p:sp>
      <p:sp>
        <p:nvSpPr>
          <p:cNvPr id="7" name="column-line-72-2">
            <a:extLst xmlns:a="http://schemas.openxmlformats.org/drawingml/2006/main">
              <a:ext uri="{FF2B5EF4-FFF2-40B4-BE49-F238E27FC236}">
                <a16:creationId xmlns:a16="http://schemas.microsoft.com/office/drawing/2014/main" id="{C62FFBAA-28ED-4D12-A35C-8A013342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共享契约和数据写入负责人</a:t>
            </a:r>
          </a:p>
        </p:txBody>
      </p:sp>
      <p:sp>
        <p:nvSpPr>
          <p:cNvPr id="8" name="column-line-72-3">
            <a:extLst xmlns:a="http://schemas.openxmlformats.org/drawingml/2006/main">
              <a:ext uri="{FF2B5EF4-FFF2-40B4-BE49-F238E27FC236}">
                <a16:creationId xmlns:a16="http://schemas.microsoft.com/office/drawing/2014/main" id="{2F09B91F-44D8-461B-825F-4A4E815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集成、统一回归与发布责任</a:t>
            </a:r>
          </a:p>
        </p:txBody>
      </p:sp>
      <p:sp>
        <p:nvSpPr>
          <p:cNvPr id="9" name="column-heading-690">
            <a:extLst xmlns:a="http://schemas.openxmlformats.org/drawingml/2006/main">
              <a:ext uri="{FF2B5EF4-FFF2-40B4-BE49-F238E27FC236}">
                <a16:creationId xmlns:a16="http://schemas.microsoft.com/office/drawing/2014/main" id="{8BDAFE6B-B90B-4367-9D1A-0C39B61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交接与成本</a:t>
            </a:r>
          </a:p>
        </p:txBody>
      </p:sp>
      <p:sp>
        <p:nvSpPr>
          <p:cNvPr id="10" name="column-line-690-0">
            <a:extLst xmlns:a="http://schemas.openxmlformats.org/drawingml/2006/main">
              <a:ext uri="{FF2B5EF4-FFF2-40B4-BE49-F238E27FC236}">
                <a16:creationId xmlns:a16="http://schemas.microsoft.com/office/drawing/2014/main" id="{A5BE24D8-E9CD-4B2D-B459-86D9BD7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结论引用仓库，保留未知项</a:t>
            </a:r>
          </a:p>
        </p:txBody>
      </p:sp>
      <p:sp>
        <p:nvSpPr>
          <p:cNvPr id="11" name="column-line-690-1">
            <a:extLst xmlns:a="http://schemas.openxmlformats.org/drawingml/2006/main">
              <a:ext uri="{FF2B5EF4-FFF2-40B4-BE49-F238E27FC236}">
                <a16:creationId xmlns:a16="http://schemas.microsoft.com/office/drawing/2014/main" id="{2116E801-ED38-4982-83D4-73BAD356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记录变更、证据和下一步</a:t>
            </a:r>
          </a:p>
        </p:txBody>
      </p:sp>
      <p:sp>
        <p:nvSpPr>
          <p:cNvPr id="12" name="column-line-690-2">
            <a:extLst xmlns:a="http://schemas.openxmlformats.org/drawingml/2006/main">
              <a:ext uri="{FF2B5EF4-FFF2-40B4-BE49-F238E27FC236}">
                <a16:creationId xmlns:a16="http://schemas.microsoft.com/office/drawing/2014/main" id="{A4180CD6-4F3D-4AE1-8EF4-52586FFE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按索引读，避免复制全量历史</a:t>
            </a:r>
          </a:p>
        </p:txBody>
      </p:sp>
      <p:sp>
        <p:nvSpPr>
          <p:cNvPr id="13" name="column-line-690-3">
            <a:extLst xmlns:a="http://schemas.openxmlformats.org/drawingml/2006/main">
              <a:ext uri="{FF2B5EF4-FFF2-40B4-BE49-F238E27FC236}">
                <a16:creationId xmlns:a16="http://schemas.microsoft.com/office/drawing/2014/main" id="{44F0FB9D-8B28-4A53-B650-3608662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933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预算与时限不改变完成条件</a:t>
            </a:r>
          </a:p>
        </p:txBody>
      </p:sp>
      <p:sp>
        <p:nvSpPr>
          <p:cNvPr id="1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26123C6-CF4C-43B3-862C-2A67DEF8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放行：合并结果满足共同契约，分工完成不等于整体完成</a:t>
            </a:r>
          </a:p>
        </p:txBody>
      </p:sp>
    </p:spTree>
    <p:extLst>
      <p:ext uri="{BB962C8B-B14F-4D97-AF65-F5344CB8AC3E}">
        <p14:creationId xmlns:p14="http://schemas.microsoft.com/office/powerpoint/2010/main" val="10065528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ACD994-4EA6-4858-BDF2-0032ADD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知识更新与交付都要有回执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EBB762-D098-4C15-876B-E2108C4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B18E2685-6663-42BA-8BC2-A3995BD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模板 10：压缩重复知识，保留根因、证据与真实缺口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3F6CFF7F-577F-4E5D-A815-E86D148E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CAB4EB37-CC47-4E8E-A0A9-939540C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核对归属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F5CC877B-34ED-4939-B549-2ED611E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现状、决定、事故与交接各有位置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44646292-1F71-41B9-B679-60E7A5D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701180CB-DEF2-4BF2-9B7C-22AC28CC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修正原文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7C39808E-E062-4BD2-B6A9-982158C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替换旧结论，同步索引和引用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4435CFB4-3FBD-4618-95C7-9C278A68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FEB69AC0-35E1-41EE-94D1-4698D0B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记录证据</a:t>
            </a:r>
          </a:p>
        </p:txBody>
      </p:sp>
      <p:sp>
        <p:nvSpPr>
          <p:cNvPr id="12" name="detail-2">
            <a:extLst xmlns:a="http://schemas.openxmlformats.org/drawingml/2006/main">
              <a:ext uri="{FF2B5EF4-FFF2-40B4-BE49-F238E27FC236}">
                <a16:creationId xmlns:a16="http://schemas.microsoft.com/office/drawing/2014/main" id="{53B1D0ED-78BD-40B5-9DD8-B324787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版本、环境、检查与同类数量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A3EC5F62-96F6-4814-88F5-FEE4B1D7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BAC322E1-37E4-4886-A928-E0DCC65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分别报状态</a:t>
            </a:r>
          </a:p>
        </p:txBody>
      </p:sp>
      <p:sp>
        <p:nvSpPr>
          <p:cNvPr id="15" name="detail-3">
            <a:extLst xmlns:a="http://schemas.openxmlformats.org/drawingml/2006/main">
              <a:ext uri="{FF2B5EF4-FFF2-40B4-BE49-F238E27FC236}">
                <a16:creationId xmlns:a16="http://schemas.microsoft.com/office/drawing/2014/main" id="{9136B99B-F6AD-478E-B44A-F89F62E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529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本地、生产、数据与恢复分别说明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E8174F16-1639-4B17-AFE4-8764082D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label-4">
            <a:extLst xmlns:a="http://schemas.openxmlformats.org/drawingml/2006/main">
              <a:ext uri="{FF2B5EF4-FFF2-40B4-BE49-F238E27FC236}">
                <a16:creationId xmlns:a16="http://schemas.microsoft.com/office/drawing/2014/main" id="{94E2115D-2CC3-4D92-8A9E-96DA818D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留下下一步</a:t>
            </a:r>
          </a:p>
        </p:txBody>
      </p:sp>
      <p:sp>
        <p:nvSpPr>
          <p:cNvPr id="18" name="detail-4">
            <a:extLst xmlns:a="http://schemas.openxmlformats.org/drawingml/2006/main">
              <a:ext uri="{FF2B5EF4-FFF2-40B4-BE49-F238E27FC236}">
                <a16:creationId xmlns:a16="http://schemas.microsoft.com/office/drawing/2014/main" id="{931BCCBA-96C6-4A59-B1DF-97569608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768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未验证、未完成与知识处理结果</a:t>
            </a:r>
          </a:p>
        </p:txBody>
      </p:sp>
      <p:sp>
        <p:nvSpPr>
          <p:cNvPr id="1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E94BF943-C9A7-4666-B6E8-8054E952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测试通过、线上更新、质量恢复与任务归档分别判断</a:t>
            </a:r>
          </a:p>
        </p:txBody>
      </p:sp>
    </p:spTree>
    <p:extLst>
      <p:ext uri="{BB962C8B-B14F-4D97-AF65-F5344CB8AC3E}">
        <p14:creationId xmlns:p14="http://schemas.microsoft.com/office/powerpoint/2010/main" val="10084343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F2A96-8E49-4EBC-853A-72E3423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建站的起步顺序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854F5-7D5E-49AC-B03A-A528A11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12752DA0-65D5-4AB0-81DC-99B4115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0869FE3A-AAFF-485D-8245-11880F3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526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真实流程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CFAC6D70-EF48-4FD7-8E9A-6D758DF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526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核心用户、一次完整使用与业务条件</a:t>
            </a:r>
          </a:p>
        </p:txBody>
      </p:sp>
      <p:sp>
        <p:nvSpPr>
          <p:cNvPr id="6" name="num-1">
            <a:extLst xmlns:a="http://schemas.openxmlformats.org/drawingml/2006/main">
              <a:ext uri="{FF2B5EF4-FFF2-40B4-BE49-F238E27FC236}">
                <a16:creationId xmlns:a16="http://schemas.microsoft.com/office/drawing/2014/main" id="{B6D78A76-EB11-4C8F-8AB9-0408BCA7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957D524B-0FD0-41BE-9558-22BFDC55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技术与职责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5A51A425-1893-41D4-9456-ADC059AC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选择架构，明确调用与数据归属</a:t>
            </a:r>
          </a:p>
        </p:txBody>
      </p:sp>
      <p:sp>
        <p:nvSpPr>
          <p:cNvPr id="9" name="num-2">
            <a:extLst xmlns:a="http://schemas.openxmlformats.org/drawingml/2006/main">
              <a:ext uri="{FF2B5EF4-FFF2-40B4-BE49-F238E27FC236}">
                <a16:creationId xmlns:a16="http://schemas.microsoft.com/office/drawing/2014/main" id="{25521A13-117E-4D77-9653-AD9FCD7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2E366F27-04CF-4AE5-9992-6305198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数据契约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59C58802-B8F8-4490-AD8C-905204EA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字段、约束、增量与失败策略</a:t>
            </a:r>
          </a:p>
        </p:txBody>
      </p:sp>
      <p:sp>
        <p:nvSpPr>
          <p:cNvPr id="12" name="num-3">
            <a:extLst xmlns:a="http://schemas.openxmlformats.org/drawingml/2006/main">
              <a:ext uri="{FF2B5EF4-FFF2-40B4-BE49-F238E27FC236}">
                <a16:creationId xmlns:a16="http://schemas.microsoft.com/office/drawing/2014/main" id="{0C610E44-2D1F-44F1-9D93-5DB1D7B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label-3">
            <a:extLst xmlns:a="http://schemas.openxmlformats.org/drawingml/2006/main">
              <a:ext uri="{FF2B5EF4-FFF2-40B4-BE49-F238E27FC236}">
                <a16:creationId xmlns:a16="http://schemas.microsoft.com/office/drawing/2014/main" id="{EC674EE1-F6EA-46B9-BD09-B75152A6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共享前端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B237BDD3-557E-4337-B0EE-FEA363F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814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代表性页面、公共样式与交互</a:t>
            </a:r>
          </a:p>
        </p:txBody>
      </p:sp>
      <p:sp>
        <p:nvSpPr>
          <p:cNvPr id="15" name="num-4">
            <a:extLst xmlns:a="http://schemas.openxmlformats.org/drawingml/2006/main">
              <a:ext uri="{FF2B5EF4-FFF2-40B4-BE49-F238E27FC236}">
                <a16:creationId xmlns:a16="http://schemas.microsoft.com/office/drawing/2014/main" id="{40CB2AD1-EA9D-421B-A868-48C11B4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label-4">
            <a:extLst xmlns:a="http://schemas.openxmlformats.org/drawingml/2006/main">
              <a:ext uri="{FF2B5EF4-FFF2-40B4-BE49-F238E27FC236}">
                <a16:creationId xmlns:a16="http://schemas.microsoft.com/office/drawing/2014/main" id="{46087FCC-78F0-45FD-9AD3-5195F4E3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完整交付</a:t>
            </a:r>
          </a:p>
        </p:txBody>
      </p:sp>
      <p:sp>
        <p:nvSpPr>
          <p:cNvPr id="17" name="detail-4">
            <a:extLst xmlns:a="http://schemas.openxmlformats.org/drawingml/2006/main">
              <a:ext uri="{FF2B5EF4-FFF2-40B4-BE49-F238E27FC236}">
                <a16:creationId xmlns:a16="http://schemas.microsoft.com/office/drawing/2014/main" id="{05110E21-792B-468C-901B-9CCF2DE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577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把一个功能走通到发布后的验收</a:t>
            </a:r>
          </a:p>
        </p:txBody>
      </p:sp>
      <p:sp>
        <p:nvSpPr>
          <p:cNvPr id="18" name="num-5">
            <a:extLst xmlns:a="http://schemas.openxmlformats.org/drawingml/2006/main">
              <a:ext uri="{FF2B5EF4-FFF2-40B4-BE49-F238E27FC236}">
                <a16:creationId xmlns:a16="http://schemas.microsoft.com/office/drawing/2014/main" id="{6F625952-601E-41A5-B0DA-11F0F5C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07588F1C-EB6D-482A-BB9C-34EEF7E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知识入口</a:t>
            </a:r>
          </a:p>
        </p:txBody>
      </p:sp>
      <p:sp>
        <p:nvSpPr>
          <p:cNvPr id="20" name="detail-5">
            <a:extLst xmlns:a="http://schemas.openxmlformats.org/drawingml/2006/main">
              <a:ext uri="{FF2B5EF4-FFF2-40B4-BE49-F238E27FC236}">
                <a16:creationId xmlns:a16="http://schemas.microsoft.com/office/drawing/2014/main" id="{E2EA6A67-9ACC-4ED4-971D-5D335E7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规则、索引与架构；随后按需扩展</a:t>
            </a:r>
          </a:p>
        </p:txBody>
      </p:sp>
    </p:spTree>
    <p:extLst>
      <p:ext uri="{BB962C8B-B14F-4D97-AF65-F5344CB8AC3E}">
        <p14:creationId xmlns:p14="http://schemas.microsoft.com/office/powerpoint/2010/main" val="15088464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892F94-B5F0-4D16-88B0-88F96B6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资料与适用边界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CE065A-BD57-498E-8B07-188E0E59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3" name="sources-1">
            <a:extLst xmlns:a="http://schemas.openxmlformats.org/drawingml/2006/main">
              <a:ext uri="{FF2B5EF4-FFF2-40B4-BE49-F238E27FC236}">
                <a16:creationId xmlns:a16="http://schemas.microsoft.com/office/drawing/2014/main" id="{CA870952-95C3-4C0A-81EE-CEF34A8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分享正文</a:t>
            </a:r>
          </a:p>
        </p:txBody>
      </p:sp>
      <p:sp>
        <p:nvSpPr>
          <p:cNvPr id="4" name="source-md">
            <a:extLst xmlns:a="http://schemas.openxmlformats.org/drawingml/2006/main">
              <a:ext uri="{FF2B5EF4-FFF2-40B4-BE49-F238E27FC236}">
                <a16:creationId xmlns:a16="http://schemas.microsoft.com/office/drawing/2014/main" id="{1EE71F1E-4C52-4F89-AE87-B5B601F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db44cbb698430e"/>
              </a:rPr>
              <a:t>存在小站开发与 AI 协作经验分享</a:t>
            </a:r>
          </a:p>
        </p:txBody>
      </p:sp>
      <p:sp>
        <p:nvSpPr>
          <p:cNvPr id="5" name="sources-2">
            <a:extLst xmlns:a="http://schemas.openxmlformats.org/drawingml/2006/main">
              <a:ext uri="{FF2B5EF4-FFF2-40B4-BE49-F238E27FC236}">
                <a16:creationId xmlns:a16="http://schemas.microsoft.com/office/drawing/2014/main" id="{FA668154-BD54-4865-BAD9-B9413332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项目依据</a:t>
            </a:r>
          </a:p>
        </p:txBody>
      </p:sp>
      <p:sp>
        <p:nvSpPr>
          <p:cNvPr id="6" name="source-arch">
            <a:extLst xmlns:a="http://schemas.openxmlformats.org/drawingml/2006/main">
              <a:ext uri="{FF2B5EF4-FFF2-40B4-BE49-F238E27FC236}">
                <a16:creationId xmlns:a16="http://schemas.microsoft.com/office/drawing/2014/main" id="{A9DDA99D-4D49-44EC-87D3-E17B9CDF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技术架构、知识索引、决策与事故记录</a:t>
            </a:r>
          </a:p>
        </p:txBody>
      </p:sp>
      <p:sp>
        <p:nvSpPr>
          <p:cNvPr id="7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6D18DBA-DACD-43A1-8E65-E184E78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完整模板见正文与讲者备注；复制规则后仍需实现并验证检查</a:t>
            </a:r>
          </a:p>
        </p:txBody>
      </p:sp>
    </p:spTree>
    <p:extLst>
      <p:ext uri="{BB962C8B-B14F-4D97-AF65-F5344CB8AC3E}">
        <p14:creationId xmlns:p14="http://schemas.microsoft.com/office/powerpoint/2010/main" val="184368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2026-10-09T07:28:20.9990000Z</dcterms:created>
  <dcterms:modified xsi:type="dcterms:W3CDTF">2026-10-09T07:28:20.9990000Z</dcterms:modified>
</coreProperties>
</file>