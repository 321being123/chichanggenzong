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96a77e2a7a4297" /><Relationship Type="http://schemas.openxmlformats.org/officeDocument/2006/relationships/extended-properties" Target="/docProps/app.xml" Id="R7186159ca77d4aa3" /><Relationship Type="http://schemas.openxmlformats.org/officeDocument/2006/relationships/officeDocument" Target="/ppt/presentation.xml" Id="R7635cd47602f40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36be4e25f847f8"/>
  </p:sldMasterIdLst>
  <p:notesMasterIdLst>
    <p:notesMasterId xmlns:r="http://schemas.openxmlformats.org/officeDocument/2006/relationships" r:id="Rbe8bda6bbd01448b"/>
  </p:notesMasterIdLst>
  <p:sldIdLst>
    <p:sldId xmlns:r="http://schemas.openxmlformats.org/officeDocument/2006/relationships" id="256" r:id="R74c004cdfee84746"/>
    <p:sldId xmlns:r="http://schemas.openxmlformats.org/officeDocument/2006/relationships" id="257" r:id="R52e602e4845e4ac7"/>
    <p:sldId xmlns:r="http://schemas.openxmlformats.org/officeDocument/2006/relationships" id="258" r:id="Rb7c8a04abbef4331"/>
    <p:sldId xmlns:r="http://schemas.openxmlformats.org/officeDocument/2006/relationships" id="259" r:id="R602a3780eedf43cb"/>
    <p:sldId xmlns:r="http://schemas.openxmlformats.org/officeDocument/2006/relationships" id="260" r:id="Re82d5bdb7ed1472c"/>
    <p:sldId xmlns:r="http://schemas.openxmlformats.org/officeDocument/2006/relationships" id="261" r:id="Rc4d6846d1209486f"/>
    <p:sldId xmlns:r="http://schemas.openxmlformats.org/officeDocument/2006/relationships" id="262" r:id="R453ca7e6864b4b8f"/>
    <p:sldId xmlns:r="http://schemas.openxmlformats.org/officeDocument/2006/relationships" id="263" r:id="R59d50f1be65547d0"/>
    <p:sldId xmlns:r="http://schemas.openxmlformats.org/officeDocument/2006/relationships" id="264" r:id="Re07b0fd71f884e92"/>
    <p:sldId xmlns:r="http://schemas.openxmlformats.org/officeDocument/2006/relationships" id="265" r:id="R6e51659194f1405d"/>
    <p:sldId xmlns:r="http://schemas.openxmlformats.org/officeDocument/2006/relationships" id="266" r:id="R8cedb85850954864"/>
    <p:sldId xmlns:r="http://schemas.openxmlformats.org/officeDocument/2006/relationships" id="267" r:id="R84794e6bfd394dc8"/>
    <p:sldId xmlns:r="http://schemas.openxmlformats.org/officeDocument/2006/relationships" id="268" r:id="R676b476bfa574a96"/>
    <p:sldId xmlns:r="http://schemas.openxmlformats.org/officeDocument/2006/relationships" id="269" r:id="R21ac7e3416e34364"/>
    <p:sldId xmlns:r="http://schemas.openxmlformats.org/officeDocument/2006/relationships" id="270" r:id="R8641a1768f104b9b"/>
    <p:sldId xmlns:r="http://schemas.openxmlformats.org/officeDocument/2006/relationships" id="271" r:id="R2047d0a00c2747f8"/>
    <p:sldId xmlns:r="http://schemas.openxmlformats.org/officeDocument/2006/relationships" id="272" r:id="R44fdd911edbc4346"/>
    <p:sldId xmlns:r="http://schemas.openxmlformats.org/officeDocument/2006/relationships" id="273" r:id="Rc55239e3f14f491b"/>
    <p:sldId xmlns:r="http://schemas.openxmlformats.org/officeDocument/2006/relationships" id="274" r:id="Rf87b426d77e14e76"/>
    <p:sldId xmlns:r="http://schemas.openxmlformats.org/officeDocument/2006/relationships" id="275" r:id="R31ce899ec90e4b20"/>
    <p:sldId xmlns:r="http://schemas.openxmlformats.org/officeDocument/2006/relationships" id="276" r:id="R0f3e77911e6a46e8"/>
    <p:sldId xmlns:r="http://schemas.openxmlformats.org/officeDocument/2006/relationships" id="277" r:id="Rfcd7ad958d944fd4"/>
    <p:sldId xmlns:r="http://schemas.openxmlformats.org/officeDocument/2006/relationships" id="278" r:id="Re21633bb96794fc6"/>
    <p:sldId xmlns:r="http://schemas.openxmlformats.org/officeDocument/2006/relationships" id="279" r:id="R2d575e188b644f53"/>
    <p:sldId xmlns:r="http://schemas.openxmlformats.org/officeDocument/2006/relationships" id="280" r:id="R73f2225bd94444d7"/>
    <p:sldId xmlns:r="http://schemas.openxmlformats.org/officeDocument/2006/relationships" id="281" r:id="Re9b868f443f84e82"/>
    <p:sldId xmlns:r="http://schemas.openxmlformats.org/officeDocument/2006/relationships" id="282" r:id="Ra1f3027cf965472e"/>
    <p:sldId xmlns:r="http://schemas.openxmlformats.org/officeDocument/2006/relationships" id="283" r:id="Rf60b0ca8e04949ef"/>
    <p:sldId xmlns:r="http://schemas.openxmlformats.org/officeDocument/2006/relationships" id="284" r:id="R8d8aaba9bc464029"/>
    <p:sldId xmlns:r="http://schemas.openxmlformats.org/officeDocument/2006/relationships" id="285" r:id="Rfe3de70df33f44dd"/>
    <p:sldId xmlns:r="http://schemas.openxmlformats.org/officeDocument/2006/relationships" id="286" r:id="R918430522b164da0"/>
    <p:sldId xmlns:r="http://schemas.openxmlformats.org/officeDocument/2006/relationships" id="287" r:id="R1a34d4fa23854fe7"/>
    <p:sldId xmlns:r="http://schemas.openxmlformats.org/officeDocument/2006/relationships" id="288" r:id="R7fae8c2936e8461c"/>
    <p:sldId xmlns:r="http://schemas.openxmlformats.org/officeDocument/2006/relationships" id="289" r:id="R8a611151f3b4460f"/>
    <p:sldId xmlns:r="http://schemas.openxmlformats.org/officeDocument/2006/relationships" id="290" r:id="R416fefce7ae84c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84763ca41d4af7" /><Relationship Type="http://schemas.openxmlformats.org/officeDocument/2006/relationships/slideMaster" Target="/ppt/slideMasters/slideMaster1.xml" Id="R6136be4e25f847f8" /><Relationship Type="http://schemas.openxmlformats.org/officeDocument/2006/relationships/notesMaster" Target="/ppt/notesMasters/notesMaster1.xml" Id="Rbe8bda6bbd01448b" /><Relationship Type="http://schemas.openxmlformats.org/officeDocument/2006/relationships/presProps" Target="/ppt/presProps.xml" Id="R07ceb64618224b4f" /><Relationship Type="http://schemas.openxmlformats.org/officeDocument/2006/relationships/tableStyles" Target="/ppt/tableStyles.xml" Id="Rebdc364aeb2346dd" /><Relationship Type="http://schemas.openxmlformats.org/officeDocument/2006/relationships/slide" Target="/ppt/slides/slide1.xml" Id="R74c004cdfee84746" /><Relationship Type="http://schemas.openxmlformats.org/officeDocument/2006/relationships/slide" Target="/ppt/slides/slide2.xml" Id="R52e602e4845e4ac7" /><Relationship Type="http://schemas.openxmlformats.org/officeDocument/2006/relationships/slide" Target="/ppt/slides/slide3.xml" Id="Rb7c8a04abbef4331" /><Relationship Type="http://schemas.openxmlformats.org/officeDocument/2006/relationships/slide" Target="/ppt/slides/slide4.xml" Id="R602a3780eedf43cb" /><Relationship Type="http://schemas.openxmlformats.org/officeDocument/2006/relationships/slide" Target="/ppt/slides/slide5.xml" Id="Re82d5bdb7ed1472c" /><Relationship Type="http://schemas.openxmlformats.org/officeDocument/2006/relationships/slide" Target="/ppt/slides/slide6.xml" Id="Rc4d6846d1209486f" /><Relationship Type="http://schemas.openxmlformats.org/officeDocument/2006/relationships/slide" Target="/ppt/slides/slide7.xml" Id="R453ca7e6864b4b8f" /><Relationship Type="http://schemas.openxmlformats.org/officeDocument/2006/relationships/slide" Target="/ppt/slides/slide8.xml" Id="R59d50f1be65547d0" /><Relationship Type="http://schemas.openxmlformats.org/officeDocument/2006/relationships/slide" Target="/ppt/slides/slide9.xml" Id="Re07b0fd71f884e92" /><Relationship Type="http://schemas.openxmlformats.org/officeDocument/2006/relationships/slide" Target="/ppt/slides/slide10.xml" Id="R6e51659194f1405d" /><Relationship Type="http://schemas.openxmlformats.org/officeDocument/2006/relationships/slide" Target="/ppt/slides/slide11.xml" Id="R8cedb85850954864" /><Relationship Type="http://schemas.openxmlformats.org/officeDocument/2006/relationships/slide" Target="/ppt/slides/slide12.xml" Id="R84794e6bfd394dc8" /><Relationship Type="http://schemas.openxmlformats.org/officeDocument/2006/relationships/slide" Target="/ppt/slides/slide13.xml" Id="R676b476bfa574a96" /><Relationship Type="http://schemas.openxmlformats.org/officeDocument/2006/relationships/slide" Target="/ppt/slides/slide14.xml" Id="R21ac7e3416e34364" /><Relationship Type="http://schemas.openxmlformats.org/officeDocument/2006/relationships/slide" Target="/ppt/slides/slide15.xml" Id="R8641a1768f104b9b" /><Relationship Type="http://schemas.openxmlformats.org/officeDocument/2006/relationships/slide" Target="/ppt/slides/slide16.xml" Id="R2047d0a00c2747f8" /><Relationship Type="http://schemas.openxmlformats.org/officeDocument/2006/relationships/slide" Target="/ppt/slides/slide17.xml" Id="R44fdd911edbc4346" /><Relationship Type="http://schemas.openxmlformats.org/officeDocument/2006/relationships/slide" Target="/ppt/slides/slide18.xml" Id="Rc55239e3f14f491b" /><Relationship Type="http://schemas.openxmlformats.org/officeDocument/2006/relationships/slide" Target="/ppt/slides/slide19.xml" Id="Rf87b426d77e14e76" /><Relationship Type="http://schemas.openxmlformats.org/officeDocument/2006/relationships/slide" Target="/ppt/slides/slide20.xml" Id="R31ce899ec90e4b20" /><Relationship Type="http://schemas.openxmlformats.org/officeDocument/2006/relationships/slide" Target="/ppt/slides/slide21.xml" Id="R0f3e77911e6a46e8" /><Relationship Type="http://schemas.openxmlformats.org/officeDocument/2006/relationships/slide" Target="/ppt/slides/slide22.xml" Id="Rfcd7ad958d944fd4" /><Relationship Type="http://schemas.openxmlformats.org/officeDocument/2006/relationships/slide" Target="/ppt/slides/slide23.xml" Id="Re21633bb96794fc6" /><Relationship Type="http://schemas.openxmlformats.org/officeDocument/2006/relationships/slide" Target="/ppt/slides/slide24.xml" Id="R2d575e188b644f53" /><Relationship Type="http://schemas.openxmlformats.org/officeDocument/2006/relationships/slide" Target="/ppt/slides/slide25.xml" Id="R73f2225bd94444d7" /><Relationship Type="http://schemas.openxmlformats.org/officeDocument/2006/relationships/slide" Target="/ppt/slides/slide26.xml" Id="Re9b868f443f84e82" /><Relationship Type="http://schemas.openxmlformats.org/officeDocument/2006/relationships/slide" Target="/ppt/slides/slide27.xml" Id="Ra1f3027cf965472e" /><Relationship Type="http://schemas.openxmlformats.org/officeDocument/2006/relationships/slide" Target="/ppt/slides/slide28.xml" Id="Rf60b0ca8e04949ef" /><Relationship Type="http://schemas.openxmlformats.org/officeDocument/2006/relationships/slide" Target="/ppt/slides/slide29.xml" Id="R8d8aaba9bc464029" /><Relationship Type="http://schemas.openxmlformats.org/officeDocument/2006/relationships/slide" Target="/ppt/slides/slide30.xml" Id="Rfe3de70df33f44dd" /><Relationship Type="http://schemas.openxmlformats.org/officeDocument/2006/relationships/slide" Target="/ppt/slides/slide31.xml" Id="R918430522b164da0" /><Relationship Type="http://schemas.openxmlformats.org/officeDocument/2006/relationships/slide" Target="/ppt/slides/slide32.xml" Id="R1a34d4fa23854fe7" /><Relationship Type="http://schemas.openxmlformats.org/officeDocument/2006/relationships/slide" Target="/ppt/slides/slide33.xml" Id="R7fae8c2936e8461c" /><Relationship Type="http://schemas.openxmlformats.org/officeDocument/2006/relationships/slide" Target="/ppt/slides/slide34.xml" Id="R8a611151f3b4460f" /><Relationship Type="http://schemas.openxmlformats.org/officeDocument/2006/relationships/slide" Target="/ppt/slides/slide35.xml" Id="R416fefce7ae84c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b37fbd83934c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cac77bada14655" /><Relationship Type="http://schemas.openxmlformats.org/officeDocument/2006/relationships/notesMaster" Target="/ppt/notesMasters/notesMaster1.xml" Id="R6418906bbbc04b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0d5868ed214a9d" /><Relationship Type="http://schemas.openxmlformats.org/officeDocument/2006/relationships/notesMaster" Target="/ppt/notesMasters/notesMaster1.xml" Id="R469860419ca744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aafdc98eb140b9" /><Relationship Type="http://schemas.openxmlformats.org/officeDocument/2006/relationships/notesMaster" Target="/ppt/notesMasters/notesMaster1.xml" Id="R8cf189bb274e4b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a9a149caf54627" /><Relationship Type="http://schemas.openxmlformats.org/officeDocument/2006/relationships/notesMaster" Target="/ppt/notesMasters/notesMaster1.xml" Id="Ra04c7598054b4d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4f5a9ed33b45e5" /><Relationship Type="http://schemas.openxmlformats.org/officeDocument/2006/relationships/notesMaster" Target="/ppt/notesMasters/notesMaster1.xml" Id="R051b7bfd87ce47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eb00c297d64f31" /><Relationship Type="http://schemas.openxmlformats.org/officeDocument/2006/relationships/notesMaster" Target="/ppt/notesMasters/notesMaster1.xml" Id="Rc87b587d6ab941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1c36f6f7a64b76" /><Relationship Type="http://schemas.openxmlformats.org/officeDocument/2006/relationships/notesMaster" Target="/ppt/notesMasters/notesMaster1.xml" Id="R92978bd026734b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4a24acf0f44d3c" /><Relationship Type="http://schemas.openxmlformats.org/officeDocument/2006/relationships/notesMaster" Target="/ppt/notesMasters/notesMaster1.xml" Id="Rbcb348a3384b4f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253afb2a394222" /><Relationship Type="http://schemas.openxmlformats.org/officeDocument/2006/relationships/notesMaster" Target="/ppt/notesMasters/notesMaster1.xml" Id="R5b6cead62bd148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b39200d0f640f6" /><Relationship Type="http://schemas.openxmlformats.org/officeDocument/2006/relationships/notesMaster" Target="/ppt/notesMasters/notesMaster1.xml" Id="Rb3da5def0ca54c0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a860daf0f34b4c" /><Relationship Type="http://schemas.openxmlformats.org/officeDocument/2006/relationships/notesMaster" Target="/ppt/notesMasters/notesMaster1.xml" Id="R93d9bcd8cb13440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9a7321c07554841" /><Relationship Type="http://schemas.openxmlformats.org/officeDocument/2006/relationships/notesMaster" Target="/ppt/notesMasters/notesMaster1.xml" Id="Rfc462f99c3114b3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b47988bb3464ae3" /><Relationship Type="http://schemas.openxmlformats.org/officeDocument/2006/relationships/notesMaster" Target="/ppt/notesMasters/notesMaster1.xml" Id="R9c5306159e8a43f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d763043aa2b4963" /><Relationship Type="http://schemas.openxmlformats.org/officeDocument/2006/relationships/notesMaster" Target="/ppt/notesMasters/notesMaster1.xml" Id="Ra2b4297bf547482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097fbb9fcf64307" /><Relationship Type="http://schemas.openxmlformats.org/officeDocument/2006/relationships/notesMaster" Target="/ppt/notesMasters/notesMaster1.xml" Id="R71be0afb38d64b5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8ac06a34ddf439f" /><Relationship Type="http://schemas.openxmlformats.org/officeDocument/2006/relationships/notesMaster" Target="/ppt/notesMasters/notesMaster1.xml" Id="R4299275b5c3341c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936bd81974a4524" /><Relationship Type="http://schemas.openxmlformats.org/officeDocument/2006/relationships/notesMaster" Target="/ppt/notesMasters/notesMaster1.xml" Id="R3e91e7820b624cf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114dd3444bc4f94" /><Relationship Type="http://schemas.openxmlformats.org/officeDocument/2006/relationships/notesMaster" Target="/ppt/notesMasters/notesMaster1.xml" Id="Rbc80d3531dd14fe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e6163fe61bb45ea" /><Relationship Type="http://schemas.openxmlformats.org/officeDocument/2006/relationships/notesMaster" Target="/ppt/notesMasters/notesMaster1.xml" Id="Rd2e20ef5fdd84fb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4cd812022264468" /><Relationship Type="http://schemas.openxmlformats.org/officeDocument/2006/relationships/notesMaster" Target="/ppt/notesMasters/notesMaster1.xml" Id="Re340908c556b4ff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119f5efaa3047fd" /><Relationship Type="http://schemas.openxmlformats.org/officeDocument/2006/relationships/notesMaster" Target="/ppt/notesMasters/notesMaster1.xml" Id="R61abef57d37d401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23a89d04a1c49cc" /><Relationship Type="http://schemas.openxmlformats.org/officeDocument/2006/relationships/notesMaster" Target="/ppt/notesMasters/notesMaster1.xml" Id="R032a074ce1504da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c2e0f89b6224cf4" /><Relationship Type="http://schemas.openxmlformats.org/officeDocument/2006/relationships/notesMaster" Target="/ppt/notesMasters/notesMaster1.xml" Id="Rdea4a9c1475f430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47e3ca9d7034081" /><Relationship Type="http://schemas.openxmlformats.org/officeDocument/2006/relationships/notesMaster" Target="/ppt/notesMasters/notesMaster1.xml" Id="Ra0aad0c42b5742f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6963e341e504eaa" /><Relationship Type="http://schemas.openxmlformats.org/officeDocument/2006/relationships/notesMaster" Target="/ppt/notesMasters/notesMaster1.xml" Id="R1d2b0ed3a15047a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f873c644ef64eab" /><Relationship Type="http://schemas.openxmlformats.org/officeDocument/2006/relationships/notesMaster" Target="/ppt/notesMasters/notesMaster1.xml" Id="R4b0d187be4a348c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41a30e8ab464b0b" /><Relationship Type="http://schemas.openxmlformats.org/officeDocument/2006/relationships/notesMaster" Target="/ppt/notesMasters/notesMaster1.xml" Id="Rb81b212230574d7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565f71f50d64f44" /><Relationship Type="http://schemas.openxmlformats.org/officeDocument/2006/relationships/notesMaster" Target="/ppt/notesMasters/notesMaster1.xml" Id="R8764177da6e7452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6a7f6624c2c45f0" /><Relationship Type="http://schemas.openxmlformats.org/officeDocument/2006/relationships/notesMaster" Target="/ppt/notesMasters/notesMaster1.xml" Id="R8d47e784739445b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a7731d7dd1d4f76" /><Relationship Type="http://schemas.openxmlformats.org/officeDocument/2006/relationships/notesMaster" Target="/ppt/notesMasters/notesMaster1.xml" Id="R22bbb71ad66341d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7d979f6c3934065" /><Relationship Type="http://schemas.openxmlformats.org/officeDocument/2006/relationships/notesMaster" Target="/ppt/notesMasters/notesMaster1.xml" Id="Rb636217738db488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e93c85c3e5744e7" /><Relationship Type="http://schemas.openxmlformats.org/officeDocument/2006/relationships/notesMaster" Target="/ppt/notesMasters/notesMaster1.xml" Id="Rad35759eb9b04bd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286b55c257c4967" /><Relationship Type="http://schemas.openxmlformats.org/officeDocument/2006/relationships/notesMaster" Target="/ppt/notesMasters/notesMaster1.xml" Id="Rd3441e6e4dd84fa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1bde202159d4e44" /><Relationship Type="http://schemas.openxmlformats.org/officeDocument/2006/relationships/notesMaster" Target="/ppt/notesMasters/notesMaster1.xml" Id="Rc7d89313a52e476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14225cb1ece4a79" /><Relationship Type="http://schemas.openxmlformats.org/officeDocument/2006/relationships/notesMaster" Target="/ppt/notesMasters/notesMaster1.xml" Id="Rf937941a74b74a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开场从第一版能跑的喜悦讲起，随后用新增功能遇到的实际问题建立代入。五幕按学习路径组织，不是整改时间线。案例问页先停顿，让听众判断，再进入解法页。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开场：你以为快做完了，新的问题才开始出现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设想一下：你把想法告诉 AI，它很快写出了页面。按钮能点，列表能显示，你已经开始想第二个功能了。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几天后，事情有了变化：新页面和旧页面风格不同；某条数据明明有，网站却显示没有；后台说更新成功，详情仍然缺字段。你让 AI 改好一个地方，另一个地方又出了问题。换一个会话，还得从头解释上次的决定。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存在小站的建设，也遇到过这些困难。它从持仓、交易导入逐渐扩展到收益分析、公告解析、可转债和后台任务。让网站持续长大，需要解决的事情也随之改变。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这次分享沿着一条建站路径展开。你可以把自己放进每个场景，先想一下会怎么处理，再看我们的经历和解法。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走到哪里 | 你可能会说的话 | 这一段要学会什么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还没开工 | “AI 给了好几个技术方案，我该选哪个？” | 用真实用户流程决定起步架构 |</a:t>
            </a:r>
          </a:p>
          <a:p xmlns:a="http://schemas.openxmlformats.org/drawingml/2006/main">
            <a:r>
              <a:t>| 第一版能用了 | “接口有数据，为什么页面不对？” | 找到数据最早发生偏差的位置 |</a:t>
            </a:r>
          </a:p>
          <a:p xmlns:a="http://schemas.openxmlformats.org/drawingml/2006/main">
            <a:r>
              <a:t>| 开始扩功能 | “为什么每加一页，都要返工一圈？” | 复用公共能力，给变化留出边界 |</a:t>
            </a:r>
          </a:p>
          <a:p xmlns:a="http://schemas.openxmlformats.org/drawingml/2006/main">
            <a:r>
              <a:t>| 做久了、开始协作 | “这件事我已经提醒第三遍了。” | 把经验变成共享知识和有效检查 |</a:t>
            </a:r>
          </a:p>
          <a:p xmlns:a="http://schemas.openxmlformats.org/drawingml/2006/main">
            <a:r>
              <a:t>| 准备交付 | “AI 说完成了，用户怎么还看到旧问题？” | 用实际运行和恢复证据判断完成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下面的代入场景用于讲解，真实案例另附仓库证据。学习顺序不代表项目每次整改的时间顺序。分享中的新项目做法需要按自身规模适配；存在小站的当前实现以[技术架构](技术架构.md)为准。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给分享者：这些内容怎样讲，更容易让新手跟上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开场先讲“第一版能跑，第二个功能来了”的场景，让听众联系自己的经历。每到一个案例，先呈现现象和两三种合理选择，停下来让他们判断，再揭示链路与后果。展示一个完整解法之后，留一个小练习，让听众把做法迁移到自己的项目，并给出核对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这种安排借鉴了情境决策教学，以及已有知识、目标明确的练习和反馈的学习原则。这里采用线性分享中的短决策练习，没有把 PPT 做成完整分支课程，也不据此声称已验证学习效果。[Vanderbilt 情境决策教学](https://www.vanderbilt.edu/cdr/module1/branching-out-with-interactive-scenarios/)、[CMU 学习原则](https://www.cmu.edu/teaching/principles/learning.html)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讲述时，问题页和答案页分开。真实案例讲到“最早偏差在哪里”即可进入解法，详细契约放在对应讲者备注和正文里，供会后复制。练习先让听众回答，再显示判断依据，避免每个问题刚出现就立即揭晓。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https://www.cmu.edu/teaching/principles/learning.html</a:t>
            </a:r>
          </a:p>
          <a:p xmlns:a="http://schemas.openxmlformats.org/drawingml/2006/main">
            <a:r>
              <a:t>https://www.vanderbilt.edu/cdr/module1/branching-out-with-interactive-scenarios/</a:t>
            </a:r>
          </a:p>
          <a:p xmlns:a="http://schemas.openxmlformats.org/drawingml/2006/main">
            <a:r>
              <a:t>视觉来源：沿用先前 ImageGen 生成的分层结构插图，非实际系统截图。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代入场景，不声称是原始聊天。请听众先选一个最熟悉的症状，说出自己会先查什么。暂不讲六套治理或文件结构。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https://www.cmu.edu/teaching/principles/learning.html</a:t>
            </a:r>
          </a:p>
          <a:p xmlns:a="http://schemas.openxmlformats.org/drawingml/2006/main">
            <a:r>
              <a:t>https://www.vanderbilt.edu/cdr/module1/branching-out-with-interactive-scenarios/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学习路径有意区别于项目整改时间顺序。网站与 AI 协作在同一问题里出现。每阶段提供场景、解法、检查和迁移练习。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https://www.cmu.edu/teaching/principles/learning.html</a:t>
            </a:r>
          </a:p>
          <a:p xmlns:a="http://schemas.openxmlformats.org/drawingml/2006/main">
            <a:r>
              <a:t>https://www.vanderbilt.edu/cdr/module1/branching-out-with-interactive-scenarios/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第一幕，先呈现技术名词带来的选择困难。让听众比较两个网站的关键工作，不先推荐某个框架。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D:\存在小站\docs\技术架构.md</a:t>
            </a:r>
          </a:p>
          <a:p xmlns:a="http://schemas.openxmlformats.org/drawingml/2006/main">
            <a:r>
              <a:t>D:\存在小站\server.js</a:t>
            </a:r>
          </a:p>
          <a:p xmlns:a="http://schemas.openxmlformats.org/drawingml/2006/main">
            <a:r>
              <a:t>D:\存在小站\server\app.js</a:t>
            </a:r>
          </a:p>
          <a:p xmlns:a="http://schemas.openxmlformats.org/drawingml/2006/main">
            <a:r>
              <a:t>D:\存在小站\server\worker.js</a:t>
            </a:r>
          </a:p>
          <a:p xmlns:a="http://schemas.openxmlformats.org/drawingml/2006/main">
            <a:r>
              <a:t>https://vuejs.org/guide/scaling-up/tooling.html</a:t>
            </a:r>
          </a:p>
          <a:p xmlns:a="http://schemas.openxmlformats.org/drawingml/2006/main">
            <a:r>
              <a:t>https://react.dev/learn/creating-a-react-app</a:t>
            </a:r>
          </a:p>
          <a:p xmlns:a="http://schemas.openxmlformats.org/drawingml/2006/main">
            <a:r>
              <a:t>https://nextjs.org/docs/app/getting-started/server-and-client-components</a:t>
            </a:r>
          </a:p>
          <a:p xmlns:a="http://schemas.openxmlformats.org/drawingml/2006/main">
            <a:r>
              <a:t>https://docs.djangoproject.com/en/5.2/intro/overview/</a:t>
            </a:r>
          </a:p>
          <a:p xmlns:a="http://schemas.openxmlformats.org/drawingml/2006/main">
            <a:r>
              <a:t>https://www.cmu.edu/teaching/principles/learning.html</a:t>
            </a:r>
          </a:p>
          <a:p xmlns:a="http://schemas.openxmlformats.org/drawingml/2006/main">
            <a:r>
              <a:t>https://www.vanderbilt.edu/cdr/module1/branching-out-with-interactive-scenarios/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展示根据需求比较架构的完整示范。维护能力与部署成本进入理由，已有项目优先扩展原结构。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对应正文、完整示范与可复制模板：</a:t>
            </a:r>
          </a:p>
          <a:p xmlns:a="http://schemas.openxmlformats.org/drawingml/2006/main">
            <a:r>
              <a:t>### 场景 1：该用什么架构？先看看第一位用户要做什么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你想建一个网站，AI 推荐了 React、Vue、全栈框架、Python 后端，还问你要不要微服务。每个理由听起来都成立，但你不知道哪个适合自己。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先做一个选择：一个只展示文章的网站，和一个需要登录、导入文件、保存个人记录的网站，是否应该照搬同一套结构？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两者的关键工作不同。前者关心内容更新与公开访问，后者还要处理写入、数据归属和权限。**把第一条用户流程写清楚，选型才有判断依据。**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可以先写这样一句话：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一个用户登录，导入自己的交易记录，看到持仓列表；重复导入不会多出一份记录，另一个用户看不到这些数据。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这句话已经提出了数据库、用户归属、导入去重、页面展示和失败处理的需求。此时再比较技术方案，理由会具体得多。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你的主要需求 | 可以评估的起步结构 | 最先核对的成本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公开内容、少量交互 | 静态页面或静态生成 | 内容怎样更新，怎样发布 |</a:t>
            </a:r>
          </a:p>
          <a:p xmlns:a="http://schemas.openxmlformats.org/drawingml/2006/main">
            <a:r>
              <a:t>| 登录后的交互工具 | 组件化前端配 API，或一个全栈应用 | 私有数据、共享状态、服务端权限 |</a:t>
            </a:r>
          </a:p>
          <a:p xmlns:a="http://schemas.openxmlformats.org/drawingml/2006/main">
            <a:r>
              <a:t>| 公开内容与复杂交互并存 | 有服务端渲染能力的框架 | 渲染、缓存、搜索收录和部署边界 |</a:t>
            </a:r>
          </a:p>
          <a:p xmlns:a="http://schemas.openxmlformats.org/drawingml/2006/main">
            <a:r>
              <a:t>| 外部采集、耗时计算 | 业务应用配可独立运行的任务入口 | 请求时延、进度保存和失败恢复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熟悉 JS/TS，可以比较 Vue、React 的框架方案和 Node；熟悉 Python，可以比较 Django。维护者能理解、能调试、能部署，应该进入选择理由。全栈框架已经承载的后端能力也可以直接复用。[Vue 工具链](https://vuejs.org/guide/scaling-up/tooling.html)、[React 新应用建议](https://react.dev/learn/creating-a-react-app)、[Next.js 服务端与客户端边界](https://nextjs.org/docs/app/getting-started/server-and-client-components)、[Django 概览](https://docs.djangoproject.com/en/5.2/intro/overview/)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存在小站当前使用原生 HTML/CSS/JS、Express、PostgreSQL 和 Python，生产分开运行 Web 与 Worker。这套选择与项目经历有关，新项目可以选择不同框架。值得带走的是职责安排：页面负责展示，接口负责输入和身份校验，业务服务负责规则，数据访问负责读写，任务入口负责执行与续跑。[项目技术栈与请求链路](技术架构.m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**第一版可以小，但一条流程要走完整。** 导入、落库、展示、失败提示、权限和运行验收都经过一次，再增加第二个功能。先用一个仓库和按职责分模块的应用就能起步；出现独立扩容、发布或故障隔离需求后，再评估服务拆分。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你可以把下面的话交给 AI：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我的第一条用户流程是：【用户如何完成什么事】。</a:t>
            </a:r>
          </a:p>
          <a:p xmlns:a="http://schemas.openxmlformats.org/drawingml/2006/main">
            <a:r>
              <a:t>我能维护的语言、部署环境和费用约束是：【】。</a:t>
            </a:r>
          </a:p>
          <a:p xmlns:a="http://schemas.openxmlformats.org/drawingml/2006/main">
            <a:r>
              <a:t>请先列出公开内容、交互、写入、权限和后台工作的真实需要。</a:t>
            </a:r>
          </a:p>
          <a:p xmlns:a="http://schemas.openxmlformats.org/drawingml/2006/main">
            <a:r>
              <a:t>比较两个适合的起步方案，说明维护与部署成本，再给出选择理由。</a:t>
            </a:r>
          </a:p>
          <a:p xmlns:a="http://schemas.openxmlformats.org/drawingml/2006/main">
            <a:r>
              <a:t>已有项目先核对代码和现有入口，列出已有、可复用、真正缺口。</a:t>
            </a:r>
          </a:p>
          <a:p xmlns:a="http://schemas.openxmlformats.org/drawingml/2006/main">
            <a:r>
              <a:t>写清模块职责、核心数据归属和第一版范围。</a:t>
            </a:r>
          </a:p>
          <a:p xmlns:a="http://schemas.openxmlformats.org/drawingml/2006/main">
            <a:r>
              <a:t>用一条完整流程说明怎样验证成功、重复、失败和权限。</a:t>
            </a:r>
          </a:p>
          <a:p xmlns:a="http://schemas.openxmlformats.org/drawingml/2006/main">
            <a:r>
              <a:t>列出现在要建的边界，以及以后什么需求出现才增加设施。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**带走一个动作：** 用一句话写出你项目的第一条完整流程。如果这句话只有“页面好看”，继续补上用户行为和成功标志。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D:\存在小站\docs\技术架构.md</a:t>
            </a:r>
          </a:p>
          <a:p xmlns:a="http://schemas.openxmlformats.org/drawingml/2006/main">
            <a:r>
              <a:t>D:\存在小站\server.js</a:t>
            </a:r>
          </a:p>
          <a:p xmlns:a="http://schemas.openxmlformats.org/drawingml/2006/main">
            <a:r>
              <a:t>D:\存在小站\server\app.js</a:t>
            </a:r>
          </a:p>
          <a:p xmlns:a="http://schemas.openxmlformats.org/drawingml/2006/main">
            <a:r>
              <a:t>D:\存在小站\server\worker.js</a:t>
            </a:r>
          </a:p>
          <a:p xmlns:a="http://schemas.openxmlformats.org/drawingml/2006/main">
            <a:r>
              <a:t>https://vuejs.org/guide/scaling-up/tooling.html</a:t>
            </a:r>
          </a:p>
          <a:p xmlns:a="http://schemas.openxmlformats.org/drawingml/2006/main">
            <a:r>
              <a:t>https://react.dev/learn/creating-a-react-app</a:t>
            </a:r>
          </a:p>
          <a:p xmlns:a="http://schemas.openxmlformats.org/drawingml/2006/main">
            <a:r>
              <a:t>https://nextjs.org/docs/app/getting-started/server-and-client-components</a:t>
            </a:r>
          </a:p>
          <a:p xmlns:a="http://schemas.openxmlformats.org/drawingml/2006/main">
            <a:r>
              <a:t>https://docs.djangoproject.com/en/5.2/intro/overview/</a:t>
            </a:r>
          </a:p>
          <a:p xmlns:a="http://schemas.openxmlformats.org/drawingml/2006/main">
            <a:r>
              <a:t>https://www.cmu.edu/teaching/principles/learning.html</a:t>
            </a:r>
          </a:p>
          <a:p xmlns:a="http://schemas.openxmlformats.org/drawingml/2006/main">
            <a:r>
              <a:t>https://www.vanderbilt.edu/cdr/module1/branching-out-with-interactive-scenarios/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把导入到展示做完整，说明职责边界。练习让听众写自己的核心流程。存在小站当前原生前端、Express、PostgreSQL、Python，生产 Web/Worker 分开，不推荐照搬框架。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D:\存在小站\docs\技术架构.md</a:t>
            </a:r>
          </a:p>
          <a:p xmlns:a="http://schemas.openxmlformats.org/drawingml/2006/main">
            <a:r>
              <a:t>D:\存在小站\server.js</a:t>
            </a:r>
          </a:p>
          <a:p xmlns:a="http://schemas.openxmlformats.org/drawingml/2006/main">
            <a:r>
              <a:t>D:\存在小站\server\app.js</a:t>
            </a:r>
          </a:p>
          <a:p xmlns:a="http://schemas.openxmlformats.org/drawingml/2006/main">
            <a:r>
              <a:t>D:\存在小站\server\worker.js</a:t>
            </a:r>
          </a:p>
          <a:p xmlns:a="http://schemas.openxmlformats.org/drawingml/2006/main">
            <a:r>
              <a:t>https://vuejs.org/guide/scaling-up/tooling.html</a:t>
            </a:r>
          </a:p>
          <a:p xmlns:a="http://schemas.openxmlformats.org/drawingml/2006/main">
            <a:r>
              <a:t>https://react.dev/learn/creating-a-react-app</a:t>
            </a:r>
          </a:p>
          <a:p xmlns:a="http://schemas.openxmlformats.org/drawingml/2006/main">
            <a:r>
              <a:t>https://nextjs.org/docs/app/getting-started/server-and-client-components</a:t>
            </a:r>
          </a:p>
          <a:p xmlns:a="http://schemas.openxmlformats.org/drawingml/2006/main">
            <a:r>
              <a:t>https://docs.djangoproject.com/en/5.2/intro/overview/</a:t>
            </a:r>
          </a:p>
          <a:p xmlns:a="http://schemas.openxmlformats.org/drawingml/2006/main">
            <a:r>
              <a:t>https://www.cmu.edu/teaching/principles/learning.html</a:t>
            </a:r>
          </a:p>
          <a:p xmlns:a="http://schemas.openxmlformats.org/drawingml/2006/main">
            <a:r>
              <a:t>https://www.vanderbilt.edu/cdr/module1/branching-out-with-interactive-scenarios/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第二幕真实案例 INC-0003。先展示局部异常和源正常的证据，听众选调查方向，下一页揭示。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D:\存在小站\docs\incidents\INC-0003-历史证券主档冲突导致持仓行情缺失.md</a:t>
            </a:r>
          </a:p>
          <a:p xmlns:a="http://schemas.openxmlformats.org/drawingml/2006/main">
            <a:r>
              <a:t>D:\存在小站\docs\技术架构.md</a:t>
            </a:r>
          </a:p>
          <a:p xmlns:a="http://schemas.openxmlformats.org/drawingml/2006/main">
            <a:r>
              <a:t>https://www.sqlite.org/whentouse.html</a:t>
            </a:r>
          </a:p>
          <a:p xmlns:a="http://schemas.openxmlformats.org/drawingml/2006/main">
            <a:r>
              <a:t>https://www.postgresql.org/docs/current/datatype-numeric.html</a:t>
            </a:r>
          </a:p>
          <a:p xmlns:a="http://schemas.openxmlformats.org/drawingml/2006/main">
            <a:r>
              <a:t>https://www.postgresql.org/docs/current/datatype-json.html</a:t>
            </a:r>
          </a:p>
          <a:p xmlns:a="http://schemas.openxmlformats.org/drawingml/2006/main">
            <a:r>
              <a:t>https://www.postgresql.org/docs/current/ddl-constraints.html</a:t>
            </a:r>
          </a:p>
          <a:p xmlns:a="http://schemas.openxmlformats.org/drawingml/2006/main">
            <a:r>
              <a:t>https://www.cmu.edu/teaching/principles/learning.html</a:t>
            </a:r>
          </a:p>
          <a:p xmlns:a="http://schemas.openxmlformats.org/drawingml/2006/main">
            <a:r>
              <a:t>https://www.vanderbilt.edu/cdr/module1/branching-out-with-interactive-scenarios/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同数字存在裸代码历史主档与标准主档，身份歧义、适配器静默空、页面保留旧价格。同类发现 4,630 组重复，历史数量非当前实时数量。修复同时覆盖迁移、外键、唯一约束和公共行情入口。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对应正文、完整示范与可复制模板：</a:t>
            </a:r>
          </a:p>
          <a:p xmlns:a="http://schemas.openxmlformats.org/drawingml/2006/main">
            <a:r>
              <a:t>### 场景 2：接口正常，页面缺数据，你会先改哪里？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存在小站曾出现一个很容易误判的问题：部分 A 股的当前价停留在旧值，涨跌幅和当日盈亏为空，港股和可转债却正常。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假如你来处理，你会先换行情源、修页面，还是查数据库？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当时外部行情源返回正常。偏差发生在更靠前的位置：同一个证券存在裸代码历史主档和标准主档，身份解析发现歧义，行情适配器随后静默返回空，页面保留了旧价格。只改页面，很难解决这条链路。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修复需要收敛主档、迁移关联、补唯一约束，并统一行情入口。历史同类核查确认了 4,630 组重复主档，范围远大于最先看到的几只证券。[真实案例：INC-0003](incidents/INC-0003-历史证券主档冲突导致持仓行情缺失.md)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这件事教会我们一个排查方式：**沿数据链逐段对照，找到最早发生偏差的位置。**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检查位置 | 你要回答的问题 |</a:t>
            </a:r>
          </a:p>
          <a:p xmlns:a="http://schemas.openxmlformats.org/drawingml/2006/main">
            <a:r>
              <a:t>|---|---|</a:t>
            </a:r>
          </a:p>
          <a:p xmlns:a="http://schemas.openxmlformats.org/drawingml/2006/main">
            <a:r>
              <a:t>| 数据源 | 原始响应真的缺字段吗？来源、对象和时间对吗？ |</a:t>
            </a:r>
          </a:p>
          <a:p xmlns:a="http://schemas.openxmlformats.org/drawingml/2006/main">
            <a:r>
              <a:t>| 数据库 | 写入了什么？身份、唯一键、单位、日期是否一致？ |</a:t>
            </a:r>
          </a:p>
          <a:p xmlns:a="http://schemas.openxmlformats.org/drawingml/2006/main">
            <a:r>
              <a:t>| 业务服务 | 转换、筛选、计算或缓存在哪里改变了结果？ |</a:t>
            </a:r>
          </a:p>
          <a:p xmlns:a="http://schemas.openxmlformats.org/drawingml/2006/main">
            <a:r>
              <a:t>| API | 返回值与数据库、服务结果一致吗？权限范围对吗？ |</a:t>
            </a:r>
          </a:p>
          <a:p xmlns:a="http://schemas.openxmlformats.org/drawingml/2006/main">
            <a:r>
              <a:t>| 页面 | 状态、字段映射和旧响应是否覆盖了正确结果？ |</a:t>
            </a:r>
          </a:p>
          <a:p xmlns:a="http://schemas.openxmlformats.org/drawingml/2006/main">
            <a:r>
              <a:t>| 运行环境 | 现在运行的代码、配置和资源是这一版吗？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排查往往需要先判断哪些层已经正常，再缩小范围。一个用户样本提供入口，同类对象决定真实影响范围。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数据设计也因此有了更清楚的分工：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要保存的东西 | 用途 | 起步怎样做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原始证据 | 解释来源、核对更正、重新解析 | 保留响应或原文、来源和时间 |</a:t>
            </a:r>
          </a:p>
          <a:p xmlns:a="http://schemas.openxmlformats.org/drawingml/2006/main">
            <a:r>
              <a:t>| 标准事实 | 给各功能提供同一口径 | 一张正确的核心表，统一写入 |</a:t>
            </a:r>
          </a:p>
          <a:p xmlns:a="http://schemas.openxmlformats.org/drawingml/2006/main">
            <a:r>
              <a:t>| 派生结果 | 复用指标，解释历史计算 | 需要时保存输入时点与版本 |</a:t>
            </a:r>
          </a:p>
          <a:p xmlns:a="http://schemas.openxmlformats.org/drawingml/2006/main">
            <a:r>
              <a:t>| 页面读取结果 | 给用户展示所需内容 | 从事实查询或缓存，保持权限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这些职责可以在同一数据库里实现。简单页面可以直接查询标准事实，等有实际需要再增加快照。单机低并发工具可评估 SQLite；明确多进程或并发写入时可评估 PostgreSQL。[SQLite 使用场景](https://www.sqlite.org/whentouse.html)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从一开始，把稳定对象身份、用户归属、唯一键、单位和业务日期写清楚。高频查询字段用正式列，未标准化字段可以放扩展区，原始证据单独保留。金额等精确数值要核对数据库、传输和计算的精度，JSONB 也不能替代所有建模。[PostgreSQL 数值类型](https://www.postgresql.org/docs/current/datatype-numeric.html)、[JSONB 说明](https://www.postgresql.org/docs/current/datatype-json.html)、[数据库约束](https://www.postgresql.org/docs/current/ddl-constraints.html)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**怎么知道修好了：** 原样本恢复，同类范围经过核查，重复身份约束能拦住新坏数据，旧关联和用户权限也经过验证。代码修复、存量修复和运行恢复各自留下结果。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【现象】出现在【页面/对象】。</a:t>
            </a:r>
          </a:p>
          <a:p xmlns:a="http://schemas.openxmlformats.org/drawingml/2006/main">
            <a:r>
              <a:t>请从来源、数据库、服务、API、页面和运行环境逐段对照。</a:t>
            </a:r>
          </a:p>
          <a:p xmlns:a="http://schemas.openxmlformats.org/drawingml/2006/main">
            <a:r>
              <a:t>找出最早偏差，分别列已确认事实、假设和待核验项。</a:t>
            </a:r>
          </a:p>
          <a:p xmlns:a="http://schemas.openxmlformats.org/drawingml/2006/main">
            <a:r>
              <a:t>检查对象身份、用户归属、唯一键、单位、日期和缓存。</a:t>
            </a:r>
          </a:p>
          <a:p xmlns:a="http://schemas.openxmlformats.org/drawingml/2006/main">
            <a:r>
              <a:t>优先修复公共根因，并查同类对象，不只处理这个样本。</a:t>
            </a:r>
          </a:p>
          <a:p xmlns:a="http://schemas.openxmlformats.org/drawingml/2006/main">
            <a:r>
              <a:t>分别说明代码、旧数据、缓存和实际运行需要怎样修复。</a:t>
            </a:r>
          </a:p>
          <a:p xmlns:a="http://schemas.openxmlformats.org/drawingml/2006/main">
            <a:r>
              <a:t>交付给出同类总数、通过、失败、未核验及相应证据。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**试一下：** 选你网站上的一条记录，能否从页面找到对应事实，再找到来源证据？找不到的那一段，就是最值得先补的追溯能力。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D:\存在小站\docs\incidents\INC-0003-历史证券主档冲突导致持仓行情缺失.md</a:t>
            </a:r>
          </a:p>
          <a:p xmlns:a="http://schemas.openxmlformats.org/drawingml/2006/main">
            <a:r>
              <a:t>D:\存在小站\docs\技术架构.md</a:t>
            </a:r>
          </a:p>
          <a:p xmlns:a="http://schemas.openxmlformats.org/drawingml/2006/main">
            <a:r>
              <a:t>https://www.sqlite.org/whentouse.html</a:t>
            </a:r>
          </a:p>
          <a:p xmlns:a="http://schemas.openxmlformats.org/drawingml/2006/main">
            <a:r>
              <a:t>https://www.postgresql.org/docs/current/datatype-numeric.html</a:t>
            </a:r>
          </a:p>
          <a:p xmlns:a="http://schemas.openxmlformats.org/drawingml/2006/main">
            <a:r>
              <a:t>https://www.postgresql.org/docs/current/datatype-json.html</a:t>
            </a:r>
          </a:p>
          <a:p xmlns:a="http://schemas.openxmlformats.org/drawingml/2006/main">
            <a:r>
              <a:t>https://www.postgresql.org/docs/current/ddl-constraints.html</a:t>
            </a:r>
          </a:p>
          <a:p xmlns:a="http://schemas.openxmlformats.org/drawingml/2006/main">
            <a:r>
              <a:t>https://www.cmu.edu/teaching/principles/learning.html</a:t>
            </a:r>
          </a:p>
          <a:p xmlns:a="http://schemas.openxmlformats.org/drawingml/2006/main">
            <a:r>
              <a:t>https://www.vanderbilt.edu/cdr/module1/branching-out-with-interactive-scenarios/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介绍可靠数据起步：一个核心事实表与统一写入，原始证据保留。SQLite/PG 按真实并发与运行条件评估。用户、精度、单位、日期、唯一键与稳定 ID 进入数据契约。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对应正文、完整示范与可复制模板：</a:t>
            </a:r>
          </a:p>
          <a:p xmlns:a="http://schemas.openxmlformats.org/drawingml/2006/main">
            <a:r>
              <a:t>### 场景 2：接口正常，页面缺数据，你会先改哪里？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存在小站曾出现一个很容易误判的问题：部分 A 股的当前价停留在旧值，涨跌幅和当日盈亏为空，港股和可转债却正常。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假如你来处理，你会先换行情源、修页面，还是查数据库？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当时外部行情源返回正常。偏差发生在更靠前的位置：同一个证券存在裸代码历史主档和标准主档，身份解析发现歧义，行情适配器随后静默返回空，页面保留了旧价格。只改页面，很难解决这条链路。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修复需要收敛主档、迁移关联、补唯一约束，并统一行情入口。历史同类核查确认了 4,630 组重复主档，范围远大于最先看到的几只证券。[真实案例：INC-0003](incidents/INC-0003-历史证券主档冲突导致持仓行情缺失.md)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这件事教会我们一个排查方式：**沿数据链逐段对照，找到最早发生偏差的位置。**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检查位置 | 你要回答的问题 |</a:t>
            </a:r>
          </a:p>
          <a:p xmlns:a="http://schemas.openxmlformats.org/drawingml/2006/main">
            <a:r>
              <a:t>|---|---|</a:t>
            </a:r>
          </a:p>
          <a:p xmlns:a="http://schemas.openxmlformats.org/drawingml/2006/main">
            <a:r>
              <a:t>| 数据源 | 原始响应真的缺字段吗？来源、对象和时间对吗？ |</a:t>
            </a:r>
          </a:p>
          <a:p xmlns:a="http://schemas.openxmlformats.org/drawingml/2006/main">
            <a:r>
              <a:t>| 数据库 | 写入了什么？身份、唯一键、单位、日期是否一致？ |</a:t>
            </a:r>
          </a:p>
          <a:p xmlns:a="http://schemas.openxmlformats.org/drawingml/2006/main">
            <a:r>
              <a:t>| 业务服务 | 转换、筛选、计算或缓存在哪里改变了结果？ |</a:t>
            </a:r>
          </a:p>
          <a:p xmlns:a="http://schemas.openxmlformats.org/drawingml/2006/main">
            <a:r>
              <a:t>| API | 返回值与数据库、服务结果一致吗？权限范围对吗？ |</a:t>
            </a:r>
          </a:p>
          <a:p xmlns:a="http://schemas.openxmlformats.org/drawingml/2006/main">
            <a:r>
              <a:t>| 页面 | 状态、字段映射和旧响应是否覆盖了正确结果？ |</a:t>
            </a:r>
          </a:p>
          <a:p xmlns:a="http://schemas.openxmlformats.org/drawingml/2006/main">
            <a:r>
              <a:t>| 运行环境 | 现在运行的代码、配置和资源是这一版吗？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排查往往需要先判断哪些层已经正常，再缩小范围。一个用户样本提供入口，同类对象决定真实影响范围。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数据设计也因此有了更清楚的分工：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要保存的东西 | 用途 | 起步怎样做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原始证据 | 解释来源、核对更正、重新解析 | 保留响应或原文、来源和时间 |</a:t>
            </a:r>
          </a:p>
          <a:p xmlns:a="http://schemas.openxmlformats.org/drawingml/2006/main">
            <a:r>
              <a:t>| 标准事实 | 给各功能提供同一口径 | 一张正确的核心表，统一写入 |</a:t>
            </a:r>
          </a:p>
          <a:p xmlns:a="http://schemas.openxmlformats.org/drawingml/2006/main">
            <a:r>
              <a:t>| 派生结果 | 复用指标，解释历史计算 | 需要时保存输入时点与版本 |</a:t>
            </a:r>
          </a:p>
          <a:p xmlns:a="http://schemas.openxmlformats.org/drawingml/2006/main">
            <a:r>
              <a:t>| 页面读取结果 | 给用户展示所需内容 | 从事实查询或缓存，保持权限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这些职责可以在同一数据库里实现。简单页面可以直接查询标准事实，等有实际需要再增加快照。单机低并发工具可评估 SQLite；明确多进程或并发写入时可评估 PostgreSQL。[SQLite 使用场景](https://www.sqlite.org/whentouse.html)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从一开始，把稳定对象身份、用户归属、唯一键、单位和业务日期写清楚。高频查询字段用正式列，未标准化字段可以放扩展区，原始证据单独保留。金额等精确数值要核对数据库、传输和计算的精度，JSONB 也不能替代所有建模。[PostgreSQL 数值类型](https://www.postgresql.org/docs/current/datatype-numeric.html)、[JSONB 说明](https://www.postgresql.org/docs/current/datatype-json.html)、[数据库约束](https://www.postgresql.org/docs/current/ddl-constraints.html)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**怎么知道修好了：** 原样本恢复，同类范围经过核查，重复身份约束能拦住新坏数据，旧关联和用户权限也经过验证。代码修复、存量修复和运行恢复各自留下结果。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【现象】出现在【页面/对象】。</a:t>
            </a:r>
          </a:p>
          <a:p xmlns:a="http://schemas.openxmlformats.org/drawingml/2006/main">
            <a:r>
              <a:t>请从来源、数据库、服务、API、页面和运行环境逐段对照。</a:t>
            </a:r>
          </a:p>
          <a:p xmlns:a="http://schemas.openxmlformats.org/drawingml/2006/main">
            <a:r>
              <a:t>找出最早偏差，分别列已确认事实、假设和待核验项。</a:t>
            </a:r>
          </a:p>
          <a:p xmlns:a="http://schemas.openxmlformats.org/drawingml/2006/main">
            <a:r>
              <a:t>检查对象身份、用户归属、唯一键、单位、日期和缓存。</a:t>
            </a:r>
          </a:p>
          <a:p xmlns:a="http://schemas.openxmlformats.org/drawingml/2006/main">
            <a:r>
              <a:t>优先修复公共根因，并查同类对象，不只处理这个样本。</a:t>
            </a:r>
          </a:p>
          <a:p xmlns:a="http://schemas.openxmlformats.org/drawingml/2006/main">
            <a:r>
              <a:t>分别说明代码、旧数据、缓存和实际运行需要怎样修复。</a:t>
            </a:r>
          </a:p>
          <a:p xmlns:a="http://schemas.openxmlformats.org/drawingml/2006/main">
            <a:r>
              <a:t>交付给出同类总数、通过、失败、未核验及相应证据。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**试一下：** 选你网站上的一条记录，能否从页面找到对应事实，再找到来源证据？找不到的那一段，就是最值得先补的追溯能力。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D:\存在小站\docs\incidents\INC-0003-历史证券主档冲突导致持仓行情缺失.md</a:t>
            </a:r>
          </a:p>
          <a:p xmlns:a="http://schemas.openxmlformats.org/drawingml/2006/main">
            <a:r>
              <a:t>D:\存在小站\docs\技术架构.md</a:t>
            </a:r>
          </a:p>
          <a:p xmlns:a="http://schemas.openxmlformats.org/drawingml/2006/main">
            <a:r>
              <a:t>https://www.sqlite.org/whentouse.html</a:t>
            </a:r>
          </a:p>
          <a:p xmlns:a="http://schemas.openxmlformats.org/drawingml/2006/main">
            <a:r>
              <a:t>https://www.postgresql.org/docs/current/datatype-numeric.html</a:t>
            </a:r>
          </a:p>
          <a:p xmlns:a="http://schemas.openxmlformats.org/drawingml/2006/main">
            <a:r>
              <a:t>https://www.postgresql.org/docs/current/datatype-json.html</a:t>
            </a:r>
          </a:p>
          <a:p xmlns:a="http://schemas.openxmlformats.org/drawingml/2006/main">
            <a:r>
              <a:t>https://www.postgresql.org/docs/current/ddl-constraints.html</a:t>
            </a:r>
          </a:p>
          <a:p xmlns:a="http://schemas.openxmlformats.org/drawingml/2006/main">
            <a:r>
              <a:t>https://www.cmu.edu/teaching/principles/learning.html</a:t>
            </a:r>
          </a:p>
          <a:p xmlns:a="http://schemas.openxmlformats.org/drawingml/2006/main">
            <a:r>
              <a:t>https://www.vanderbilt.edu/cdr/module1/branching-out-with-interactive-scenarios/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真实历史运行现象。先问成功/部分/失败，听众应依据任务承诺范围给理由。未先显示答案。下一页说明批次与业务完成。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D:\存在小站\docs\incidents\INC-0018-IPO资料补全固定8条及多重隐性上限.md</a:t>
            </a:r>
          </a:p>
          <a:p xmlns:a="http://schemas.openxmlformats.org/drawingml/2006/main">
            <a:r>
              <a:t>D:\存在小站\docs\decisions\ADR-0001-公告数据源优先级与统一采集.md</a:t>
            </a:r>
          </a:p>
          <a:p xmlns:a="http://schemas.openxmlformats.org/drawingml/2006/main">
            <a:r>
              <a:t>D:\存在小站\docs\decisions\ADR-0002-后台任务与数据质量不变量.md</a:t>
            </a:r>
          </a:p>
          <a:p xmlns:a="http://schemas.openxmlformats.org/drawingml/2006/main">
            <a:r>
              <a:t>D:\存在小站\docs\decisions\ADR-0003-告警与任务治理门禁补强.md</a:t>
            </a:r>
          </a:p>
          <a:p xmlns:a="http://schemas.openxmlformats.org/drawingml/2006/main">
            <a:r>
              <a:t>https://www.cmu.edu/teaching/principles/learning.html</a:t>
            </a:r>
          </a:p>
          <a:p xmlns:a="http://schemas.openxmlformats.org/drawingml/2006/main">
            <a:r>
              <a:t>https://www.vanderbilt.edu/cdr/module1/branching-out-with-interactive-scenarios/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 limit=8 与其他隐性上限导致未处理工作消失。不能只调大数字。官方限制、内部等待与批次止损各有语义。事故中的旧预算数字不是当前策略。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对应正文、完整示范与可复制模板：</a:t>
            </a:r>
          </a:p>
          <a:p xmlns:a="http://schemas.openxmlformats.org/drawingml/2006/main">
            <a:r>
              <a:t>### 场景 3：后台写着“成功”，为什么还剩一大堆没处理？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我们有过一次资料补全：运行显示成功，实际只尝试了 8 条，剩余 34 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先停一下：你会把它归为“成功”“部分完成”还是“失败”？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关键取决于任务承诺的范围。如果承诺补全整个目标集合，处理第一批就还没完成。当时问题来自固定的 `limit=8`，其他日期窗口、分页和失败次数上限也隐藏了未处理工作。这个案例说明：**批次大小和业务完成，是两件需要分别定义的事。** 数字来自当时事故记录，当前策略以现行架构为准。[真实案例：INC-0018](incidents/INC-0018-IPO资料补全固定8条及多重隐性上限.md)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让 AI “把批次调大”只能暂时推迟问题。更可靠的做法是保存进度：处理过谁、还剩谁、为什么停、下一次从哪里继续。安全止损可以结束本次执行，剩余工作仍然有归属。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另一个常见陷阱是空结果。完整查询后确认没有新增，可以记录“已核实无变化”；接口失败后拿到空数组，仍然需要记录失败。两者影响水位、下游和告警，不能共用一个“成功”。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从这里，可以逐步建立一条可靠的数据更新流程：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第一次取得完整范围后落库，后续按游标、业务日或报告期增量处理，保留必要重叠窗口核对更正。</a:t>
            </a:r>
          </a:p>
          <a:p xmlns:a="http://schemas.openxmlformats.org/drawingml/2006/main">
            <a:r>
              <a:t>2. 页面与普通刷新读取数据库或统一缓存，自动更新、人工补跑和补偿共用业务入口。</a:t>
            </a:r>
          </a:p>
          <a:p xmlns:a="http://schemas.openxmlformats.org/drawingml/2006/main">
            <a:r>
              <a:t>3. 异常或失败保留上一份有效事实，只有完整核验的窗口才推进覆盖水位。</a:t>
            </a:r>
          </a:p>
          <a:p xmlns:a="http://schemas.openxmlformats.org/drawingml/2006/main">
            <a:r>
              <a:t>4. 分批任务保存剩余进度。复杂阶段分别声明目标日、依赖、产出和质量条件；需要分区时，按业务日记录一份数据的发布与质量状态。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增加外部请求时，再把来源适配、缓存和请求保护集中到公共入口。已核验的官方限制与内部等待、任务止损分别记录；未知额度保留未知。补旧数据也不能回退较新水位，最新日期不能证明中间没有缺口。[统一采集决策](decisions/ADR-0001-公告数据源优先级与统一采集.md)、[任务与质量决策](decisions/ADR-0002-后台任务与数据质量不变量.m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可以复制这张“更新说明”，让 AI 按项目填实：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数据与消费者：【】；唯一采集/写入入口：【】。</a:t>
            </a:r>
          </a:p>
          <a:p xmlns:a="http://schemas.openxmlformats.org/drawingml/2006/main">
            <a:r>
              <a:t>对象身份、用户归属、字段、单位、业务日期与唯一键：【】。</a:t>
            </a:r>
          </a:p>
          <a:p xmlns:a="http://schemas.openxmlformats.org/drawingml/2006/main">
            <a:r>
              <a:t>首次完整范围：【】；日常增量与更正重叠：【】。</a:t>
            </a:r>
          </a:p>
          <a:p xmlns:a="http://schemas.openxmlformats.org/drawingml/2006/main">
            <a:r>
              <a:t>去重、缓存、失败保留和覆盖水位推进条件：【】。</a:t>
            </a:r>
          </a:p>
          <a:p xmlns:a="http://schemas.openxmlformats.org/drawingml/2006/main">
            <a:r>
              <a:t>自动、人工与补偿共用的执行入口：【】。</a:t>
            </a:r>
          </a:p>
          <a:p xmlns:a="http://schemas.openxmlformats.org/drawingml/2006/main">
            <a:r>
              <a:t>目标集合与排除理由：【】；目标日怎样传到子阶段：【】。</a:t>
            </a:r>
          </a:p>
          <a:p xmlns:a="http://schemas.openxmlformats.org/drawingml/2006/main">
            <a:r>
              <a:t>每阶段的依赖、产出和质量条件：【】。</a:t>
            </a:r>
          </a:p>
          <a:p xmlns:a="http://schemas.openxmlformats.org/drawingml/2006/main">
            <a:r>
              <a:t>剩余队列/游标、剩余数量、停止原因与下次续跑：【】。</a:t>
            </a:r>
          </a:p>
          <a:p xmlns:a="http://schemas.openxmlformats.org/drawingml/2006/main">
            <a:r>
              <a:t>无变化、失败、部分完成和完全完成的证据：【】。</a:t>
            </a:r>
          </a:p>
          <a:p xmlns:a="http://schemas.openxmlformats.org/drawingml/2006/main">
            <a:r>
              <a:t>告警作用域与匹配的恢复证据：【】。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**怎么知道这套方法管用：** 重复导入不增重复记录；途中失败保留旧值；重启能接着处理；剩余未清空不会报完全成功；下游只使用目标日期且质量通过的数据。恢复告警也要匹配具体分区或接口，普通任务成功不能替代质量恢复。[恢复证据决策](decisions/ADR-0003-告警与任务治理门禁补强.m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**试一下：** 给一次导入人为制造中断。重启后，它能继续吗？你能查询到剩余数量吗？优先在隔离测试环境完成这个练习。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D:\存在小站\docs\incidents\INC-0018-IPO资料补全固定8条及多重隐性上限.md</a:t>
            </a:r>
          </a:p>
          <a:p xmlns:a="http://schemas.openxmlformats.org/drawingml/2006/main">
            <a:r>
              <a:t>D:\存在小站\docs\decisions\ADR-0001-公告数据源优先级与统一采集.md</a:t>
            </a:r>
          </a:p>
          <a:p xmlns:a="http://schemas.openxmlformats.org/drawingml/2006/main">
            <a:r>
              <a:t>D:\存在小站\docs\decisions\ADR-0002-后台任务与数据质量不变量.md</a:t>
            </a:r>
          </a:p>
          <a:p xmlns:a="http://schemas.openxmlformats.org/drawingml/2006/main">
            <a:r>
              <a:t>D:\存在小站\docs\decisions\ADR-0003-告警与任务治理门禁补强.md</a:t>
            </a:r>
          </a:p>
          <a:p xmlns:a="http://schemas.openxmlformats.org/drawingml/2006/main">
            <a:r>
              <a:t>https://www.cmu.edu/teaching/principles/learning.html</a:t>
            </a:r>
          </a:p>
          <a:p xmlns:a="http://schemas.openxmlformats.org/drawingml/2006/main">
            <a:r>
              <a:t>https://www.vanderbilt.edu/cdr/module1/branching-out-with-interactive-scenarios/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引导一次受控中断练习。正常、重复、失败、空、缺页、更正、旧补漏和中断续跑适用检查。普通页面读库，自动人工与补偿共用 Runner，告警按具体作用域恢复。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对应正文、完整示范与可复制模板：</a:t>
            </a:r>
          </a:p>
          <a:p xmlns:a="http://schemas.openxmlformats.org/drawingml/2006/main">
            <a:r>
              <a:t>### 场景 3：后台写着“成功”，为什么还剩一大堆没处理？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我们有过一次资料补全：运行显示成功，实际只尝试了 8 条，剩余 34 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先停一下：你会把它归为“成功”“部分完成”还是“失败”？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关键取决于任务承诺的范围。如果承诺补全整个目标集合，处理第一批就还没完成。当时问题来自固定的 `limit=8`，其他日期窗口、分页和失败次数上限也隐藏了未处理工作。这个案例说明：**批次大小和业务完成，是两件需要分别定义的事。** 数字来自当时事故记录，当前策略以现行架构为准。[真实案例：INC-0018](incidents/INC-0018-IPO资料补全固定8条及多重隐性上限.md)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让 AI “把批次调大”只能暂时推迟问题。更可靠的做法是保存进度：处理过谁、还剩谁、为什么停、下一次从哪里继续。安全止损可以结束本次执行，剩余工作仍然有归属。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另一个常见陷阱是空结果。完整查询后确认没有新增，可以记录“已核实无变化”；接口失败后拿到空数组，仍然需要记录失败。两者影响水位、下游和告警，不能共用一个“成功”。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从这里，可以逐步建立一条可靠的数据更新流程：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第一次取得完整范围后落库，后续按游标、业务日或报告期增量处理，保留必要重叠窗口核对更正。</a:t>
            </a:r>
          </a:p>
          <a:p xmlns:a="http://schemas.openxmlformats.org/drawingml/2006/main">
            <a:r>
              <a:t>2. 页面与普通刷新读取数据库或统一缓存，自动更新、人工补跑和补偿共用业务入口。</a:t>
            </a:r>
          </a:p>
          <a:p xmlns:a="http://schemas.openxmlformats.org/drawingml/2006/main">
            <a:r>
              <a:t>3. 异常或失败保留上一份有效事实，只有完整核验的窗口才推进覆盖水位。</a:t>
            </a:r>
          </a:p>
          <a:p xmlns:a="http://schemas.openxmlformats.org/drawingml/2006/main">
            <a:r>
              <a:t>4. 分批任务保存剩余进度。复杂阶段分别声明目标日、依赖、产出和质量条件；需要分区时，按业务日记录一份数据的发布与质量状态。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增加外部请求时，再把来源适配、缓存和请求保护集中到公共入口。已核验的官方限制与内部等待、任务止损分别记录；未知额度保留未知。补旧数据也不能回退较新水位，最新日期不能证明中间没有缺口。[统一采集决策](decisions/ADR-0001-公告数据源优先级与统一采集.md)、[任务与质量决策](decisions/ADR-0002-后台任务与数据质量不变量.m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可以复制这张“更新说明”，让 AI 按项目填实：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数据与消费者：【】；唯一采集/写入入口：【】。</a:t>
            </a:r>
          </a:p>
          <a:p xmlns:a="http://schemas.openxmlformats.org/drawingml/2006/main">
            <a:r>
              <a:t>对象身份、用户归属、字段、单位、业务日期与唯一键：【】。</a:t>
            </a:r>
          </a:p>
          <a:p xmlns:a="http://schemas.openxmlformats.org/drawingml/2006/main">
            <a:r>
              <a:t>首次完整范围：【】；日常增量与更正重叠：【】。</a:t>
            </a:r>
          </a:p>
          <a:p xmlns:a="http://schemas.openxmlformats.org/drawingml/2006/main">
            <a:r>
              <a:t>去重、缓存、失败保留和覆盖水位推进条件：【】。</a:t>
            </a:r>
          </a:p>
          <a:p xmlns:a="http://schemas.openxmlformats.org/drawingml/2006/main">
            <a:r>
              <a:t>自动、人工与补偿共用的执行入口：【】。</a:t>
            </a:r>
          </a:p>
          <a:p xmlns:a="http://schemas.openxmlformats.org/drawingml/2006/main">
            <a:r>
              <a:t>目标集合与排除理由：【】；目标日怎样传到子阶段：【】。</a:t>
            </a:r>
          </a:p>
          <a:p xmlns:a="http://schemas.openxmlformats.org/drawingml/2006/main">
            <a:r>
              <a:t>每阶段的依赖、产出和质量条件：【】。</a:t>
            </a:r>
          </a:p>
          <a:p xmlns:a="http://schemas.openxmlformats.org/drawingml/2006/main">
            <a:r>
              <a:t>剩余队列/游标、剩余数量、停止原因与下次续跑：【】。</a:t>
            </a:r>
          </a:p>
          <a:p xmlns:a="http://schemas.openxmlformats.org/drawingml/2006/main">
            <a:r>
              <a:t>无变化、失败、部分完成和完全完成的证据：【】。</a:t>
            </a:r>
          </a:p>
          <a:p xmlns:a="http://schemas.openxmlformats.org/drawingml/2006/main">
            <a:r>
              <a:t>告警作用域与匹配的恢复证据：【】。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**怎么知道这套方法管用：** 重复导入不增重复记录；途中失败保留旧值；重启能接着处理；剩余未清空不会报完全成功；下游只使用目标日期且质量通过的数据。恢复告警也要匹配具体分区或接口，普通任务成功不能替代质量恢复。[恢复证据决策](decisions/ADR-0003-告警与任务治理门禁补强.m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**试一下：** 给一次导入人为制造中断。重启后，它能继续吗？你能查询到剩余数量吗？优先在隔离测试环境完成这个练习。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D:\存在小站\docs\incidents\INC-0018-IPO资料补全固定8条及多重隐性上限.md</a:t>
            </a:r>
          </a:p>
          <a:p xmlns:a="http://schemas.openxmlformats.org/drawingml/2006/main">
            <a:r>
              <a:t>D:\存在小站\docs\decisions\ADR-0001-公告数据源优先级与统一采集.md</a:t>
            </a:r>
          </a:p>
          <a:p xmlns:a="http://schemas.openxmlformats.org/drawingml/2006/main">
            <a:r>
              <a:t>D:\存在小站\docs\decisions\ADR-0002-后台任务与数据质量不变量.md</a:t>
            </a:r>
          </a:p>
          <a:p xmlns:a="http://schemas.openxmlformats.org/drawingml/2006/main">
            <a:r>
              <a:t>D:\存在小站\docs\decisions\ADR-0003-告警与任务治理门禁补强.md</a:t>
            </a:r>
          </a:p>
          <a:p xmlns:a="http://schemas.openxmlformats.org/drawingml/2006/main">
            <a:r>
              <a:t>https://www.cmu.edu/teaching/principles/learning.html</a:t>
            </a:r>
          </a:p>
          <a:p xmlns:a="http://schemas.openxmlformats.org/drawingml/2006/main">
            <a:r>
              <a:t>https://www.vanderbilt.edu/cdr/module1/branching-out-with-interactive-scenarios/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第三幕代入场景：不同页面按钮、表格、空态与手机行为。先让听众指出仅有统一/美观这类形容词为什么不足。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D:\存在小站\docs\技术架构.md</a:t>
            </a:r>
          </a:p>
          <a:p xmlns:a="http://schemas.openxmlformats.org/drawingml/2006/main">
            <a:r>
              <a:t>D:\存在小站\public\shared\style.css</a:t>
            </a:r>
          </a:p>
          <a:p xmlns:a="http://schemas.openxmlformats.org/drawingml/2006/main">
            <a:r>
              <a:t>D:\存在小站\public\shared\business-table.js</a:t>
            </a:r>
          </a:p>
          <a:p xmlns:a="http://schemas.openxmlformats.org/drawingml/2006/main">
            <a:r>
              <a:t>D:\存在小站\public\shared\mobile-ui.js</a:t>
            </a:r>
          </a:p>
          <a:p xmlns:a="http://schemas.openxmlformats.org/drawingml/2006/main">
            <a:r>
              <a:t>https://www.cmu.edu/teaching/principles/learning.html</a:t>
            </a:r>
          </a:p>
          <a:p xmlns:a="http://schemas.openxmlformats.org/drawingml/2006/main">
            <a:r>
              <a:t>https://www.vanderbilt.edu/cdr/module1/branching-out-with-interactive-scenarios/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展示设计规则、共享实现和代表性页面如何同时工作。框架组件或原生共享 CSS/JS 都能承担职责。相关模板在正文和本页备注。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对应正文、完整示范与可复制模板：</a:t>
            </a:r>
          </a:p>
          <a:p xmlns:a="http://schemas.openxmlformats.org/drawingml/2006/main">
            <a:r>
              <a:t>### 场景 4：让 AI “和上一页一样”，为什么还是不一样？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第一张页面做好了。第二张也看起来不错，但按钮高度变了，空数据提示变了，手机上的表格滚动又用了另一套方式。你再次说“统一一下”，AI 调整了一些颜色，下一个页面还是重新设计。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“和上一页一样”需要有可引用的对象。只有模糊形容词，AI 每次都要重新解释什么叫统一。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存在小站后来把业务表格、可转债功能族和移动交互收敛到共享层：共用样式与表格、手机、图表能力，业务文件保留必要差异。[前端共享规范](技术架构.md)、[共享样式](../public/shared/style.css)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新手可以先挑一张代表性页面。让它同时包含常用表格、工具栏、表单，以及加载、空、失败、权限和过期状态。以此确定公共规则，把常用实现沉淀成组件或共享 CSS/JS。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原来交给 AI 的信息 | 改成可以执行的信息 |</a:t>
            </a:r>
          </a:p>
          <a:p xmlns:a="http://schemas.openxmlformats.org/drawingml/2006/main">
            <a:r>
              <a:t>|---|---|</a:t>
            </a:r>
          </a:p>
          <a:p xmlns:a="http://schemas.openxmlformats.org/drawingml/2006/main">
            <a:r>
              <a:t>| “做得简洁一点” | 指向代表性页面和主题变量 |</a:t>
            </a:r>
          </a:p>
          <a:p xmlns:a="http://schemas.openxmlformats.org/drawingml/2006/main">
            <a:r>
              <a:t>| “表格和上一页一样” | 指向共享表格入口，注明字段宽度差异 |</a:t>
            </a:r>
          </a:p>
          <a:p xmlns:a="http://schemas.openxmlformats.org/drawingml/2006/main">
            <a:r>
              <a:t>| “记得适配手机” | 明确重排、局部横滑、触屏和键盘行为 |</a:t>
            </a:r>
          </a:p>
          <a:p xmlns:a="http://schemas.openxmlformats.org/drawingml/2006/main">
            <a:r>
              <a:t>| “刷新后别乱” | 明确筛选状态保留、旧响应丢弃和缓存重绘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统一外观的同时，还要统一操作结果。例如切换市场后，较慢的旧响应不能覆盖新选择；菜单展开与屏幕旋转使用已有数据；手机保留字段，在表格容器内横滑。页面与手机共用状态、权限和数据链路。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可以这样让 AI 开始新页面：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新页面：【】；代表性页面：【】；公共样式/组件入口：【】。</a:t>
            </a:r>
          </a:p>
          <a:p xmlns:a="http://schemas.openxmlformats.org/drawingml/2006/main">
            <a:r>
              <a:t>先读取已有实现，列出可复用能力和业务差异。</a:t>
            </a:r>
          </a:p>
          <a:p xmlns:a="http://schemas.openxmlformats.org/drawingml/2006/main">
            <a:r>
              <a:t>公共不足优先扩展共享入口，页面只保留必要差异。</a:t>
            </a:r>
          </a:p>
          <a:p xmlns:a="http://schemas.openxmlformats.org/drawingml/2006/main">
            <a:r>
              <a:t>说明加载、空、失败、无权限、过期和旧响应的处理。</a:t>
            </a:r>
          </a:p>
          <a:p xmlns:a="http://schemas.openxmlformats.org/drawingml/2006/main">
            <a:r>
              <a:t>桌面与手机同时设计，保留字段、状态和服务端权限。</a:t>
            </a:r>
          </a:p>
          <a:p xmlns:a="http://schemas.openxmlformats.org/drawingml/2006/main">
            <a:r>
              <a:t>菜单、旋转和重绘只使用已取数据。</a:t>
            </a:r>
          </a:p>
          <a:p xmlns:a="http://schemas.openxmlformats.org/drawingml/2006/main">
            <a:r>
              <a:t>列出共享修改影响的同类页面与行为、布局、真机验收范围。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本项目的正文/导航分界是 760/900px，手机操作区域至少 44px、输入字号 16px，多尺寸检查覆盖 320/360/390/430/768/1024/1440px。新项目可以采用或修改这组基线，统一保存在共享位置。自动行为检查、浏览器布局和真机兼容分别记录结果。[移动端规范与已验边界](技术架构.md)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**带走一个动作：** 找到你项目里最有代表性的页面，给它一个明确路径，再找出两个值得共享的控件。以后让 AI 复用这个入口。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D:\存在小站\docs\技术架构.md</a:t>
            </a:r>
          </a:p>
          <a:p xmlns:a="http://schemas.openxmlformats.org/drawingml/2006/main">
            <a:r>
              <a:t>D:\存在小站\public\shared\style.css</a:t>
            </a:r>
          </a:p>
          <a:p xmlns:a="http://schemas.openxmlformats.org/drawingml/2006/main">
            <a:r>
              <a:t>D:\存在小站\public\shared\business-table.js</a:t>
            </a:r>
          </a:p>
          <a:p xmlns:a="http://schemas.openxmlformats.org/drawingml/2006/main">
            <a:r>
              <a:t>D:\存在小站\public\shared\mobile-ui.js</a:t>
            </a:r>
          </a:p>
          <a:p xmlns:a="http://schemas.openxmlformats.org/drawingml/2006/main">
            <a:r>
              <a:t>https://www.cmu.edu/teaching/principles/learning.html</a:t>
            </a:r>
          </a:p>
          <a:p xmlns:a="http://schemas.openxmlformats.org/drawingml/2006/main">
            <a:r>
              <a:t>https://www.vanderbilt.edu/cdr/module1/branching-out-with-interactive-scenarios/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短决策练习，先问学员希望保持哪些内容。之后讲局部横滑、完整字段、共同状态与权限，并说明行为/视觉/真机验证不同。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对应正文、完整示范与可复制模板：</a:t>
            </a:r>
          </a:p>
          <a:p xmlns:a="http://schemas.openxmlformats.org/drawingml/2006/main">
            <a:r>
              <a:t>### 场景 4：让 AI “和上一页一样”，为什么还是不一样？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第一张页面做好了。第二张也看起来不错，但按钮高度变了，空数据提示变了，手机上的表格滚动又用了另一套方式。你再次说“统一一下”，AI 调整了一些颜色，下一个页面还是重新设计。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“和上一页一样”需要有可引用的对象。只有模糊形容词，AI 每次都要重新解释什么叫统一。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存在小站后来把业务表格、可转债功能族和移动交互收敛到共享层：共用样式与表格、手机、图表能力，业务文件保留必要差异。[前端共享规范](技术架构.md)、[共享样式](../public/shared/style.css)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新手可以先挑一张代表性页面。让它同时包含常用表格、工具栏、表单，以及加载、空、失败、权限和过期状态。以此确定公共规则，把常用实现沉淀成组件或共享 CSS/JS。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原来交给 AI 的信息 | 改成可以执行的信息 |</a:t>
            </a:r>
          </a:p>
          <a:p xmlns:a="http://schemas.openxmlformats.org/drawingml/2006/main">
            <a:r>
              <a:t>|---|---|</a:t>
            </a:r>
          </a:p>
          <a:p xmlns:a="http://schemas.openxmlformats.org/drawingml/2006/main">
            <a:r>
              <a:t>| “做得简洁一点” | 指向代表性页面和主题变量 |</a:t>
            </a:r>
          </a:p>
          <a:p xmlns:a="http://schemas.openxmlformats.org/drawingml/2006/main">
            <a:r>
              <a:t>| “表格和上一页一样” | 指向共享表格入口，注明字段宽度差异 |</a:t>
            </a:r>
          </a:p>
          <a:p xmlns:a="http://schemas.openxmlformats.org/drawingml/2006/main">
            <a:r>
              <a:t>| “记得适配手机” | 明确重排、局部横滑、触屏和键盘行为 |</a:t>
            </a:r>
          </a:p>
          <a:p xmlns:a="http://schemas.openxmlformats.org/drawingml/2006/main">
            <a:r>
              <a:t>| “刷新后别乱” | 明确筛选状态保留、旧响应丢弃和缓存重绘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统一外观的同时，还要统一操作结果。例如切换市场后，较慢的旧响应不能覆盖新选择；菜单展开与屏幕旋转使用已有数据；手机保留字段，在表格容器内横滑。页面与手机共用状态、权限和数据链路。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可以这样让 AI 开始新页面：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新页面：【】；代表性页面：【】；公共样式/组件入口：【】。</a:t>
            </a:r>
          </a:p>
          <a:p xmlns:a="http://schemas.openxmlformats.org/drawingml/2006/main">
            <a:r>
              <a:t>先读取已有实现，列出可复用能力和业务差异。</a:t>
            </a:r>
          </a:p>
          <a:p xmlns:a="http://schemas.openxmlformats.org/drawingml/2006/main">
            <a:r>
              <a:t>公共不足优先扩展共享入口，页面只保留必要差异。</a:t>
            </a:r>
          </a:p>
          <a:p xmlns:a="http://schemas.openxmlformats.org/drawingml/2006/main">
            <a:r>
              <a:t>说明加载、空、失败、无权限、过期和旧响应的处理。</a:t>
            </a:r>
          </a:p>
          <a:p xmlns:a="http://schemas.openxmlformats.org/drawingml/2006/main">
            <a:r>
              <a:t>桌面与手机同时设计，保留字段、状态和服务端权限。</a:t>
            </a:r>
          </a:p>
          <a:p xmlns:a="http://schemas.openxmlformats.org/drawingml/2006/main">
            <a:r>
              <a:t>菜单、旋转和重绘只使用已取数据。</a:t>
            </a:r>
          </a:p>
          <a:p xmlns:a="http://schemas.openxmlformats.org/drawingml/2006/main">
            <a:r>
              <a:t>列出共享修改影响的同类页面与行为、布局、真机验收范围。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本项目的正文/导航分界是 760/900px，手机操作区域至少 44px、输入字号 16px，多尺寸检查覆盖 320/360/390/430/768/1024/1440px。新项目可以采用或修改这组基线，统一保存在共享位置。自动行为检查、浏览器布局和真机兼容分别记录结果。[移动端规范与已验边界](技术架构.md)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**带走一个动作：** 找到你项目里最有代表性的页面，给它一个明确路径，再找出两个值得共享的控件。以后让 AI 复用这个入口。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D:\存在小站\docs\技术架构.md</a:t>
            </a:r>
          </a:p>
          <a:p xmlns:a="http://schemas.openxmlformats.org/drawingml/2006/main">
            <a:r>
              <a:t>D:\存在小站\public\shared\style.css</a:t>
            </a:r>
          </a:p>
          <a:p xmlns:a="http://schemas.openxmlformats.org/drawingml/2006/main">
            <a:r>
              <a:t>D:\存在小站\public\shared\business-table.js</a:t>
            </a:r>
          </a:p>
          <a:p xmlns:a="http://schemas.openxmlformats.org/drawingml/2006/main">
            <a:r>
              <a:t>D:\存在小站\public\shared\mobile-ui.js</a:t>
            </a:r>
          </a:p>
          <a:p xmlns:a="http://schemas.openxmlformats.org/drawingml/2006/main">
            <a:r>
              <a:t>https://www.cmu.edu/teaching/principles/learning.html</a:t>
            </a:r>
          </a:p>
          <a:p xmlns:a="http://schemas.openxmlformats.org/drawingml/2006/main">
            <a:r>
              <a:t>https://www.vanderbilt.edu/cdr/module1/branching-out-with-interactive-scenarios/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代入场景，揭示单来源代码、单币种、服务器今天等假设会散落在各层。让学员列最容易变化的假设。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D:\存在小站\docs\技术架构.md</a:t>
            </a:r>
          </a:p>
          <a:p xmlns:a="http://schemas.openxmlformats.org/drawingml/2006/main">
            <a:r>
              <a:t>D:\存在小站\AGENTS.md</a:t>
            </a:r>
          </a:p>
          <a:p xmlns:a="http://schemas.openxmlformats.org/drawingml/2006/main">
            <a:r>
              <a:t>https://www.cmu.edu/teaching/principles/learning.html</a:t>
            </a:r>
          </a:p>
          <a:p xmlns:a="http://schemas.openxmlformats.org/drawingml/2006/main">
            <a:r>
              <a:t>https://www.vanderbilt.edu/cdr/module1/branching-out-with-interactive-scenarios/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合理冗余是身份、来源、时间、版本和服务边界。不要预建全部设施或把字段变成通用 field1。结构替换核对新链路、存量、兼容与旧入口退出。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对应正文、完整示范与可复制模板：</a:t>
            </a:r>
          </a:p>
          <a:p xmlns:a="http://schemas.openxmlformats.org/drawingml/2006/main">
            <a:r>
              <a:t>### 场景 5：增加一个市场、一个字段，为什么要改这么多地方？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你原来只做一种数据，某些假设写得很自然：代码就是唯一身份，金额只有一种币种，日期就是服务器今天。扩展到新市场或新来源时，才发现这些假设散落在查询、计算和页面里。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合理的冗余，应该针对会变化的地方保留边界。先保证现有对象的身份稳定，给来源、币种、日期和版本一个明确位置，再按真实需求扩展。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将来可能变化的地方 | 起步保留的东西 | 真正需要时再增加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外部代码或来源 | 内部对象 ID、来源映射 | 新市场、新供应商的适配 |</a:t>
            </a:r>
          </a:p>
          <a:p xmlns:a="http://schemas.openxmlformats.org/drawingml/2006/main">
            <a:r>
              <a:t>| 字段与格式 | 稳定正式列、原始证据、扩展区 | 成熟字段的迁移、索引 |</a:t>
            </a:r>
          </a:p>
          <a:p xmlns:a="http://schemas.openxmlformats.org/drawingml/2006/main">
            <a:r>
              <a:t>| 时间与规则 | 业务日期、事件时刻、采集时刻分开，保存必要版本 | 历史回放与版本化产物 |</a:t>
            </a:r>
          </a:p>
          <a:p xmlns:a="http://schemas.openxmlformats.org/drawingml/2006/main">
            <a:r>
              <a:t>| 业务入口 | 可由 API 和任务复用的服务函数 | 新功能、新运行进程 |</a:t>
            </a:r>
          </a:p>
          <a:p xmlns:a="http://schemas.openxmlformats.org/drawingml/2006/main">
            <a:r>
              <a:t>| 用户与权限 | 所有权和服务端查询边界 | 新角色或组织范围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服务函数如果只接受 HTTP 请求对象，后台任务很难直接复用；一个表如果只保存页面最终 JSON，新字段和重算也难处理。把这些边界先写好，能为后来的功能留下余地。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起步不必准备所有未来表、预留 `field1/field2`，或立即搭建完整调度平台。先问新功能能否由当前服务、数据表、共享 UI 和任务入口承载。确实承载不了，再说明新增范围和旧入口退出方式。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**一次扩展前，我们会让 AI 回答：**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我准备增加【功能】。</a:t>
            </a:r>
          </a:p>
          <a:p xmlns:a="http://schemas.openxmlformats.org/drawingml/2006/main">
            <a:r>
              <a:t>先核对相关代码、数据、接口、任务和当前架构。</a:t>
            </a:r>
          </a:p>
          <a:p xmlns:a="http://schemas.openxmlformats.org/drawingml/2006/main">
            <a:r>
              <a:t>已有能力是什么？哪里可以复用？真正缺口是什么？</a:t>
            </a:r>
          </a:p>
          <a:p xmlns:a="http://schemas.openxmlformats.org/drawingml/2006/main">
            <a:r>
              <a:t>说明来源、数据库、服务、接口、页面/任务的影响链路。</a:t>
            </a:r>
          </a:p>
          <a:p xmlns:a="http://schemas.openxmlformats.org/drawingml/2006/main">
            <a:r>
              <a:t>核对身份、单位、币种、日期、权限、缓存和旧数据。</a:t>
            </a:r>
          </a:p>
          <a:p xmlns:a="http://schemas.openxmlformats.org/drawingml/2006/main">
            <a:r>
              <a:t>列出现在要改的内容、需要保留的边界和以后触发条件。</a:t>
            </a:r>
          </a:p>
          <a:p xmlns:a="http://schemas.openxmlformats.org/drawingml/2006/main">
            <a:r>
              <a:t>结构替换给出新链路验证、存量对账、兼容和旧入口退出步骤。</a:t>
            </a:r>
          </a:p>
          <a:p xmlns:a="http://schemas.openxmlformats.org/drawingml/2006/main">
            <a:r>
              <a:t>验收要同时覆盖新功能和原功能，并更新原权威章节。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**怎么知道预留够用了：** 增加一个真实来源或字段时，核心身份保持稳定，来源转换回到适配入口，旧接口与历史数据仍能解释。出现大量跨层复制，就继续找公共边界。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D:\存在小站\docs\技术架构.md</a:t>
            </a:r>
          </a:p>
          <a:p xmlns:a="http://schemas.openxmlformats.org/drawingml/2006/main">
            <a:r>
              <a:t>D:\存在小站\AGENTS.md</a:t>
            </a:r>
          </a:p>
          <a:p xmlns:a="http://schemas.openxmlformats.org/drawingml/2006/main">
            <a:r>
              <a:t>https://www.cmu.edu/teaching/principles/learning.html</a:t>
            </a:r>
          </a:p>
          <a:p xmlns:a="http://schemas.openxmlformats.org/drawingml/2006/main">
            <a:r>
              <a:t>https://www.vanderbilt.edu/cdr/module1/branching-out-with-interactive-scenarios/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 INC-0034，尚未揭示两个价格口径。给三个合理调查方向，让听众说明需要哪些证据。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D:\存在小站\docs\incidents\INC-0034-休市持仓估值与归因价格口径错位.md</a:t>
            </a:r>
          </a:p>
          <a:p xmlns:a="http://schemas.openxmlformats.org/drawingml/2006/main">
            <a:r>
              <a:t>D:\存在小站\docs\技术架构.md</a:t>
            </a:r>
          </a:p>
          <a:p xmlns:a="http://schemas.openxmlformats.org/drawingml/2006/main">
            <a:r>
              <a:t>https://www.cmu.edu/teaching/principles/learning.html</a:t>
            </a:r>
          </a:p>
          <a:p xmlns:a="http://schemas.openxmlformats.org/drawingml/2006/main">
            <a:r>
              <a:t>https://www.vanderbilt.edu/cdr/module1/branching-out-with-interactive-scenarios/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总资产当前持仓价，休市归因最近落库收盘价。原夹具两者相同。修复有证据的校准，未知残差保留，不改价格或历史快照。历史2/2有仓闭合，空账户不足继续保留，非本轮重新验收。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对应正文、完整示范与可复制模板：</a:t>
            </a:r>
          </a:p>
          <a:p xmlns:a="http://schemas.openxmlformats.org/drawingml/2006/main">
            <a:r>
              <a:t>### 场景 6：刚修好 A，B 又坏了，怎么摆脱跷跷板？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一次修复常有很明确的目标：页面快一点、手机窄一点、任务稳一点。目标太单一时，AI 可能通过保留旧数据、删字段或少处理对象来达到它。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存在小站还遇到过一种更隐蔽的错位：总资产采用当前持仓价，休市市场的收益归因采用最近落库收盘价。收益归因用来解释资产变化由什么组成；两边各有口径，组合结果却出现差额。原测试里两种价格相同，也没暴露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这个案例的修复在统一归因服务中解释有证据的休市价格校准，并覆盖价格不同的情况，保留未知残差，没有用一个兜底数吞掉所有差额。[真实案例：INC-0034](incidents/INC-0034-休市持仓估值与归因价格口径错位.md)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避免跷跷板，可以在动手前把两个栏目并排写出来：**本次要改善什么，哪些条件必须同时保持。**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本次改善 | 仍要同时成立 | 可以采用的做法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页面更快 | 数据日期、来源和权限正确 | 读库/缓存，展示更新时间，受控刷新 |</a:t>
            </a:r>
          </a:p>
          <a:p xmlns:a="http://schemas.openxmlformats.org/drawingml/2006/main">
            <a:r>
              <a:t>| 任务更稳 | 目标最终全覆盖，部分状态准确 | 保存进度，续跑，按产出质量判断完成 |</a:t>
            </a:r>
          </a:p>
          <a:p xmlns:a="http://schemas.openxmlformats.org/drawingml/2006/main">
            <a:r>
              <a:t>| 手机更好用 | 字段、计算和桌面操作完整 | 共享重排，局部横滑，同类回归 |</a:t>
            </a:r>
          </a:p>
          <a:p xmlns:a="http://schemas.openxmlformats.org/drawingml/2006/main">
            <a:r>
              <a:t>| 少读资料、少用 token | 必要约束和剩余事项可找到 | 索引路由，当前权威，精简交接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这两个栏目放在同一份任务记录和最终验收里。真正有冲突时，说明取舍、降级和恢复条件；检查结果也要保留原本正确的业务条件。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你可以复制一张短任务卡：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目标与复现：【】；基线与环境：【】；授权范围：【】。</a:t>
            </a:r>
          </a:p>
          <a:p xmlns:a="http://schemas.openxmlformats.org/drawingml/2006/main">
            <a:r>
              <a:t>本次改善：【】；必须同时保持：【】。</a:t>
            </a:r>
          </a:p>
          <a:p xmlns:a="http://schemas.openxmlformats.org/drawingml/2006/main">
            <a:r>
              <a:t>已有能力/复用入口/缺口：【】；完整影响链路：【】。</a:t>
            </a:r>
          </a:p>
          <a:p xmlns:a="http://schemas.openxmlformats.org/drawingml/2006/main">
            <a:r>
              <a:t>已确认、假设与待核验：【】；同类范围：【】。</a:t>
            </a:r>
          </a:p>
          <a:p xmlns:a="http://schemas.openxmlformats.org/drawingml/2006/main">
            <a:r>
              <a:t>正常、失败、边界和旧反例：【】。</a:t>
            </a:r>
          </a:p>
          <a:p xmlns:a="http://schemas.openxmlformats.org/drawingml/2006/main">
            <a:r>
              <a:t>代码、旧数据、缓存、运行恢复分别怎样验收：【】。</a:t>
            </a:r>
          </a:p>
          <a:p xmlns:a="http://schemas.openxmlformats.org/drawingml/2006/main">
            <a:r>
              <a:t>实际命令、版本、结果、未验证与剩余事项：【】。</a:t>
            </a:r>
          </a:p>
          <a:p xmlns:a="http://schemas.openxmlformats.org/drawingml/2006/main">
            <a:r>
              <a:t>知识更新原位置：【】；下一步：【】。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**试一下：** 对你最近一个优化，补写“必须同时保持”。再设计一个会破坏它的反例。如果只检查新目标，验收还不完整。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D:\存在小站\docs\incidents\INC-0034-休市持仓估值与归因价格口径错位.md</a:t>
            </a:r>
          </a:p>
          <a:p xmlns:a="http://schemas.openxmlformats.org/drawingml/2006/main">
            <a:r>
              <a:t>D:\存在小站\docs\技术架构.md</a:t>
            </a:r>
          </a:p>
          <a:p xmlns:a="http://schemas.openxmlformats.org/drawingml/2006/main">
            <a:r>
              <a:t>https://www.cmu.edu/teaching/principles/learning.html</a:t>
            </a:r>
          </a:p>
          <a:p xmlns:a="http://schemas.openxmlformats.org/drawingml/2006/main">
            <a:r>
              <a:t>https://www.vanderbilt.edu/cdr/module1/branching-out-with-interactive-scenarios/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把共同条件放入同一个任务和最终验收。真正冲突说明取舍、降级与恢复边界。此处跨技术与 AI，所有方案服务同一功能。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对应正文、完整示范与可复制模板：</a:t>
            </a:r>
          </a:p>
          <a:p xmlns:a="http://schemas.openxmlformats.org/drawingml/2006/main">
            <a:r>
              <a:t>### 场景 6：刚修好 A，B 又坏了，怎么摆脱跷跷板？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一次修复常有很明确的目标：页面快一点、手机窄一点、任务稳一点。目标太单一时，AI 可能通过保留旧数据、删字段或少处理对象来达到它。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存在小站还遇到过一种更隐蔽的错位：总资产采用当前持仓价，休市市场的收益归因采用最近落库收盘价。收益归因用来解释资产变化由什么组成；两边各有口径，组合结果却出现差额。原测试里两种价格相同，也没暴露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这个案例的修复在统一归因服务中解释有证据的休市价格校准，并覆盖价格不同的情况，保留未知残差，没有用一个兜底数吞掉所有差额。[真实案例：INC-0034](incidents/INC-0034-休市持仓估值与归因价格口径错位.md)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避免跷跷板，可以在动手前把两个栏目并排写出来：**本次要改善什么，哪些条件必须同时保持。**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本次改善 | 仍要同时成立 | 可以采用的做法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页面更快 | 数据日期、来源和权限正确 | 读库/缓存，展示更新时间，受控刷新 |</a:t>
            </a:r>
          </a:p>
          <a:p xmlns:a="http://schemas.openxmlformats.org/drawingml/2006/main">
            <a:r>
              <a:t>| 任务更稳 | 目标最终全覆盖，部分状态准确 | 保存进度，续跑，按产出质量判断完成 |</a:t>
            </a:r>
          </a:p>
          <a:p xmlns:a="http://schemas.openxmlformats.org/drawingml/2006/main">
            <a:r>
              <a:t>| 手机更好用 | 字段、计算和桌面操作完整 | 共享重排，局部横滑，同类回归 |</a:t>
            </a:r>
          </a:p>
          <a:p xmlns:a="http://schemas.openxmlformats.org/drawingml/2006/main">
            <a:r>
              <a:t>| 少读资料、少用 token | 必要约束和剩余事项可找到 | 索引路由，当前权威，精简交接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这两个栏目放在同一份任务记录和最终验收里。真正有冲突时，说明取舍、降级和恢复条件；检查结果也要保留原本正确的业务条件。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你可以复制一张短任务卡：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目标与复现：【】；基线与环境：【】；授权范围：【】。</a:t>
            </a:r>
          </a:p>
          <a:p xmlns:a="http://schemas.openxmlformats.org/drawingml/2006/main">
            <a:r>
              <a:t>本次改善：【】；必须同时保持：【】。</a:t>
            </a:r>
          </a:p>
          <a:p xmlns:a="http://schemas.openxmlformats.org/drawingml/2006/main">
            <a:r>
              <a:t>已有能力/复用入口/缺口：【】；完整影响链路：【】。</a:t>
            </a:r>
          </a:p>
          <a:p xmlns:a="http://schemas.openxmlformats.org/drawingml/2006/main">
            <a:r>
              <a:t>已确认、假设与待核验：【】；同类范围：【】。</a:t>
            </a:r>
          </a:p>
          <a:p xmlns:a="http://schemas.openxmlformats.org/drawingml/2006/main">
            <a:r>
              <a:t>正常、失败、边界和旧反例：【】。</a:t>
            </a:r>
          </a:p>
          <a:p xmlns:a="http://schemas.openxmlformats.org/drawingml/2006/main">
            <a:r>
              <a:t>代码、旧数据、缓存、运行恢复分别怎样验收：【】。</a:t>
            </a:r>
          </a:p>
          <a:p xmlns:a="http://schemas.openxmlformats.org/drawingml/2006/main">
            <a:r>
              <a:t>实际命令、版本、结果、未验证与剩余事项：【】。</a:t>
            </a:r>
          </a:p>
          <a:p xmlns:a="http://schemas.openxmlformats.org/drawingml/2006/main">
            <a:r>
              <a:t>知识更新原位置：【】；下一步：【】。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**试一下：** 对你最近一个优化，补写“必须同时保持”。再设计一个会破坏它的反例。如果只检查新目标，验收还不完整。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D:\存在小站\docs\incidents\INC-0034-休市持仓估值与归因价格口径错位.md</a:t>
            </a:r>
          </a:p>
          <a:p xmlns:a="http://schemas.openxmlformats.org/drawingml/2006/main">
            <a:r>
              <a:t>D:\存在小站\docs\技术架构.md</a:t>
            </a:r>
          </a:p>
          <a:p xmlns:a="http://schemas.openxmlformats.org/drawingml/2006/main">
            <a:r>
              <a:t>https://www.cmu.edu/teaching/principles/learning.html</a:t>
            </a:r>
          </a:p>
          <a:p xmlns:a="http://schemas.openxmlformats.org/drawingml/2006/main">
            <a:r>
              <a:t>https://www.vanderbilt.edu/cdr/module1/branching-out-with-interactive-scenarios/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第四幕，避免把反复犯错都归咎于模型。先调查四个方向，再转到日期真实案例和保护机制。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D:\存在小站\docs\incidents\INC-0032-全项目日期时间边界审计与整改方案.md</a:t>
            </a:r>
          </a:p>
          <a:p xmlns:a="http://schemas.openxmlformats.org/drawingml/2006/main">
            <a:r>
              <a:t>D:\存在小站\AGENTS.md</a:t>
            </a:r>
          </a:p>
          <a:p xmlns:a="http://schemas.openxmlformats.org/drawingml/2006/main">
            <a:r>
              <a:t>D:\存在小站\governance\rule-traceability.json</a:t>
            </a:r>
          </a:p>
          <a:p xmlns:a="http://schemas.openxmlformats.org/drawingml/2006/main">
            <a:r>
              <a:t>https://www.cmu.edu/teaching/principles/learning.html</a:t>
            </a:r>
          </a:p>
          <a:p xmlns:a="http://schemas.openxmlformats.org/drawingml/2006/main">
            <a:r>
              <a:t>https://www.vanderbilt.edu/cdr/module1/branching-out-with-interactive-scenarios/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 INC-0032。日期键转换导致前一天，源汇率存在，上海配置存在。业务日期与时刻语义不同，不是所有 toISOString 都错误。通过特定反例展示通用约束。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对应正文、完整示范与可复制模板：</a:t>
            </a:r>
          </a:p>
          <a:p xmlns:a="http://schemas.openxmlformats.org/drawingml/2006/main">
            <a:r>
              <a:t>### 场景 7：同一问题反复出现，再强调一次有用吗？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你已经说过不要把业务日期按 UTC 截断，下一次 AI 又写了类似逻辑。提醒可以帮助当前会话，长期效果还取决于约束在哪里、实现是否共享、坏例子是否会被拦住。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项目的日期事故就说明了这一点：汇率行已经在库里，数据库与服务器也都使用上海时区；代码转换却把日期键变成了前一天。重复运行任务不会修复这种逻辑错误。[真实案例：INC-0032](incidents/INC-0032-全项目日期时间边界审计与整改方案.m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再次遇到同一个问题，先检查几个方向：这条规则是否被读到？原文有没有相反的旧结论？公共实现有没有绕过入口？测试和实际进程是否仍沿用旧假设？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我们后来把防复发连成一条可核查的链：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需要连上的一段 | 你应该能指出什么 |</a:t>
            </a:r>
          </a:p>
          <a:p xmlns:a="http://schemas.openxmlformats.org/drawingml/2006/main">
            <a:r>
              <a:t>|---|---|</a:t>
            </a:r>
          </a:p>
          <a:p xmlns:a="http://schemas.openxmlformats.org/drawingml/2006/main">
            <a:r>
              <a:t>| 规则位置 | 当前权威段落，适用范围与真实条件 |</a:t>
            </a:r>
          </a:p>
          <a:p xmlns:a="http://schemas.openxmlformats.org/drawingml/2006/main">
            <a:r>
              <a:t>| 公共实现 | 文件与函数，或数据库约束 |</a:t>
            </a:r>
          </a:p>
          <a:p xmlns:a="http://schemas.openxmlformats.org/drawingml/2006/main">
            <a:r>
              <a:t>| 有效反例 | 旧错误重新出现时，会失败的测试/检查 |</a:t>
            </a:r>
          </a:p>
          <a:p xmlns:a="http://schemas.openxmlformats.org/drawingml/2006/main">
            <a:r>
              <a:t>| 执行入口 | 本地交付或 CI 确实会运行它 |</a:t>
            </a:r>
          </a:p>
          <a:p xmlns:a="http://schemas.openxmlformats.org/drawingml/2006/main">
            <a:r>
              <a:t>| 最后证据 | 哪个版本、环境下，坏例失败、正确例通过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这也就是门禁的用途：在一个具体阶段，检查某个必要条件，失败时停止相应交付。只有文字规则时，先写“待实现”；脚本没有接入时写“待接入”。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项目同类问题第三次出现后要求升级通用不变量检查。迁移到新项目时，关键是用公共条件覆盖一类错误。例如业务日期的不同输入类型、目标日传递和历史补跑需要共同保护，不能只为一只证券增加特例。[研发规则](../AGENTS.md)、[规则实现追踪](../governance/rule-traceability.js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【问题】再次出现。</a:t>
            </a:r>
          </a:p>
          <a:p xmlns:a="http://schemas.openxmlformats.org/drawingml/2006/main">
            <a:r>
              <a:t>请核对规则接续、旧结论、公共实现、测试样本、存量和运行版本。</a:t>
            </a:r>
          </a:p>
          <a:p xmlns:a="http://schemas.openxmlformats.org/drawingml/2006/main">
            <a:r>
              <a:t>找到公共根因与保护失效原因，核查同类范围。</a:t>
            </a:r>
          </a:p>
          <a:p xmlns:a="http://schemas.openxmlformats.org/drawingml/2006/main">
            <a:r>
              <a:t>把关键条件绑定权威位置、实现符号、有效反例和执行入口。</a:t>
            </a:r>
          </a:p>
          <a:p xmlns:a="http://schemas.openxmlformats.org/drawingml/2006/main">
            <a:r>
              <a:t>用违反规则的最小例子证明检查会失败，再证明修正后通过。</a:t>
            </a:r>
          </a:p>
          <a:p xmlns:a="http://schemas.openxmlformats.org/drawingml/2006/main">
            <a:r>
              <a:t>区分仅文字、已实现待接入、已接入待验证和已验证状态。</a:t>
            </a:r>
          </a:p>
          <a:p xmlns:a="http://schemas.openxmlformats.org/drawingml/2006/main">
            <a:r>
              <a:t>保留原业务断言，记录实际版本、命令和未完成项。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**带走一个动作：** 找一条你经常提醒 AI 的规则，为它补上公共实现和一个真实反例。检查保护实际业务条件，小的可逆修改不必堆砌镜像测试。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D:\存在小站\docs\incidents\INC-0032-全项目日期时间边界审计与整改方案.md</a:t>
            </a:r>
          </a:p>
          <a:p xmlns:a="http://schemas.openxmlformats.org/drawingml/2006/main">
            <a:r>
              <a:t>D:\存在小站\AGENTS.md</a:t>
            </a:r>
          </a:p>
          <a:p xmlns:a="http://schemas.openxmlformats.org/drawingml/2006/main">
            <a:r>
              <a:t>D:\存在小站\governance\rule-traceability.json</a:t>
            </a:r>
          </a:p>
          <a:p xmlns:a="http://schemas.openxmlformats.org/drawingml/2006/main">
            <a:r>
              <a:t>https://www.cmu.edu/teaching/principles/learning.html</a:t>
            </a:r>
          </a:p>
          <a:p xmlns:a="http://schemas.openxmlformats.org/drawingml/2006/main">
            <a:r>
              <a:t>https://www.vanderbilt.edu/cdr/module1/branching-out-with-interactive-scenarios/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本项目同类第三次出现升级通用不变量。讲清门禁失败对应阻断阶段。反例真的失败、修复通过才有证据。测试指向公共条件，不用特例堆砌。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对应正文、完整示范与可复制模板：</a:t>
            </a:r>
          </a:p>
          <a:p xmlns:a="http://schemas.openxmlformats.org/drawingml/2006/main">
            <a:r>
              <a:t>### 场景 7：同一问题反复出现，再强调一次有用吗？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你已经说过不要把业务日期按 UTC 截断，下一次 AI 又写了类似逻辑。提醒可以帮助当前会话，长期效果还取决于约束在哪里、实现是否共享、坏例子是否会被拦住。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项目的日期事故就说明了这一点：汇率行已经在库里，数据库与服务器也都使用上海时区；代码转换却把日期键变成了前一天。重复运行任务不会修复这种逻辑错误。[真实案例：INC-0032](incidents/INC-0032-全项目日期时间边界审计与整改方案.m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再次遇到同一个问题，先检查几个方向：这条规则是否被读到？原文有没有相反的旧结论？公共实现有没有绕过入口？测试和实际进程是否仍沿用旧假设？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我们后来把防复发连成一条可核查的链：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需要连上的一段 | 你应该能指出什么 |</a:t>
            </a:r>
          </a:p>
          <a:p xmlns:a="http://schemas.openxmlformats.org/drawingml/2006/main">
            <a:r>
              <a:t>|---|---|</a:t>
            </a:r>
          </a:p>
          <a:p xmlns:a="http://schemas.openxmlformats.org/drawingml/2006/main">
            <a:r>
              <a:t>| 规则位置 | 当前权威段落，适用范围与真实条件 |</a:t>
            </a:r>
          </a:p>
          <a:p xmlns:a="http://schemas.openxmlformats.org/drawingml/2006/main">
            <a:r>
              <a:t>| 公共实现 | 文件与函数，或数据库约束 |</a:t>
            </a:r>
          </a:p>
          <a:p xmlns:a="http://schemas.openxmlformats.org/drawingml/2006/main">
            <a:r>
              <a:t>| 有效反例 | 旧错误重新出现时，会失败的测试/检查 |</a:t>
            </a:r>
          </a:p>
          <a:p xmlns:a="http://schemas.openxmlformats.org/drawingml/2006/main">
            <a:r>
              <a:t>| 执行入口 | 本地交付或 CI 确实会运行它 |</a:t>
            </a:r>
          </a:p>
          <a:p xmlns:a="http://schemas.openxmlformats.org/drawingml/2006/main">
            <a:r>
              <a:t>| 最后证据 | 哪个版本、环境下，坏例失败、正确例通过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这也就是门禁的用途：在一个具体阶段，检查某个必要条件，失败时停止相应交付。只有文字规则时，先写“待实现”；脚本没有接入时写“待接入”。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项目同类问题第三次出现后要求升级通用不变量检查。迁移到新项目时，关键是用公共条件覆盖一类错误。例如业务日期的不同输入类型、目标日传递和历史补跑需要共同保护，不能只为一只证券增加特例。[研发规则](../AGENTS.md)、[规则实现追踪](../governance/rule-traceability.js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【问题】再次出现。</a:t>
            </a:r>
          </a:p>
          <a:p xmlns:a="http://schemas.openxmlformats.org/drawingml/2006/main">
            <a:r>
              <a:t>请核对规则接续、旧结论、公共实现、测试样本、存量和运行版本。</a:t>
            </a:r>
          </a:p>
          <a:p xmlns:a="http://schemas.openxmlformats.org/drawingml/2006/main">
            <a:r>
              <a:t>找到公共根因与保护失效原因，核查同类范围。</a:t>
            </a:r>
          </a:p>
          <a:p xmlns:a="http://schemas.openxmlformats.org/drawingml/2006/main">
            <a:r>
              <a:t>把关键条件绑定权威位置、实现符号、有效反例和执行入口。</a:t>
            </a:r>
          </a:p>
          <a:p xmlns:a="http://schemas.openxmlformats.org/drawingml/2006/main">
            <a:r>
              <a:t>用违反规则的最小例子证明检查会失败，再证明修正后通过。</a:t>
            </a:r>
          </a:p>
          <a:p xmlns:a="http://schemas.openxmlformats.org/drawingml/2006/main">
            <a:r>
              <a:t>区分仅文字、已实现待接入、已接入待验证和已验证状态。</a:t>
            </a:r>
          </a:p>
          <a:p xmlns:a="http://schemas.openxmlformats.org/drawingml/2006/main">
            <a:r>
              <a:t>保留原业务断言，记录实际版本、命令和未完成项。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**带走一个动作：** 找一条你经常提醒 AI 的规则，为它补上公共实现和一个真实反例。检查保护实际业务条件，小的可逆修改不必堆砌镜像测试。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D:\存在小站\docs\incidents\INC-0032-全项目日期时间边界审计与整改方案.md</a:t>
            </a:r>
          </a:p>
          <a:p xmlns:a="http://schemas.openxmlformats.org/drawingml/2006/main">
            <a:r>
              <a:t>D:\存在小站\AGENTS.md</a:t>
            </a:r>
          </a:p>
          <a:p xmlns:a="http://schemas.openxmlformats.org/drawingml/2006/main">
            <a:r>
              <a:t>D:\存在小站\governance\rule-traceability.json</a:t>
            </a:r>
          </a:p>
          <a:p xmlns:a="http://schemas.openxmlformats.org/drawingml/2006/main">
            <a:r>
              <a:t>https://www.cmu.edu/teaching/principles/learning.html</a:t>
            </a:r>
          </a:p>
          <a:p xmlns:a="http://schemas.openxmlformats.org/drawingml/2006/main">
            <a:r>
              <a:t>https://www.vanderbilt.edu/cdr/module1/branching-out-with-interactive-scenarios/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问题页先邀请学员选接续方式，所有选项都有看似合理理由。下一页讲权威归属与索引。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D:\存在小站\docs\知识索引.md</a:t>
            </a:r>
          </a:p>
          <a:p xmlns:a="http://schemas.openxmlformats.org/drawingml/2006/main">
            <a:r>
              <a:t>D:\存在小站\docs\技术架构.md</a:t>
            </a:r>
          </a:p>
          <a:p xmlns:a="http://schemas.openxmlformats.org/drawingml/2006/main">
            <a:r>
              <a:t>D:\存在小站\governance\knowledge-map.json</a:t>
            </a:r>
          </a:p>
          <a:p xmlns:a="http://schemas.openxmlformats.org/drawingml/2006/main">
            <a:r>
              <a:t>D:\存在小站\scripts\check-knowledge.js</a:t>
            </a:r>
          </a:p>
          <a:p xmlns:a="http://schemas.openxmlformats.org/drawingml/2006/main">
            <a:r>
              <a:t>https://www.cmu.edu/teaching/principles/learning.html</a:t>
            </a:r>
          </a:p>
          <a:p xmlns:a="http://schemas.openxmlformats.org/drawingml/2006/main">
            <a:r>
              <a:t>https://www.vanderbilt.edu/cdr/module1/branching-out-with-interactive-scenarios/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统一知识机制从接续冲突、旧结论和重复读取需求产生。起步三文件，决策/事故/任务有需要再加，事实以仓库为准，平台记忆只指针。知识维护更新原段落，保留有效证据和未闭环。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对应正文、完整示范与可复制模板：</a:t>
            </a:r>
          </a:p>
          <a:p xmlns:a="http://schemas.openxmlformats.org/drawingml/2006/main">
            <a:r>
              <a:t>### 场景 8：换个会话，又要从头讲；全量塞历史，又读得太多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项目开始时，聊天记录很方便。功能和决策增加后，它逐渐难以稳定回答：现在采用哪套结构？这段历史是否已被替代？哪些东西仍然没验证？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你可能尝试让每次会话都读全部历史。上下文变长了，旧方案与新实现仍可能混在一起。同一事实散落在几个位置，AI 还需要反复判断哪份是当前的。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统一知识库的想法，正是从这种接续困难中产生的：**把当前事实放到固定位置，让入口负责导航，历史按需要回查。** 它同时改善记忆、重复读取、token 成本和不同 Agent 的事实一致性。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起步先有三个文件：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文件 | 放什么 | 什么时候用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根目录 `AGENTS.md` | 简短规则、执行配置、完成标准 | 开始任务 |</a:t>
            </a:r>
          </a:p>
          <a:p xmlns:a="http://schemas.openxmlformats.org/drawingml/2006/main">
            <a:r>
              <a:t>| `docs/知识索引.md` | 主题与权威位置、未完成入口 | 按任务选资料 |</a:t>
            </a:r>
          </a:p>
          <a:p xmlns:a="http://schemas.openxmlformats.org/drawingml/2006/main">
            <a:r>
              <a:t>| `docs/技术架构.md` | 当前实际模块、数据和运行边界 | 相关设计与维护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长期取舍再记录决策，重大/重复根因记录事故，跨会话剩余工作记录任务卡。新结论替代旧事实时，回到原段落修正；证据和真实未完成项保留，历史退出默认阅读。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资料与同步开始经常遗漏时，再增加机器路由：任务主题或改动路径匹配 `read`、`update` 和 `checks`。本项目使用 `governance/knowledge-map.json` 和知识检查脚本；新项目先用索引表也能起步。[知识索引](知识索引.md)、[当前路由](../governance/knowledge-map.json)、[知识门禁实现](../scripts/check-knowledge.js)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你可以直接用下面这个根目录规则起步，再填入自己的真实配置：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~~~md</a:t>
            </a:r>
          </a:p>
          <a:p xmlns:a="http://schemas.openxmlformats.org/drawingml/2006/main">
            <a:r>
              <a:t># 项目研发规则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知识入口：docs/知识索引.md；当前架构：docs/技术架构.md。</a:t>
            </a:r>
          </a:p>
          <a:p xmlns:a="http://schemas.openxmlformats.org/drawingml/2006/main">
            <a:r>
              <a:t>路由：【实际路径，或未建立】；业务时区：【】。</a:t>
            </a:r>
          </a:p>
          <a:p xmlns:a="http://schemas.openxmlformats.org/drawingml/2006/main">
            <a:r>
              <a:t>公共服务、数据写入、共享 UI 入口：【】。</a:t>
            </a:r>
          </a:p>
          <a:p xmlns:a="http://schemas.openxmlformats.org/drawingml/2006/main">
            <a:r>
              <a:t>检查命令：【真实命令，或未建立】。</a:t>
            </a:r>
          </a:p>
          <a:p xmlns:a="http://schemas.openxmlformats.org/drawingml/2006/main">
            <a:r>
              <a:t>启动/刷新、版本、健康入口：【】；标准发布文档：【】。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开始核对项目根、Git 基线和未提交改动，保留其他人的文件。</a:t>
            </a:r>
          </a:p>
          <a:p xmlns:a="http://schemas.openxmlformats.org/drawingml/2006/main">
            <a:r>
              <a:t>2. 按索引读取相关权威章节和代码；高风险或根因不明时扩大阅读。</a:t>
            </a:r>
          </a:p>
          <a:p xmlns:a="http://schemas.openxmlformats.org/drawingml/2006/main">
            <a:r>
              <a:t>3. 先确认已有、可复用和缺口，扩展现有公共入口。</a:t>
            </a:r>
          </a:p>
          <a:p xmlns:a="http://schemas.openxmlformats.org/drawingml/2006/main">
            <a:r>
              <a:t>4. 写明本次改善、同时保持的条件、影响链路和完成证据。</a:t>
            </a:r>
          </a:p>
          <a:p xmlns:a="http://schemas.openxmlformats.org/drawingml/2006/main">
            <a:r>
              <a:t>5. Bug 查公共根因及同类范围，分别核验代码、旧数据与运行状态。</a:t>
            </a:r>
          </a:p>
          <a:p xmlns:a="http://schemas.openxmlformats.org/drawingml/2006/main">
            <a:r>
              <a:t>6. 执行适用检查；代码变化后核对实际运行版本、接口和资源。</a:t>
            </a:r>
          </a:p>
          <a:p xmlns:a="http://schemas.openxmlformats.org/drawingml/2006/main">
            <a:r>
              <a:t>7. 按实际变更更新原权威段落，修正替代关系、索引和引用。</a:t>
            </a:r>
          </a:p>
          <a:p xmlns:a="http://schemas.openxmlformats.org/drawingml/2006/main">
            <a:r>
              <a:t>8. 只暂存本任务文件，按既有授权和标准流程发布。</a:t>
            </a:r>
          </a:p>
          <a:p xmlns:a="http://schemas.openxmlformats.org/drawingml/2006/main">
            <a:r>
              <a:t>9. 生产写入限于明确授权的对象、日期和范围。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项目事实以同一 Git 仓库为准，平台记忆只保留接续指针。</a:t>
            </a:r>
          </a:p>
          <a:p xmlns:a="http://schemas.openxmlformats.org/drawingml/2006/main">
            <a:r>
              <a:t>交接记录目标、基线、变更、证据、未知、剩余工作与下一步。</a:t>
            </a:r>
          </a:p>
          <a:p xmlns:a="http://schemas.openxmlformats.org/drawingml/2006/main">
            <a:r>
              <a:t>未实现检查和未实测能力保持相应状态。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减少 token 还可以从任务过程着手：先搜索再读相关段落，交接保留增量而非整段聊天，独立读取可以批量完成，通过的昂贵检查在没有新变化时无需重复运行。若成本主要来自返工，就先核对任务条件和共享实现。必要资料仍要读，节省比例需要测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**怎么知道知识入口有用：** 换一个会话，只给入口与短任务卡，它能找到当前决定、旧反例和剩余事项。它读了什么、漏了什么，比文档总量更能说明问题。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D:\存在小站\docs\知识索引.md</a:t>
            </a:r>
          </a:p>
          <a:p xmlns:a="http://schemas.openxmlformats.org/drawingml/2006/main">
            <a:r>
              <a:t>D:\存在小站\docs\技术架构.md</a:t>
            </a:r>
          </a:p>
          <a:p xmlns:a="http://schemas.openxmlformats.org/drawingml/2006/main">
            <a:r>
              <a:t>D:\存在小站\governance\knowledge-map.json</a:t>
            </a:r>
          </a:p>
          <a:p xmlns:a="http://schemas.openxmlformats.org/drawingml/2006/main">
            <a:r>
              <a:t>D:\存在小站\scripts\check-knowledge.js</a:t>
            </a:r>
          </a:p>
          <a:p xmlns:a="http://schemas.openxmlformats.org/drawingml/2006/main">
            <a:r>
              <a:t>https://www.cmu.edu/teaching/principles/learning.html</a:t>
            </a:r>
          </a:p>
          <a:p xmlns:a="http://schemas.openxmlformats.org/drawingml/2006/main">
            <a:r>
              <a:t>https://www.vanderbilt.edu/cdr/module1/branching-out-with-interactive-scenarios/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以修改表格为例，先规则索引再相关前端章节/共享实现/参考页/旧反例。根因不明、高风险扩大范围。结束按实际改动反查 update。减少 token 是去重复和返工，不省必要证据，不承诺固定比例。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对应正文、完整示范与可复制模板：</a:t>
            </a:r>
          </a:p>
          <a:p xmlns:a="http://schemas.openxmlformats.org/drawingml/2006/main">
            <a:r>
              <a:t>### 场景 8：换个会话，又要从头讲；全量塞历史，又读得太多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项目开始时，聊天记录很方便。功能和决策增加后，它逐渐难以稳定回答：现在采用哪套结构？这段历史是否已被替代？哪些东西仍然没验证？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你可能尝试让每次会话都读全部历史。上下文变长了，旧方案与新实现仍可能混在一起。同一事实散落在几个位置，AI 还需要反复判断哪份是当前的。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统一知识库的想法，正是从这种接续困难中产生的：**把当前事实放到固定位置，让入口负责导航，历史按需要回查。** 它同时改善记忆、重复读取、token 成本和不同 Agent 的事实一致性。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起步先有三个文件：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文件 | 放什么 | 什么时候用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根目录 `AGENTS.md` | 简短规则、执行配置、完成标准 | 开始任务 |</a:t>
            </a:r>
          </a:p>
          <a:p xmlns:a="http://schemas.openxmlformats.org/drawingml/2006/main">
            <a:r>
              <a:t>| `docs/知识索引.md` | 主题与权威位置、未完成入口 | 按任务选资料 |</a:t>
            </a:r>
          </a:p>
          <a:p xmlns:a="http://schemas.openxmlformats.org/drawingml/2006/main">
            <a:r>
              <a:t>| `docs/技术架构.md` | 当前实际模块、数据和运行边界 | 相关设计与维护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长期取舍再记录决策，重大/重复根因记录事故，跨会话剩余工作记录任务卡。新结论替代旧事实时，回到原段落修正；证据和真实未完成项保留，历史退出默认阅读。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资料与同步开始经常遗漏时，再增加机器路由：任务主题或改动路径匹配 `read`、`update` 和 `checks`。本项目使用 `governance/knowledge-map.json` 和知识检查脚本；新项目先用索引表也能起步。[知识索引](知识索引.md)、[当前路由](../governance/knowledge-map.json)、[知识门禁实现](../scripts/check-knowledge.js)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你可以直接用下面这个根目录规则起步，再填入自己的真实配置：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~~~md</a:t>
            </a:r>
          </a:p>
          <a:p xmlns:a="http://schemas.openxmlformats.org/drawingml/2006/main">
            <a:r>
              <a:t># 项目研发规则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知识入口：docs/知识索引.md；当前架构：docs/技术架构.md。</a:t>
            </a:r>
          </a:p>
          <a:p xmlns:a="http://schemas.openxmlformats.org/drawingml/2006/main">
            <a:r>
              <a:t>路由：【实际路径，或未建立】；业务时区：【】。</a:t>
            </a:r>
          </a:p>
          <a:p xmlns:a="http://schemas.openxmlformats.org/drawingml/2006/main">
            <a:r>
              <a:t>公共服务、数据写入、共享 UI 入口：【】。</a:t>
            </a:r>
          </a:p>
          <a:p xmlns:a="http://schemas.openxmlformats.org/drawingml/2006/main">
            <a:r>
              <a:t>检查命令：【真实命令，或未建立】。</a:t>
            </a:r>
          </a:p>
          <a:p xmlns:a="http://schemas.openxmlformats.org/drawingml/2006/main">
            <a:r>
              <a:t>启动/刷新、版本、健康入口：【】；标准发布文档：【】。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开始核对项目根、Git 基线和未提交改动，保留其他人的文件。</a:t>
            </a:r>
          </a:p>
          <a:p xmlns:a="http://schemas.openxmlformats.org/drawingml/2006/main">
            <a:r>
              <a:t>2. 按索引读取相关权威章节和代码；高风险或根因不明时扩大阅读。</a:t>
            </a:r>
          </a:p>
          <a:p xmlns:a="http://schemas.openxmlformats.org/drawingml/2006/main">
            <a:r>
              <a:t>3. 先确认已有、可复用和缺口，扩展现有公共入口。</a:t>
            </a:r>
          </a:p>
          <a:p xmlns:a="http://schemas.openxmlformats.org/drawingml/2006/main">
            <a:r>
              <a:t>4. 写明本次改善、同时保持的条件、影响链路和完成证据。</a:t>
            </a:r>
          </a:p>
          <a:p xmlns:a="http://schemas.openxmlformats.org/drawingml/2006/main">
            <a:r>
              <a:t>5. Bug 查公共根因及同类范围，分别核验代码、旧数据与运行状态。</a:t>
            </a:r>
          </a:p>
          <a:p xmlns:a="http://schemas.openxmlformats.org/drawingml/2006/main">
            <a:r>
              <a:t>6. 执行适用检查；代码变化后核对实际运行版本、接口和资源。</a:t>
            </a:r>
          </a:p>
          <a:p xmlns:a="http://schemas.openxmlformats.org/drawingml/2006/main">
            <a:r>
              <a:t>7. 按实际变更更新原权威段落，修正替代关系、索引和引用。</a:t>
            </a:r>
          </a:p>
          <a:p xmlns:a="http://schemas.openxmlformats.org/drawingml/2006/main">
            <a:r>
              <a:t>8. 只暂存本任务文件，按既有授权和标准流程发布。</a:t>
            </a:r>
          </a:p>
          <a:p xmlns:a="http://schemas.openxmlformats.org/drawingml/2006/main">
            <a:r>
              <a:t>9. 生产写入限于明确授权的对象、日期和范围。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项目事实以同一 Git 仓库为准，平台记忆只保留接续指针。</a:t>
            </a:r>
          </a:p>
          <a:p xmlns:a="http://schemas.openxmlformats.org/drawingml/2006/main">
            <a:r>
              <a:t>交接记录目标、基线、变更、证据、未知、剩余工作与下一步。</a:t>
            </a:r>
          </a:p>
          <a:p xmlns:a="http://schemas.openxmlformats.org/drawingml/2006/main">
            <a:r>
              <a:t>未实现检查和未实测能力保持相应状态。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减少 token 还可以从任务过程着手：先搜索再读相关段落，交接保留增量而非整段聊天，独立读取可以批量完成，通过的昂贵检查在没有新变化时无需重复运行。若成本主要来自返工，就先核对任务条件和共享实现。必要资料仍要读，节省比例需要测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**怎么知道知识入口有用：** 换一个会话，只给入口与短任务卡，它能找到当前决定、旧反例和剩余事项。它读了什么、漏了什么，比文档总量更能说明问题。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D:\存在小站\docs\知识索引.md</a:t>
            </a:r>
          </a:p>
          <a:p xmlns:a="http://schemas.openxmlformats.org/drawingml/2006/main">
            <a:r>
              <a:t>D:\存在小站\docs\技术架构.md</a:t>
            </a:r>
          </a:p>
          <a:p xmlns:a="http://schemas.openxmlformats.org/drawingml/2006/main">
            <a:r>
              <a:t>D:\存在小站\governance\knowledge-map.json</a:t>
            </a:r>
          </a:p>
          <a:p xmlns:a="http://schemas.openxmlformats.org/drawingml/2006/main">
            <a:r>
              <a:t>D:\存在小站\scripts\check-knowledge.js</a:t>
            </a:r>
          </a:p>
          <a:p xmlns:a="http://schemas.openxmlformats.org/drawingml/2006/main">
            <a:r>
              <a:t>https://www.cmu.edu/teaching/principles/learning.html</a:t>
            </a:r>
          </a:p>
          <a:p xmlns:a="http://schemas.openxmlformats.org/drawingml/2006/main">
            <a:r>
              <a:t>https://www.vanderbilt.edu/cdr/module1/branching-out-with-interactive-scenarios/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常见协作代入场景，非虚构本项目真实事故。前后端各自通过，字段契约与共享环境未对齐。让听众指出需要在分工前约定什么。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D:\存在小站\AGENTS.md</a:t>
            </a:r>
          </a:p>
          <a:p xmlns:a="http://schemas.openxmlformats.org/drawingml/2006/main">
            <a:r>
              <a:t>https://git-scm.com/docs/git-worktree</a:t>
            </a:r>
          </a:p>
          <a:p xmlns:a="http://schemas.openxmlformats.org/drawingml/2006/main">
            <a:r>
              <a:t>https://www.cmu.edu/teaching/principles/learning.html</a:t>
            </a:r>
          </a:p>
          <a:p xmlns:a="http://schemas.openxmlformats.org/drawingml/2006/main">
            <a:r>
              <a:t>https://www.vanderbilt.edu/cdr/module1/branching-out-with-interactive-scenarios/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先确定共同目标基线契约与条件，按独立写入分配。共享样式/迁移/锁文件/权威文档协调，合并之后整体验收。worktree 不隔离数据库、端口或凭据，小任务单 Agent 顺序更合适。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对应正文、完整示范与可复制模板：</a:t>
            </a:r>
          </a:p>
          <a:p xmlns:a="http://schemas.openxmlformats.org/drawingml/2006/main">
            <a:r>
              <a:t>### 场景 9：两个 Agent 各自完成了，合起来为什么跑不通？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你想更快，于是一个 Agent 写前端，一个写后端。假如两者分别理解字段、修改共享文件，或者都写同一个测试库，各自通过也可能组合失败。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这是常见协作场景，用来说明分工前需要确定的内容。项目文件隔离、数据库隔离、共同事实和最终集成承担不同职责。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适合并行的是输入输出已明确、写入范围相对独立的工作。先约定 API 字段和完成条件，安排一个人负责契约变化、共享文件和最终集成，所有 Agent 都从同一仓库知识入口接续。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共同目标、Git 基线、接口契约、同时保持的条件：【】。</a:t>
            </a:r>
          </a:p>
          <a:p xmlns:a="http://schemas.openxmlformats.org/drawingml/2006/main">
            <a:r>
              <a:t>集成者：【】；共享样式/迁移/锁文件/权威文档负责人：【】。</a:t>
            </a:r>
          </a:p>
          <a:p xmlns:a="http://schemas.openxmlformats.org/drawingml/2006/main">
            <a:r>
              <a:t>Agent A：目标【】；可写【】；依赖【】；检查【】。</a:t>
            </a:r>
          </a:p>
          <a:p xmlns:a="http://schemas.openxmlformats.org/drawingml/2006/main">
            <a:r>
              <a:t>Agent B：目标【】；可写【】；依赖【】；检查【】。</a:t>
            </a:r>
          </a:p>
          <a:p xmlns:a="http://schemas.openxmlformats.org/drawingml/2006/main">
            <a:r>
              <a:t>契约变化由谁协调：【】；测试库、端口和外部副作用边界：【】。</a:t>
            </a:r>
          </a:p>
          <a:p xmlns:a="http://schemas.openxmlformats.org/drawingml/2006/main">
            <a:r>
              <a:t>交接给出变更、确认结论、证据、未知、剩余和下一步。</a:t>
            </a:r>
          </a:p>
          <a:p xmlns:a="http://schemas.openxmlformats.org/drawingml/2006/main">
            <a:r>
              <a:t>合并后核对完整链路、同类范围并运行最终共同验收。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 worktree 能隔离分支文件，数据库、端口、凭据和外部请求仍需单独安排。共用凭据的请求继续走统一保护入口。[Git worktree 文档](https://git-scm.com/docs/git-worktree)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小任务可以由一个 Agent 顺序完成。并行需要额外读取、协调和集成成本，是否更省时间或 token，应看最终交付而非各自“完成”的数量。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**试一下：** 在分派前，写出两名 Agent 会同时碰到的文件和运行资源。如果大部分工作共用同一个入口，先整理契约，再决定是否并行。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D:\存在小站\AGENTS.md</a:t>
            </a:r>
          </a:p>
          <a:p xmlns:a="http://schemas.openxmlformats.org/drawingml/2006/main">
            <a:r>
              <a:t>https://git-scm.com/docs/git-worktree</a:t>
            </a:r>
          </a:p>
          <a:p xmlns:a="http://schemas.openxmlformats.org/drawingml/2006/main">
            <a:r>
              <a:t>https://www.cmu.edu/teaching/principles/learning.html</a:t>
            </a:r>
          </a:p>
          <a:p xmlns:a="http://schemas.openxmlformats.org/drawingml/2006/main">
            <a:r>
              <a:t>https://www.vanderbilt.edu/cdr/module1/branching-out-with-interactive-scenarios/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第五幕，以实际运行未同步的典型可能性发问，不指称本轮生产故障。请听众选怎样证明完成，下一页给完整验收。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D:\存在小站\docs\生产部署流程.md</a:t>
            </a:r>
          </a:p>
          <a:p xmlns:a="http://schemas.openxmlformats.org/drawingml/2006/main">
            <a:r>
              <a:t>D:\存在小站\deploy\本地验证交接文档.md</a:t>
            </a:r>
          </a:p>
          <a:p xmlns:a="http://schemas.openxmlformats.org/drawingml/2006/main">
            <a:r>
              <a:t>D:\存在小站\server\test\run-all.js</a:t>
            </a:r>
          </a:p>
          <a:p xmlns:a="http://schemas.openxmlformats.org/drawingml/2006/main">
            <a:r>
              <a:t>D:\存在小站\.github\workflows\ci.yml</a:t>
            </a:r>
          </a:p>
          <a:p xmlns:a="http://schemas.openxmlformats.org/drawingml/2006/main">
            <a:r>
              <a:t>https://www.postgresql.org/docs/current/backup-dump.html</a:t>
            </a:r>
          </a:p>
          <a:p xmlns:a="http://schemas.openxmlformats.org/drawingml/2006/main">
            <a:r>
              <a:t>https://www.cmu.edu/teaching/principles/learning.html</a:t>
            </a:r>
          </a:p>
          <a:p xmlns:a="http://schemas.openxmlformats.org/drawingml/2006/main">
            <a:r>
              <a:t>https://www.vanderbilt.edu/cdr/module1/branching-out-with-interactive-scenarios/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本地代码变更刷新正确进程，核对 health、接口、资源，再核对权限/任务/数据质量。同类与剩余报告。文档演示变更不启动服务。本项目 npm.cmd 命令存在，但新项目填真实入口。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对应正文、完整示范与可复制模板：</a:t>
            </a:r>
          </a:p>
          <a:p xmlns:a="http://schemas.openxmlformats.org/drawingml/2006/main">
            <a:r>
              <a:t>### 场景 10：文件已经改了，为什么用户还看到旧问题？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到这里，你可能拿到了测试通过的结果。但实际服务还在运行旧代码，页面引用旧资源，Worker 没加载新定义，或者数据库仍有旧事实。用户感受的是这套组合。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我们后来把“完成”拆成可观察的结果：改动经过检查，正确进程加载新代码，相关接口与资源匹配版本，业务字段、任务产出和权限符合预期。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健康接口是入口之一。它能说明服务可访问和版本信息，相关页面字段、数据质量、后台产出与同类范围还需要各自核查。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交付走到哪一步 | 怎样确认可以继续 | 不满足时怎么办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最终检查 | 代码、版本记录、适用检查一致 | 修复失败，记录未验证与跳过 |</a:t>
            </a:r>
          </a:p>
          <a:p xmlns:a="http://schemas.openxmlformats.org/drawingml/2006/main">
            <a:r>
              <a:t>| 本地运行 | 实际健康版本、目标接口和资源正确 | 刷新正确进程后再验 |</a:t>
            </a:r>
          </a:p>
          <a:p xmlns:a="http://schemas.openxmlformats.org/drawingml/2006/main">
            <a:r>
              <a:t>| Git 范围 | 精确暂存，目标提交可追溯 | 排除无关文件，核对暂存差异 |</a:t>
            </a:r>
          </a:p>
          <a:p xmlns:a="http://schemas.openxmlformats.org/drawingml/2006/main">
            <a:r>
              <a:t>| 标准部署 | 按受控入口处理配置、迁移与服务 | 使用既定恢复步骤 |</a:t>
            </a:r>
          </a:p>
          <a:p xmlns:a="http://schemas.openxmlformats.org/drawingml/2006/main">
            <a:r>
              <a:t>| 部署验收 | 提交、服务、字段、任务和质量有证据 | 必需项失败则发布未完成 |</a:t>
            </a:r>
          </a:p>
          <a:p xmlns:a="http://schemas.openxmlformats.org/drawingml/2006/main">
            <a:r>
              <a:t>| 恢复验证 | 隔离恢复、对账和核心流程可运行 | 找出缺项，再补恢复能力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本项目代码、依赖、数据库、配置或运行行为变化要执行 `npm.cmd run test:all`，交付前执行 `npm.cmd run check:knowledge`。Windows 使用 `npm.cmd`。只改文档或演示材料，不因此重启业务服务；代码变化后按实际配置刷新并核对运行。本项目生产发布先同步版本记录，再验证、正式提交推送、标准部署、部署后验收。[发布流程](生产部署流程.md)、[本地交接](../deploy/本地验证交接文档.m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这些命令是本项目现有入口。新项目填写自己已经实现的检查。知识检查验证路由与同步等条件，文字时效仍需核对；自动/DOM 测试、真机兼容、生产恢复分别有证明范围。当前 CI 的外部行情合约检查是非阻断步骤，也不能当作必过门禁。[统一测试](../server/test/run-all.js)、[CI](../.github/workflows/ci.yml)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固定流程可以用一个很短的发布记录承接：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本次变更、版本、提交和环境：【】。</a:t>
            </a:r>
          </a:p>
          <a:p xmlns:a="http://schemas.openxmlformats.org/drawingml/2006/main">
            <a:r>
              <a:t>检查命令与结果，失败/跳过/未验证：【】。</a:t>
            </a:r>
          </a:p>
          <a:p xmlns:a="http://schemas.openxmlformats.org/drawingml/2006/main">
            <a:r>
              <a:t>本地刷新方式，健康/接口/资源证据：【】。</a:t>
            </a:r>
          </a:p>
          <a:p xmlns:a="http://schemas.openxmlformats.org/drawingml/2006/main">
            <a:r>
              <a:t>配置、迁移、任务、旧数据影响：【】。</a:t>
            </a:r>
          </a:p>
          <a:p xmlns:a="http://schemas.openxmlformats.org/drawingml/2006/main">
            <a:r>
              <a:t>生产授权，允许写入的对象/日期/范围：【】。</a:t>
            </a:r>
          </a:p>
          <a:p xmlns:a="http://schemas.openxmlformats.org/drawingml/2006/main">
            <a:r>
              <a:t>标准部署入口与步骤：【】。</a:t>
            </a:r>
          </a:p>
          <a:p xmlns:a="http://schemas.openxmlformats.org/drawingml/2006/main">
            <a:r>
              <a:t>部署后提交、服务、字段、权限、任务/质量证据：【】。</a:t>
            </a:r>
          </a:p>
          <a:p xmlns:a="http://schemas.openxmlformats.org/drawingml/2006/main">
            <a:r>
              <a:t>失败恢复触发、旧版本、数据/配置恢复和负责人：【】。</a:t>
            </a:r>
          </a:p>
          <a:p xmlns:a="http://schemas.openxmlformats.org/drawingml/2006/main">
            <a:r>
              <a:t>同类范围与异常，未完成去向，知识更新原位置：【】。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 暂存先核对 `git status`，精确加入本任务文件，再检查暂存差异。生产数据同步根据本次需要和明确授权执行。密钥、密码、个人主机路径和实际业务备份各有受控位置，分享模板使用占位。[项目范围与发布规则](../AGENTS.md)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重要时，第一版就准备备份并做一次隔离恢复。备份文件生成成功后，还要确认数据库、配置、必要模型/文件以及核心流程能一起恢复。存在小站已经记录本机恢复和对账验收，异地对象存储恢复仍有未验边界。[恢复状态](技术架构.md)、[PostgreSQL 备份恢复](https://www.postgresql.org/docs/current/backup-dump.html)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**带走一个动作：** 为最近一项功能写出运行验收：用户打开哪里、看到什么字段、数据截至何时、权限如何核查。再问一句，如果出问题，怎样恢复？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D:\存在小站\docs\生产部署流程.md</a:t>
            </a:r>
          </a:p>
          <a:p xmlns:a="http://schemas.openxmlformats.org/drawingml/2006/main">
            <a:r>
              <a:t>D:\存在小站\deploy\本地验证交接文档.md</a:t>
            </a:r>
          </a:p>
          <a:p xmlns:a="http://schemas.openxmlformats.org/drawingml/2006/main">
            <a:r>
              <a:t>D:\存在小站\server\test\run-all.js</a:t>
            </a:r>
          </a:p>
          <a:p xmlns:a="http://schemas.openxmlformats.org/drawingml/2006/main">
            <a:r>
              <a:t>D:\存在小站\.github\workflows\ci.yml</a:t>
            </a:r>
          </a:p>
          <a:p xmlns:a="http://schemas.openxmlformats.org/drawingml/2006/main">
            <a:r>
              <a:t>https://www.postgresql.org/docs/current/backup-dump.html</a:t>
            </a:r>
          </a:p>
          <a:p xmlns:a="http://schemas.openxmlformats.org/drawingml/2006/main">
            <a:r>
              <a:t>https://www.cmu.edu/teaching/principles/learning.html</a:t>
            </a:r>
          </a:p>
          <a:p xmlns:a="http://schemas.openxmlformats.org/drawingml/2006/main">
            <a:r>
              <a:t>https://www.vanderbilt.edu/cdr/module1/branching-out-with-interactive-scenarios/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本项目标准发布流程：版本记录、测试、正式提交推送、标准部署、验收。精确暂存只本任务文件。生产数据同步不是固定步骤，需要明确范围授权。恢复失败阻断，相应实施入口与未验部分须标明。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对应正文、完整示范与可复制模板：</a:t>
            </a:r>
          </a:p>
          <a:p xmlns:a="http://schemas.openxmlformats.org/drawingml/2006/main">
            <a:r>
              <a:t>### 场景 10：文件已经改了，为什么用户还看到旧问题？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到这里，你可能拿到了测试通过的结果。但实际服务还在运行旧代码，页面引用旧资源，Worker 没加载新定义，或者数据库仍有旧事实。用户感受的是这套组合。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我们后来把“完成”拆成可观察的结果：改动经过检查，正确进程加载新代码，相关接口与资源匹配版本，业务字段、任务产出和权限符合预期。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健康接口是入口之一。它能说明服务可访问和版本信息，相关页面字段、数据质量、后台产出与同类范围还需要各自核查。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交付走到哪一步 | 怎样确认可以继续 | 不满足时怎么办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最终检查 | 代码、版本记录、适用检查一致 | 修复失败，记录未验证与跳过 |</a:t>
            </a:r>
          </a:p>
          <a:p xmlns:a="http://schemas.openxmlformats.org/drawingml/2006/main">
            <a:r>
              <a:t>| 本地运行 | 实际健康版本、目标接口和资源正确 | 刷新正确进程后再验 |</a:t>
            </a:r>
          </a:p>
          <a:p xmlns:a="http://schemas.openxmlformats.org/drawingml/2006/main">
            <a:r>
              <a:t>| Git 范围 | 精确暂存，目标提交可追溯 | 排除无关文件，核对暂存差异 |</a:t>
            </a:r>
          </a:p>
          <a:p xmlns:a="http://schemas.openxmlformats.org/drawingml/2006/main">
            <a:r>
              <a:t>| 标准部署 | 按受控入口处理配置、迁移与服务 | 使用既定恢复步骤 |</a:t>
            </a:r>
          </a:p>
          <a:p xmlns:a="http://schemas.openxmlformats.org/drawingml/2006/main">
            <a:r>
              <a:t>| 部署验收 | 提交、服务、字段、任务和质量有证据 | 必需项失败则发布未完成 |</a:t>
            </a:r>
          </a:p>
          <a:p xmlns:a="http://schemas.openxmlformats.org/drawingml/2006/main">
            <a:r>
              <a:t>| 恢复验证 | 隔离恢复、对账和核心流程可运行 | 找出缺项，再补恢复能力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本项目代码、依赖、数据库、配置或运行行为变化要执行 `npm.cmd run test:all`，交付前执行 `npm.cmd run check:knowledge`。Windows 使用 `npm.cmd`。只改文档或演示材料，不因此重启业务服务；代码变化后按实际配置刷新并核对运行。本项目生产发布先同步版本记录，再验证、正式提交推送、标准部署、部署后验收。[发布流程](生产部署流程.md)、[本地交接](../deploy/本地验证交接文档.m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这些命令是本项目现有入口。新项目填写自己已经实现的检查。知识检查验证路由与同步等条件，文字时效仍需核对；自动/DOM 测试、真机兼容、生产恢复分别有证明范围。当前 CI 的外部行情合约检查是非阻断步骤，也不能当作必过门禁。[统一测试](../server/test/run-all.js)、[CI](../.github/workflows/ci.yml)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固定流程可以用一个很短的发布记录承接：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本次变更、版本、提交和环境：【】。</a:t>
            </a:r>
          </a:p>
          <a:p xmlns:a="http://schemas.openxmlformats.org/drawingml/2006/main">
            <a:r>
              <a:t>检查命令与结果，失败/跳过/未验证：【】。</a:t>
            </a:r>
          </a:p>
          <a:p xmlns:a="http://schemas.openxmlformats.org/drawingml/2006/main">
            <a:r>
              <a:t>本地刷新方式，健康/接口/资源证据：【】。</a:t>
            </a:r>
          </a:p>
          <a:p xmlns:a="http://schemas.openxmlformats.org/drawingml/2006/main">
            <a:r>
              <a:t>配置、迁移、任务、旧数据影响：【】。</a:t>
            </a:r>
          </a:p>
          <a:p xmlns:a="http://schemas.openxmlformats.org/drawingml/2006/main">
            <a:r>
              <a:t>生产授权，允许写入的对象/日期/范围：【】。</a:t>
            </a:r>
          </a:p>
          <a:p xmlns:a="http://schemas.openxmlformats.org/drawingml/2006/main">
            <a:r>
              <a:t>标准部署入口与步骤：【】。</a:t>
            </a:r>
          </a:p>
          <a:p xmlns:a="http://schemas.openxmlformats.org/drawingml/2006/main">
            <a:r>
              <a:t>部署后提交、服务、字段、权限、任务/质量证据：【】。</a:t>
            </a:r>
          </a:p>
          <a:p xmlns:a="http://schemas.openxmlformats.org/drawingml/2006/main">
            <a:r>
              <a:t>失败恢复触发、旧版本、数据/配置恢复和负责人：【】。</a:t>
            </a:r>
          </a:p>
          <a:p xmlns:a="http://schemas.openxmlformats.org/drawingml/2006/main">
            <a:r>
              <a:t>同类范围与异常，未完成去向，知识更新原位置：【】。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 暂存先核对 `git status`，精确加入本任务文件，再检查暂存差异。生产数据同步根据本次需要和明确授权执行。密钥、密码、个人主机路径和实际业务备份各有受控位置，分享模板使用占位。[项目范围与发布规则](../AGENTS.md)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重要时，第一版就准备备份并做一次隔离恢复。备份文件生成成功后，还要确认数据库、配置、必要模型/文件以及核心流程能一起恢复。存在小站已经记录本机恢复和对账验收，异地对象存储恢复仍有未验边界。[恢复状态](技术架构.md)、[PostgreSQL 备份恢复](https://www.postgresql.org/docs/current/backup-dump.html)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**带走一个动作：** 为最近一项功能写出运行验收：用户打开哪里、看到什么字段、数据截至何时、权限如何核查。再问一句，如果出问题，怎样恢复？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D:\存在小站\docs\生产部署流程.md</a:t>
            </a:r>
          </a:p>
          <a:p xmlns:a="http://schemas.openxmlformats.org/drawingml/2006/main">
            <a:r>
              <a:t>D:\存在小站\deploy\本地验证交接文档.md</a:t>
            </a:r>
          </a:p>
          <a:p xmlns:a="http://schemas.openxmlformats.org/drawingml/2006/main">
            <a:r>
              <a:t>D:\存在小站\server\test\run-all.js</a:t>
            </a:r>
          </a:p>
          <a:p xmlns:a="http://schemas.openxmlformats.org/drawingml/2006/main">
            <a:r>
              <a:t>D:\存在小站\.github\workflows\ci.yml</a:t>
            </a:r>
          </a:p>
          <a:p xmlns:a="http://schemas.openxmlformats.org/drawingml/2006/main">
            <a:r>
              <a:t>https://www.postgresql.org/docs/current/backup-dump.html</a:t>
            </a:r>
          </a:p>
          <a:p xmlns:a="http://schemas.openxmlformats.org/drawingml/2006/main">
            <a:r>
              <a:t>https://www.cmu.edu/teaching/principles/learning.html</a:t>
            </a:r>
          </a:p>
          <a:p xmlns:a="http://schemas.openxmlformats.org/drawingml/2006/main">
            <a:r>
              <a:t>https://www.vanderbilt.edu/cdr/module1/branching-out-with-interactive-scenarios/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先问缺什么证据，再给检查线索。数据库/配置/模型/文件共同恢复，隔离恢复对账核心流程。项目本机恢复有记录，异地对象存储上传下载恢复未验。使用反馈与成本决定下一轮建设，不把模板等同已验证。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对应正文、完整示范与可复制模板：</a:t>
            </a:r>
          </a:p>
          <a:p xmlns:a="http://schemas.openxmlformats.org/drawingml/2006/main">
            <a:r>
              <a:t>### 场景 10：文件已经改了，为什么用户还看到旧问题？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到这里，你可能拿到了测试通过的结果。但实际服务还在运行旧代码，页面引用旧资源，Worker 没加载新定义，或者数据库仍有旧事实。用户感受的是这套组合。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我们后来把“完成”拆成可观察的结果：改动经过检查，正确进程加载新代码，相关接口与资源匹配版本，业务字段、任务产出和权限符合预期。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健康接口是入口之一。它能说明服务可访问和版本信息，相关页面字段、数据质量、后台产出与同类范围还需要各自核查。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交付走到哪一步 | 怎样确认可以继续 | 不满足时怎么办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最终检查 | 代码、版本记录、适用检查一致 | 修复失败，记录未验证与跳过 |</a:t>
            </a:r>
          </a:p>
          <a:p xmlns:a="http://schemas.openxmlformats.org/drawingml/2006/main">
            <a:r>
              <a:t>| 本地运行 | 实际健康版本、目标接口和资源正确 | 刷新正确进程后再验 |</a:t>
            </a:r>
          </a:p>
          <a:p xmlns:a="http://schemas.openxmlformats.org/drawingml/2006/main">
            <a:r>
              <a:t>| Git 范围 | 精确暂存，目标提交可追溯 | 排除无关文件，核对暂存差异 |</a:t>
            </a:r>
          </a:p>
          <a:p xmlns:a="http://schemas.openxmlformats.org/drawingml/2006/main">
            <a:r>
              <a:t>| 标准部署 | 按受控入口处理配置、迁移与服务 | 使用既定恢复步骤 |</a:t>
            </a:r>
          </a:p>
          <a:p xmlns:a="http://schemas.openxmlformats.org/drawingml/2006/main">
            <a:r>
              <a:t>| 部署验收 | 提交、服务、字段、任务和质量有证据 | 必需项失败则发布未完成 |</a:t>
            </a:r>
          </a:p>
          <a:p xmlns:a="http://schemas.openxmlformats.org/drawingml/2006/main">
            <a:r>
              <a:t>| 恢复验证 | 隔离恢复、对账和核心流程可运行 | 找出缺项，再补恢复能力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本项目代码、依赖、数据库、配置或运行行为变化要执行 `npm.cmd run test:all`，交付前执行 `npm.cmd run check:knowledge`。Windows 使用 `npm.cmd`。只改文档或演示材料，不因此重启业务服务；代码变化后按实际配置刷新并核对运行。本项目生产发布先同步版本记录，再验证、正式提交推送、标准部署、部署后验收。[发布流程](生产部署流程.md)、[本地交接](../deploy/本地验证交接文档.m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这些命令是本项目现有入口。新项目填写自己已经实现的检查。知识检查验证路由与同步等条件，文字时效仍需核对；自动/DOM 测试、真机兼容、生产恢复分别有证明范围。当前 CI 的外部行情合约检查是非阻断步骤，也不能当作必过门禁。[统一测试](../server/test/run-all.js)、[CI](../.github/workflows/ci.yml)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固定流程可以用一个很短的发布记录承接：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本次变更、版本、提交和环境：【】。</a:t>
            </a:r>
          </a:p>
          <a:p xmlns:a="http://schemas.openxmlformats.org/drawingml/2006/main">
            <a:r>
              <a:t>检查命令与结果，失败/跳过/未验证：【】。</a:t>
            </a:r>
          </a:p>
          <a:p xmlns:a="http://schemas.openxmlformats.org/drawingml/2006/main">
            <a:r>
              <a:t>本地刷新方式，健康/接口/资源证据：【】。</a:t>
            </a:r>
          </a:p>
          <a:p xmlns:a="http://schemas.openxmlformats.org/drawingml/2006/main">
            <a:r>
              <a:t>配置、迁移、任务、旧数据影响：【】。</a:t>
            </a:r>
          </a:p>
          <a:p xmlns:a="http://schemas.openxmlformats.org/drawingml/2006/main">
            <a:r>
              <a:t>生产授权，允许写入的对象/日期/范围：【】。</a:t>
            </a:r>
          </a:p>
          <a:p xmlns:a="http://schemas.openxmlformats.org/drawingml/2006/main">
            <a:r>
              <a:t>标准部署入口与步骤：【】。</a:t>
            </a:r>
          </a:p>
          <a:p xmlns:a="http://schemas.openxmlformats.org/drawingml/2006/main">
            <a:r>
              <a:t>部署后提交、服务、字段、权限、任务/质量证据：【】。</a:t>
            </a:r>
          </a:p>
          <a:p xmlns:a="http://schemas.openxmlformats.org/drawingml/2006/main">
            <a:r>
              <a:t>失败恢复触发、旧版本、数据/配置恢复和负责人：【】。</a:t>
            </a:r>
          </a:p>
          <a:p xmlns:a="http://schemas.openxmlformats.org/drawingml/2006/main">
            <a:r>
              <a:t>同类范围与异常，未完成去向，知识更新原位置：【】。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 暂存先核对 `git status`，精确加入本任务文件，再检查暂存差异。生产数据同步根据本次需要和明确授权执行。密钥、密码、个人主机路径和实际业务备份各有受控位置，分享模板使用占位。[项目范围与发布规则](../AGENTS.md)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重要时，第一版就准备备份并做一次隔离恢复。备份文件生成成功后，还要确认数据库、配置、必要模型/文件以及核心流程能一起恢复。存在小站已经记录本机恢复和对账验收，异地对象存储恢复仍有未验边界。[恢复状态](技术架构.md)、[PostgreSQL 备份恢复](https://www.postgresql.org/docs/current/backup-dump.html)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**带走一个动作：** 为最近一项功能写出运行验收：用户打开哪里、看到什么字段、数据截至何时、权限如何核查。再问一句，如果出问题，怎样恢复？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D:\存在小站\docs\生产部署流程.md</a:t>
            </a:r>
          </a:p>
          <a:p xmlns:a="http://schemas.openxmlformats.org/drawingml/2006/main">
            <a:r>
              <a:t>D:\存在小站\deploy\本地验证交接文档.md</a:t>
            </a:r>
          </a:p>
          <a:p xmlns:a="http://schemas.openxmlformats.org/drawingml/2006/main">
            <a:r>
              <a:t>D:\存在小站\server\test\run-all.js</a:t>
            </a:r>
          </a:p>
          <a:p xmlns:a="http://schemas.openxmlformats.org/drawingml/2006/main">
            <a:r>
              <a:t>D:\存在小站\.github\workflows\ci.yml</a:t>
            </a:r>
          </a:p>
          <a:p xmlns:a="http://schemas.openxmlformats.org/drawingml/2006/main">
            <a:r>
              <a:t>https://www.postgresql.org/docs/current/backup-dump.html</a:t>
            </a:r>
          </a:p>
          <a:p xmlns:a="http://schemas.openxmlformats.org/drawingml/2006/main">
            <a:r>
              <a:t>https://www.cmu.edu/teaching/principles/learning.html</a:t>
            </a:r>
          </a:p>
          <a:p xmlns:a="http://schemas.openxmlformats.org/drawingml/2006/main">
            <a:r>
              <a:t>https://www.vanderbilt.edu/cdr/module1/branching-out-with-interactive-scenarios/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综合迁移练习。给两分钟，听众在自己的项目回答；已有项目核对真实现状，新项目标未知。不先展示参考答案，下一页反馈。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https://www.cmu.edu/teaching/principles/learning.html</a:t>
            </a:r>
          </a:p>
          <a:p xmlns:a="http://schemas.openxmlformats.org/drawingml/2006/main">
            <a:r>
              <a:t>https://www.vanderbilt.edu/cdr/module1/branching-out-with-interactive-scenarios/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反馈页：按完整功能的具体后果核对，不要求使用固定框架。讲者完整示例与总生成提示词如下。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练习：把一个功能放进完整的建站过程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现在轮到你。假设要新增“导入外部记录并展示列表”，先写出你自己的处理方式，再与下面的示例比较。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遇到的问题 | 示例做法 | 怎样检查有效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第一版范围怎么定 | 定义一个用户的一次导入到展示 | 正常、重复、失败、权限都可验证 |</a:t>
            </a:r>
          </a:p>
          <a:p xmlns:a="http://schemas.openxmlformats.org/drawingml/2006/main">
            <a:r>
              <a:t>| 数据从哪里来、归谁 | 复用写入入口，身份/日期/唯一键明确 | 记录可追溯，重复不增，失败保留 |</a:t>
            </a:r>
          </a:p>
          <a:p xmlns:a="http://schemas.openxmlformats.org/drawingml/2006/main">
            <a:r>
              <a:t>| 表格会不会再写一套 | 复用代表页和共享控件 | 桌面手机、状态、旧响应共同核查 |</a:t>
            </a:r>
          </a:p>
          <a:p xmlns:a="http://schemas.openxmlformats.org/drawingml/2006/main">
            <a:r>
              <a:t>| AI 会不会漏旧功能 | 写改善与同时保持，查同类 | 新功能与原流程在同一次验收通过 |</a:t>
            </a:r>
          </a:p>
          <a:p xmlns:a="http://schemas.openxmlformats.org/drawingml/2006/main">
            <a:r>
              <a:t>| 换会话、换 Agent 怎么接 | 当前结论进原位，任务卡保留增量 | 从入口找到决定、反例和剩余 |</a:t>
            </a:r>
          </a:p>
          <a:p xmlns:a="http://schemas.openxmlformats.org/drawingml/2006/main">
            <a:r>
              <a:t>| 怎么知道交付完成 | 核对运行版本、接口字段与恢复 | 实际用户流程有证据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可以让 AI 把这份经验适配为你项目的文件：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项目与阶段：【】；核心用户流程：【】。</a:t>
            </a:r>
          </a:p>
          <a:p xmlns:a="http://schemas.openxmlformats.org/drawingml/2006/main">
            <a:r>
              <a:t>当前仓库/资料：【】；维护语言、环境、费用和操作限制：【】。</a:t>
            </a:r>
          </a:p>
          <a:p xmlns:a="http://schemas.openxmlformats.org/drawingml/2006/main">
            <a:r>
              <a:t>现在遇到的具体问题：【】；已有授权和范围：【】。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请先按项目规则和知识入口核对当前实现，新项目先明确需求与未知。</a:t>
            </a:r>
          </a:p>
          <a:p xmlns:a="http://schemas.openxmlformats.org/drawingml/2006/main">
            <a:r>
              <a:t>从这个问题出发，说明症状、最早偏差、后果和公共根因。</a:t>
            </a:r>
          </a:p>
          <a:p xmlns:a="http://schemas.openxmlformats.org/drawingml/2006/main">
            <a:r>
              <a:t>列出现有能力、可复用入口和真正缺口，选择最小可用的解法。</a:t>
            </a:r>
          </a:p>
          <a:p xmlns:a="http://schemas.openxmlformats.org/drawingml/2006/main">
            <a:r>
              <a:t>输出需要更新的真实文件/章节、数据/接口契约和执行顺序。</a:t>
            </a:r>
          </a:p>
          <a:p xmlns:a="http://schemas.openxmlformats.org/drawingml/2006/main">
            <a:r>
              <a:t>写明本次改善及必须同时保持的条件，覆盖完整影响链路与同类范围。</a:t>
            </a:r>
          </a:p>
          <a:p xmlns:a="http://schemas.openxmlformats.org/drawingml/2006/main">
            <a:r>
              <a:t>每个检查说明触发、条件、证据、失败处理及真实执行入口。</a:t>
            </a:r>
          </a:p>
          <a:p xmlns:a="http://schemas.openxmlformats.org/drawingml/2006/main">
            <a:r>
              <a:t>区分仅文字、已有实现、待接入、已验证和未完成。</a:t>
            </a:r>
          </a:p>
          <a:p xmlns:a="http://schemas.openxmlformats.org/drawingml/2006/main">
            <a:r>
              <a:t>给出正常、重复、失败、边界、运行与恢复的适用验收。</a:t>
            </a:r>
          </a:p>
          <a:p xmlns:a="http://schemas.openxmlformats.org/drawingml/2006/main">
            <a:r>
              <a:t>知识优先更新原权威位置，交接只保留增量和剩余事项。</a:t>
            </a:r>
          </a:p>
          <a:p xmlns:a="http://schemas.openxmlformats.org/drawingml/2006/main">
            <a:r>
              <a:t>用一个完整功能演示这套流程，敏感配置保持占位。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起步时，一条完整流程、三个知识文件、正确数据归属、代表性页面和运行验收就能形成基础。多来源和后台工作出现后补增量、续跑；知识同步经常遗漏再加机器路由；工作可独立拆分时再采用多 Agent。每次增加一种机制，都应该能说清它解决了哪个真实困难。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https://www.cmu.edu/teaching/principles/learning.html</a:t>
            </a:r>
          </a:p>
          <a:p xmlns:a="http://schemas.openxmlformats.org/drawingml/2006/main">
            <a:r>
              <a:t>https://www.vanderbilt.edu/cdr/module1/branching-out-with-interactive-scenarios/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最终动作让听众带一个真实问题回去。完整总提示词与固定流程在 Markdown 和前面对应场景备注。先核对已有/复用/缺口，按最小深度生成真实文件和检查。用户反馈、资源和返工决定下一轮，不预建全部设施。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练习：把一个功能放进完整的建站过程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现在轮到你。假设要新增“导入外部记录并展示列表”，先写出你自己的处理方式，再与下面的示例比较。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遇到的问题 | 示例做法 | 怎样检查有效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第一版范围怎么定 | 定义一个用户的一次导入到展示 | 正常、重复、失败、权限都可验证 |</a:t>
            </a:r>
          </a:p>
          <a:p xmlns:a="http://schemas.openxmlformats.org/drawingml/2006/main">
            <a:r>
              <a:t>| 数据从哪里来、归谁 | 复用写入入口，身份/日期/唯一键明确 | 记录可追溯，重复不增，失败保留 |</a:t>
            </a:r>
          </a:p>
          <a:p xmlns:a="http://schemas.openxmlformats.org/drawingml/2006/main">
            <a:r>
              <a:t>| 表格会不会再写一套 | 复用代表页和共享控件 | 桌面手机、状态、旧响应共同核查 |</a:t>
            </a:r>
          </a:p>
          <a:p xmlns:a="http://schemas.openxmlformats.org/drawingml/2006/main">
            <a:r>
              <a:t>| AI 会不会漏旧功能 | 写改善与同时保持，查同类 | 新功能与原流程在同一次验收通过 |</a:t>
            </a:r>
          </a:p>
          <a:p xmlns:a="http://schemas.openxmlformats.org/drawingml/2006/main">
            <a:r>
              <a:t>| 换会话、换 Agent 怎么接 | 当前结论进原位，任务卡保留增量 | 从入口找到决定、反例和剩余 |</a:t>
            </a:r>
          </a:p>
          <a:p xmlns:a="http://schemas.openxmlformats.org/drawingml/2006/main">
            <a:r>
              <a:t>| 怎么知道交付完成 | 核对运行版本、接口字段与恢复 | 实际用户流程有证据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可以让 AI 把这份经验适配为你项目的文件：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~~~text</a:t>
            </a:r>
          </a:p>
          <a:p xmlns:a="http://schemas.openxmlformats.org/drawingml/2006/main">
            <a:r>
              <a:t>项目与阶段：【】；核心用户流程：【】。</a:t>
            </a:r>
          </a:p>
          <a:p xmlns:a="http://schemas.openxmlformats.org/drawingml/2006/main">
            <a:r>
              <a:t>当前仓库/资料：【】；维护语言、环境、费用和操作限制：【】。</a:t>
            </a:r>
          </a:p>
          <a:p xmlns:a="http://schemas.openxmlformats.org/drawingml/2006/main">
            <a:r>
              <a:t>现在遇到的具体问题：【】；已有授权和范围：【】。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请先按项目规则和知识入口核对当前实现，新项目先明确需求与未知。</a:t>
            </a:r>
          </a:p>
          <a:p xmlns:a="http://schemas.openxmlformats.org/drawingml/2006/main">
            <a:r>
              <a:t>从这个问题出发，说明症状、最早偏差、后果和公共根因。</a:t>
            </a:r>
          </a:p>
          <a:p xmlns:a="http://schemas.openxmlformats.org/drawingml/2006/main">
            <a:r>
              <a:t>列出现有能力、可复用入口和真正缺口，选择最小可用的解法。</a:t>
            </a:r>
          </a:p>
          <a:p xmlns:a="http://schemas.openxmlformats.org/drawingml/2006/main">
            <a:r>
              <a:t>输出需要更新的真实文件/章节、数据/接口契约和执行顺序。</a:t>
            </a:r>
          </a:p>
          <a:p xmlns:a="http://schemas.openxmlformats.org/drawingml/2006/main">
            <a:r>
              <a:t>写明本次改善及必须同时保持的条件，覆盖完整影响链路与同类范围。</a:t>
            </a:r>
          </a:p>
          <a:p xmlns:a="http://schemas.openxmlformats.org/drawingml/2006/main">
            <a:r>
              <a:t>每个检查说明触发、条件、证据、失败处理及真实执行入口。</a:t>
            </a:r>
          </a:p>
          <a:p xmlns:a="http://schemas.openxmlformats.org/drawingml/2006/main">
            <a:r>
              <a:t>区分仅文字、已有实现、待接入、已验证和未完成。</a:t>
            </a:r>
          </a:p>
          <a:p xmlns:a="http://schemas.openxmlformats.org/drawingml/2006/main">
            <a:r>
              <a:t>给出正常、重复、失败、边界、运行与恢复的适用验收。</a:t>
            </a:r>
          </a:p>
          <a:p xmlns:a="http://schemas.openxmlformats.org/drawingml/2006/main">
            <a:r>
              <a:t>知识优先更新原权威位置，交接只保留增量和剩余事项。</a:t>
            </a:r>
          </a:p>
          <a:p xmlns:a="http://schemas.openxmlformats.org/drawingml/2006/main">
            <a:r>
              <a:t>用一个完整功能演示这套流程，敏感配置保持占位。</a:t>
            </a:r>
          </a:p>
          <a:p xmlns:a="http://schemas.openxmlformats.org/drawingml/2006/main">
            <a:r>
              <a:t>~~~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起步时，一条完整流程、三个知识文件、正确数据归属、代表性页面和运行验收就能形成基础。多来源和后台工作出现后补增量、续跑；知识同步经常遗漏再加机器路由；工作可独立拆分时再采用多 Agent。每次增加一种机制，都应该能说清它解决了哪个真实困难。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给分享者：这些内容怎样讲，更容易让新手跟上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开场先讲“第一版能跑，第二个功能来了”的场景，让听众联系自己的经历。每到一个案例，先呈现现象和两三种合理选择，停下来让他们判断，再揭示链路与后果。展示一个完整解法之后，留一个小练习，让听众把做法迁移到自己的项目，并给出核对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这种安排借鉴了情境决策教学，以及已有知识、目标明确的练习和反馈的学习原则。这里采用线性分享中的短决策练习，没有把 PPT 做成完整分支课程，也不据此声称已验证学习效果。[Vanderbilt 情境决策教学](https://www.vanderbilt.edu/cdr/module1/branching-out-with-interactive-scenarios/)、[CMU 学习原则](https://www.cmu.edu/teaching/principles/learning.html)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讲述时，问题页和答案页分开。真实案例讲到“最早偏差在哪里”即可进入解法，详细契约放在对应讲者备注和正文里，供会后复制。练习先让听众回答，再显示判断依据，避免每个问题刚出现就立即揭晓。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D:\存在小站\docs\存在小站开发与AI协作经验分享.md</a:t>
            </a:r>
          </a:p>
          <a:p xmlns:a="http://schemas.openxmlformats.org/drawingml/2006/main">
            <a:r>
              <a:t>https://www.cmu.edu/teaching/principles/learning.html</a:t>
            </a:r>
          </a:p>
          <a:p xmlns:a="http://schemas.openxmlformats.org/drawingml/2006/main">
            <a:r>
              <a:t>https://www.vanderbilt.edu/cdr/module1/branching-out-with-interactive-scenarios/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fa712239cc4d4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b0fb91d7404b5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557704dab34bf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24d4fd583d409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1c77da228e44f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c37ddb0e964b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2E92E7-9796-407B-8DB4-F605ADFA17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919B04F-1B33-4A61-965A-046D44C6518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2D0A60D-31EE-45B8-941C-9AB3863589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2F4D9C-A80B-4DD3-AC6A-A5804BDE10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A8A0AC2-121F-4D6B-A1B7-302E32E100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C853A29-1D44-4EB4-81FE-2F056BF153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B1D51C-35D5-45DF-A47C-0BEDD14724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10FC7FE-876B-48C1-B15F-431EA63179E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F51FA5-8E7C-470B-9122-E25F8E7A39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84522CE-12EE-41DE-B8E1-B9CDACE635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12f84408004922" /><Relationship Type="http://schemas.openxmlformats.org/officeDocument/2006/relationships/slideLayout" Target="/ppt/slideLayouts/slideLayout1.xml" Id="R0dbad341c4164f0e" /><Relationship Type="http://schemas.openxmlformats.org/officeDocument/2006/relationships/slideLayout" Target="/ppt/slideLayouts/slideLayout2.xml" Id="Rc0beca7d6f604fd1" /><Relationship Type="http://schemas.openxmlformats.org/officeDocument/2006/relationships/slideLayout" Target="/ppt/slideLayouts/slideLayout3.xml" Id="R686959cdea7548f8" /><Relationship Type="http://schemas.openxmlformats.org/officeDocument/2006/relationships/slideLayout" Target="/ppt/slideLayouts/slideLayout4.xml" Id="R22f3ac1793c1425e" /><Relationship Type="http://schemas.openxmlformats.org/officeDocument/2006/relationships/slideLayout" Target="/ppt/slideLayouts/slideLayout5.xml" Id="R4085df96e7f64cdc" /><Relationship Type="http://schemas.openxmlformats.org/officeDocument/2006/relationships/slideLayout" Target="/ppt/slideLayouts/slideLayout6.xml" Id="Rb0edd3ba603943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bad341c4164f0e"/>
    <p:sldLayoutId xmlns:r="http://schemas.openxmlformats.org/officeDocument/2006/relationships" id="2147483650" r:id="Rc0beca7d6f604fd1"/>
    <p:sldLayoutId xmlns:r="http://schemas.openxmlformats.org/officeDocument/2006/relationships" id="2147483651" r:id="R686959cdea7548f8"/>
    <p:sldLayoutId xmlns:r="http://schemas.openxmlformats.org/officeDocument/2006/relationships" id="2147483652" r:id="R22f3ac1793c1425e"/>
    <p:sldLayoutId xmlns:r="http://schemas.openxmlformats.org/officeDocument/2006/relationships" id="2147483653" r:id="R4085df96e7f64cdc"/>
    <p:sldLayoutId xmlns:r="http://schemas.openxmlformats.org/officeDocument/2006/relationships" id="2147483654" r:id="Rb0edd3ba603943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8d8c6d2c034254" /><Relationship Type="http://schemas.openxmlformats.org/officeDocument/2006/relationships/image" Target="/ppt/media/image.png" Id="Rbda71dfae4d14465" /><Relationship Type="http://schemas.openxmlformats.org/officeDocument/2006/relationships/notesSlide" Target="/ppt/notesSlides/notesSlide1.xml" Id="R7a7f835981a54f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9b84105ba84c2a" /><Relationship Type="http://schemas.openxmlformats.org/officeDocument/2006/relationships/notesSlide" Target="/ppt/notesSlides/notesSlide2.xml" Id="Rcf8a2d8113c943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a3319022064c13" /><Relationship Type="http://schemas.openxmlformats.org/officeDocument/2006/relationships/notesSlide" Target="/ppt/notesSlides/notesSlide3.xml" Id="Ra56239fa7f2d41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e66029f7b044a9" /><Relationship Type="http://schemas.openxmlformats.org/officeDocument/2006/relationships/notesSlide" Target="/ppt/notesSlides/notesSlide4.xml" Id="Rf26ffed9763d43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0acc9c2e274b31" /><Relationship Type="http://schemas.openxmlformats.org/officeDocument/2006/relationships/notesSlide" Target="/ppt/notesSlides/notesSlide5.xml" Id="Rbb2587f652dc42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55f4e59db74e93" /><Relationship Type="http://schemas.openxmlformats.org/officeDocument/2006/relationships/notesSlide" Target="/ppt/notesSlides/notesSlide6.xml" Id="Rc182be69e7184d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c3630ea0964ba5" /><Relationship Type="http://schemas.openxmlformats.org/officeDocument/2006/relationships/notesSlide" Target="/ppt/notesSlides/notesSlide7.xml" Id="R7c5eee0daedd45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f4f769f16e454d" /><Relationship Type="http://schemas.openxmlformats.org/officeDocument/2006/relationships/notesSlide" Target="/ppt/notesSlides/notesSlide8.xml" Id="Ra880e32df21c43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6a36e49d3d41ad" /><Relationship Type="http://schemas.openxmlformats.org/officeDocument/2006/relationships/notesSlide" Target="/ppt/notesSlides/notesSlide9.xml" Id="R9cc3ca3c63af4a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12086ea4514e45" /><Relationship Type="http://schemas.openxmlformats.org/officeDocument/2006/relationships/notesSlide" Target="/ppt/notesSlides/notesSlide10.xml" Id="R823c9d8c2957497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ce304847264192" /><Relationship Type="http://schemas.openxmlformats.org/officeDocument/2006/relationships/notesSlide" Target="/ppt/notesSlides/notesSlide11.xml" Id="R434fdb0e63a1450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90b5ec2c8e4f26" /><Relationship Type="http://schemas.openxmlformats.org/officeDocument/2006/relationships/notesSlide" Target="/ppt/notesSlides/notesSlide12.xml" Id="R461e8cd97312475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29b40fa7524371" /><Relationship Type="http://schemas.openxmlformats.org/officeDocument/2006/relationships/notesSlide" Target="/ppt/notesSlides/notesSlide13.xml" Id="R94fe439979b740d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36a2ca514641b1" /><Relationship Type="http://schemas.openxmlformats.org/officeDocument/2006/relationships/notesSlide" Target="/ppt/notesSlides/notesSlide14.xml" Id="R64c4fed5d04547d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7c0f8f93bf4ccf" /><Relationship Type="http://schemas.openxmlformats.org/officeDocument/2006/relationships/notesSlide" Target="/ppt/notesSlides/notesSlide15.xml" Id="R90220e2ab30e408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30a17acd4b451e" /><Relationship Type="http://schemas.openxmlformats.org/officeDocument/2006/relationships/notesSlide" Target="/ppt/notesSlides/notesSlide16.xml" Id="Rbb97dda0615145f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7a1b68e51b411d" /><Relationship Type="http://schemas.openxmlformats.org/officeDocument/2006/relationships/notesSlide" Target="/ppt/notesSlides/notesSlide17.xml" Id="Rb05f9c95cc82405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f1d776a1d54c8d" /><Relationship Type="http://schemas.openxmlformats.org/officeDocument/2006/relationships/notesSlide" Target="/ppt/notesSlides/notesSlide18.xml" Id="R218926add6b9462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7e77f67a234ffa" /><Relationship Type="http://schemas.openxmlformats.org/officeDocument/2006/relationships/notesSlide" Target="/ppt/notesSlides/notesSlide19.xml" Id="R83dcff1f1a28492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07cbffc17041e5" /><Relationship Type="http://schemas.openxmlformats.org/officeDocument/2006/relationships/notesSlide" Target="/ppt/notesSlides/notesSlide20.xml" Id="Ra3237d7a91554cd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680bc99ea74394" /><Relationship Type="http://schemas.openxmlformats.org/officeDocument/2006/relationships/notesSlide" Target="/ppt/notesSlides/notesSlide21.xml" Id="R43e98df48ed14a4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4977d06abd4eb7" /><Relationship Type="http://schemas.openxmlformats.org/officeDocument/2006/relationships/notesSlide" Target="/ppt/notesSlides/notesSlide22.xml" Id="R03cccce544854d5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849011d32f4101" /><Relationship Type="http://schemas.openxmlformats.org/officeDocument/2006/relationships/notesSlide" Target="/ppt/notesSlides/notesSlide23.xml" Id="Rd17307095e58462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8f4b033e7c4a4b" /><Relationship Type="http://schemas.openxmlformats.org/officeDocument/2006/relationships/notesSlide" Target="/ppt/notesSlides/notesSlide24.xml" Id="R1a07f3624d3044c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4f4ca30f684cb3" /><Relationship Type="http://schemas.openxmlformats.org/officeDocument/2006/relationships/notesSlide" Target="/ppt/notesSlides/notesSlide25.xml" Id="R33dab8b6ddba490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a7bcf13abf4d59" /><Relationship Type="http://schemas.openxmlformats.org/officeDocument/2006/relationships/notesSlide" Target="/ppt/notesSlides/notesSlide26.xml" Id="R70b2188473fc430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3de242e956486e" /><Relationship Type="http://schemas.openxmlformats.org/officeDocument/2006/relationships/notesSlide" Target="/ppt/notesSlides/notesSlide27.xml" Id="R68f4df345a3348c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30020b606c4d3b" /><Relationship Type="http://schemas.openxmlformats.org/officeDocument/2006/relationships/notesSlide" Target="/ppt/notesSlides/notesSlide28.xml" Id="R9e17373710934f3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2ae9d5a1ae4d30" /><Relationship Type="http://schemas.openxmlformats.org/officeDocument/2006/relationships/notesSlide" Target="/ppt/notesSlides/notesSlide29.xml" Id="R5b9de951c692462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a39be39c0c4be1" /><Relationship Type="http://schemas.openxmlformats.org/officeDocument/2006/relationships/notesSlide" Target="/ppt/notesSlides/notesSlide30.xml" Id="Rf472ba1cf3c54e3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53495990b3414a" /><Relationship Type="http://schemas.openxmlformats.org/officeDocument/2006/relationships/notesSlide" Target="/ppt/notesSlides/notesSlide31.xml" Id="R0beefe894b3946e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d998cb52f640a7" /><Relationship Type="http://schemas.openxmlformats.org/officeDocument/2006/relationships/notesSlide" Target="/ppt/notesSlides/notesSlide32.xml" Id="R4da3bc5d23e04cf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18ad29abbe438d" /><Relationship Type="http://schemas.openxmlformats.org/officeDocument/2006/relationships/notesSlide" Target="/ppt/notesSlides/notesSlide33.xml" Id="R4f2abc28e86d44c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6d9d7321d242a1" /><Relationship Type="http://schemas.openxmlformats.org/officeDocument/2006/relationships/notesSlide" Target="/ppt/notesSlides/notesSlide34.xml" Id="Reb2262cf3d3d497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338591e3c74065" /><Relationship Type="http://schemas.openxmlformats.org/officeDocument/2006/relationships/notesSlide" Target="/ppt/notesSlides/notesSlide35.xml" Id="Rc8e4c48d30aa48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F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518509-CC9D-4391-90B6-4225C1F9F3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a71dfae4d1446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65DB4CA-5829-4DBE-B18E-77E9BDCC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6238875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 AI 建站</a:t>
            </a:r>
          </a:p>
          <a:p xmlns:a="http://schemas.openxmlformats.org/drawingml/2006/main">
            <a:pPr algn="l">
              <a:buNone/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从第一版到</a:t>
            </a:r>
          </a:p>
          <a:p xmlns:a="http://schemas.openxmlformats.org/drawingml/2006/main">
            <a:pPr algn="l">
              <a:buNone/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持续迭代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2C6383D-2CD8-4368-A554-4F26B51E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595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存在小站的踩坑经历与可复用做法</a:t>
            </a:r>
          </a:p>
        </p:txBody>
      </p:sp>
      <p:sp>
        <p:nvSpPr>
          <p:cNvPr id="4" name="cover-audience">
            <a:extLst xmlns:a="http://schemas.openxmlformats.org/drawingml/2006/main">
              <a:ext uri="{FF2B5EF4-FFF2-40B4-BE49-F238E27FC236}">
                <a16:creationId xmlns:a16="http://schemas.microsoft.com/office/drawing/2014/main" id="{6CCF8E5B-3FA3-423A-9022-C4FD6B53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5905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AI 建站新手与独立开发者</a:t>
            </a:r>
          </a:p>
        </p:txBody>
      </p:sp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EF986788-37B1-43BE-ACDE-2A088975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rPr>
              <a:t>2026 年 10 月</a:t>
            </a:r>
          </a:p>
        </p:txBody>
      </p:sp>
    </p:spTree>
    <p:extLst>
      <p:ext uri="{BB962C8B-B14F-4D97-AF65-F5344CB8AC3E}">
        <p14:creationId xmlns:p14="http://schemas.microsoft.com/office/powerpoint/2010/main" val="14243202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F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570CB2-D912-433E-BBEC-27F45DFA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第一版能打开，接下来会发生什么？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FD22B4C-0B54-4441-8A6C-C7EF6B6C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D850C7FB-A006-46E5-BDA8-89560467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你开始加第二个功能，原来的顺利发生了变化</a:t>
            </a:r>
          </a:p>
        </p:txBody>
      </p:sp>
      <p:sp>
        <p:nvSpPr>
          <p:cNvPr id="4" name="label-0">
            <a:extLst xmlns:a="http://schemas.openxmlformats.org/drawingml/2006/main">
              <a:ext uri="{FF2B5EF4-FFF2-40B4-BE49-F238E27FC236}">
                <a16:creationId xmlns:a16="http://schemas.microsoft.com/office/drawing/2014/main" id="{73F34326-9814-4FE8-AD66-3A8FAD92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新页面</a:t>
            </a:r>
          </a:p>
        </p:txBody>
      </p:sp>
      <p:sp>
        <p:nvSpPr>
          <p:cNvPr id="5" name="body-0">
            <a:extLst xmlns:a="http://schemas.openxmlformats.org/drawingml/2006/main">
              <a:ext uri="{FF2B5EF4-FFF2-40B4-BE49-F238E27FC236}">
                <a16:creationId xmlns:a16="http://schemas.microsoft.com/office/drawing/2014/main" id="{35E1A81C-EB63-453C-ACEE-E29DDE12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76450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按钮、表格和手机操作各有一套</a:t>
            </a:r>
          </a:p>
        </p:txBody>
      </p:sp>
      <p:sp>
        <p:nvSpPr>
          <p:cNvPr id="6" name="label-1">
            <a:extLst xmlns:a="http://schemas.openxmlformats.org/drawingml/2006/main">
              <a:ext uri="{FF2B5EF4-FFF2-40B4-BE49-F238E27FC236}">
                <a16:creationId xmlns:a16="http://schemas.microsoft.com/office/drawing/2014/main" id="{7B8BA15B-62B0-44C0-8CAD-05C23814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数据更新</a:t>
            </a:r>
          </a:p>
        </p:txBody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31BFFDD8-596A-4E08-BDF1-CFA58844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33700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后台写着成功，详情仍然缺字段</a:t>
            </a:r>
          </a:p>
        </p:txBody>
      </p:sp>
      <p:sp>
        <p:nvSpPr>
          <p:cNvPr id="8" name="label-2">
            <a:extLst xmlns:a="http://schemas.openxmlformats.org/drawingml/2006/main">
              <a:ext uri="{FF2B5EF4-FFF2-40B4-BE49-F238E27FC236}">
                <a16:creationId xmlns:a16="http://schemas.microsoft.com/office/drawing/2014/main" id="{3078330F-B8F6-46C3-8139-601B2478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再次修复</a:t>
            </a:r>
          </a:p>
        </p:txBody>
      </p:sp>
      <p:sp>
        <p:nvSpPr>
          <p:cNvPr id="9" name="body-2">
            <a:extLst xmlns:a="http://schemas.openxmlformats.org/drawingml/2006/main">
              <a:ext uri="{FF2B5EF4-FFF2-40B4-BE49-F238E27FC236}">
                <a16:creationId xmlns:a16="http://schemas.microsoft.com/office/drawing/2014/main" id="{4FA425C4-6D6B-4EB9-8CE0-08172917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90950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一个地方好了，另一个地方出现差额</a:t>
            </a:r>
          </a:p>
        </p:txBody>
      </p:sp>
      <p:sp>
        <p:nvSpPr>
          <p:cNvPr id="10" name="label-3">
            <a:extLst xmlns:a="http://schemas.openxmlformats.org/drawingml/2006/main">
              <a:ext uri="{FF2B5EF4-FFF2-40B4-BE49-F238E27FC236}">
                <a16:creationId xmlns:a16="http://schemas.microsoft.com/office/drawing/2014/main" id="{1E1A7B11-640D-457A-A004-37B18BC0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换个会话</a:t>
            </a:r>
          </a:p>
        </p:txBody>
      </p:sp>
      <p:sp>
        <p:nvSpPr>
          <p:cNvPr id="11" name="body-3">
            <a:extLst xmlns:a="http://schemas.openxmlformats.org/drawingml/2006/main">
              <a:ext uri="{FF2B5EF4-FFF2-40B4-BE49-F238E27FC236}">
                <a16:creationId xmlns:a16="http://schemas.microsoft.com/office/drawing/2014/main" id="{EAFFBB21-3F55-417F-8DF0-59DC6E9D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648200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又要解释上次为什么这样决定</a:t>
            </a:r>
          </a:p>
        </p:txBody>
      </p:sp>
      <p:sp>
        <p:nvSpPr>
          <p:cNvPr id="12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24738A47-87C9-4C1A-9C80-3F5108C8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选一个你最熟悉的症状：你会先查哪里？</a:t>
            </a:r>
          </a:p>
        </p:txBody>
      </p:sp>
    </p:spTree>
    <p:extLst>
      <p:ext uri="{BB962C8B-B14F-4D97-AF65-F5344CB8AC3E}">
        <p14:creationId xmlns:p14="http://schemas.microsoft.com/office/powerpoint/2010/main" val="14129694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41BE11-E087-4EB1-A1AD-5EC47DE3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一个网站长大的五个阶段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E85FAA0-E8EE-4614-9F8E-70CAF83B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38AB7-9C6D-4A5E-9CE6-1206D2BEFD41}"/>
              </a:ext>
            </a:extLst>
          </p:cNvPr>
          <p:cNvGraphicFramePr/>
          <p:nvPr/>
        </p:nvGraphicFramePr>
        <p:xfrm>
          <a:off xmlns:a="http://schemas.openxmlformats.org/drawingml/2006/main" x="685800" y="1781175"/>
          <a:ext xmlns:a="http://schemas.openxmlformats.org/drawingml/2006/main" cx="10820400" cy="38290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3333750"/>
                <a:gridCol w="7486650"/>
              </a:tblGrid>
              <a:tr h="6381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走到哪里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最容易卡住的地方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还没开工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方案很多，判断依据很少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第一版能用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数据有偏差，任务像成功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扩展功能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重复实现，旧条件开始失守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长期协作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重复提醒，知识和事实冲突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准备交付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测试通过，实际运行没闭环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4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01CDE2CD-F5BC-420A-A60D-59EFCBCD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真实案例讲根因，场景练习帮助你判断自己的项目</a:t>
            </a:r>
          </a:p>
        </p:txBody>
      </p:sp>
    </p:spTree>
    <p:extLst>
      <p:ext uri="{BB962C8B-B14F-4D97-AF65-F5344CB8AC3E}">
        <p14:creationId xmlns:p14="http://schemas.microsoft.com/office/powerpoint/2010/main" val="19485857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F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156FBC-DCE9-4099-A750-235834D1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第一版该选哪套技术？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45BF4AF-91A7-486E-B85C-5ECC17BE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ACAE8CD8-2CA6-48D8-920E-5F270FAB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AI 给了很多方案，你还缺一项决定依据</a:t>
            </a:r>
          </a:p>
        </p:txBody>
      </p:sp>
      <p:sp>
        <p:nvSpPr>
          <p:cNvPr id="4" name="example-a">
            <a:extLst xmlns:a="http://schemas.openxmlformats.org/drawingml/2006/main">
              <a:ext uri="{FF2B5EF4-FFF2-40B4-BE49-F238E27FC236}">
                <a16:creationId xmlns:a16="http://schemas.microsoft.com/office/drawing/2014/main" id="{CF288371-2C6F-42E2-93A9-704B2927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419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网站 A</a:t>
            </a:r>
          </a:p>
        </p:txBody>
      </p:sp>
      <p:sp>
        <p:nvSpPr>
          <p:cNvPr id="5" name="a">
            <a:extLst xmlns:a="http://schemas.openxmlformats.org/drawingml/2006/main">
              <a:ext uri="{FF2B5EF4-FFF2-40B4-BE49-F238E27FC236}">
                <a16:creationId xmlns:a16="http://schemas.microsoft.com/office/drawing/2014/main" id="{B397A4A5-E92B-425F-9F2E-F317A794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49053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公开文章</a:t>
            </a:r>
          </a:p>
          <a:p xmlns:a="http://schemas.openxmlformats.org/drawingml/2006/main">
            <a:pPr algn="l">
              <a:defRPr sz="24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偶尔更新内容</a:t>
            </a:r>
          </a:p>
          <a:p xmlns:a="http://schemas.openxmlformats.org/drawingml/2006/main">
            <a:pPr algn="l">
              <a:defRPr sz="24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访问者以阅读为主</a:t>
            </a:r>
          </a:p>
        </p:txBody>
      </p:sp>
      <p:sp>
        <p:nvSpPr>
          <p:cNvPr id="6" name="example-b">
            <a:extLst xmlns:a="http://schemas.openxmlformats.org/drawingml/2006/main">
              <a:ext uri="{FF2B5EF4-FFF2-40B4-BE49-F238E27FC236}">
                <a16:creationId xmlns:a16="http://schemas.microsoft.com/office/drawing/2014/main" id="{0B6F36D4-9D17-43C1-8279-8595F282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238375"/>
            <a:ext cx="419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网站 B</a:t>
            </a:r>
          </a:p>
        </p:txBody>
      </p:sp>
      <p:sp>
        <p:nvSpPr>
          <p:cNvPr id="7" name="b">
            <a:extLst xmlns:a="http://schemas.openxmlformats.org/drawingml/2006/main">
              <a:ext uri="{FF2B5EF4-FFF2-40B4-BE49-F238E27FC236}">
                <a16:creationId xmlns:a16="http://schemas.microsoft.com/office/drawing/2014/main" id="{77E66065-B355-4F22-AF1B-59961DB1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95625"/>
            <a:ext cx="5095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登录并导入记录</a:t>
            </a:r>
          </a:p>
          <a:p xmlns:a="http://schemas.openxmlformats.org/drawingml/2006/main">
            <a:pPr algn="l">
              <a:defRPr sz="24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保存个人数据</a:t>
            </a:r>
          </a:p>
          <a:p xmlns:a="http://schemas.openxmlformats.org/drawingml/2006/main">
            <a:pPr algn="l">
              <a:defRPr sz="24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需要后台更新</a:t>
            </a:r>
          </a:p>
        </p:txBody>
      </p:sp>
      <p:sp>
        <p:nvSpPr>
          <p:cNvPr id="8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118862D6-AC5A-4376-83E2-817DE33B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先判断：这两个网站的关键工作有什么不同？</a:t>
            </a:r>
          </a:p>
        </p:txBody>
      </p:sp>
    </p:spTree>
    <p:extLst>
      <p:ext uri="{BB962C8B-B14F-4D97-AF65-F5344CB8AC3E}">
        <p14:creationId xmlns:p14="http://schemas.microsoft.com/office/powerpoint/2010/main" val="6814476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18AE60-E597-47F4-9A44-3D2F061A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第一条用户流程决定起步架构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EDB024C-2CAF-44E5-913E-344597CD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10C0AB0C-99A0-4E9C-995B-71852A63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登录、导入自己的记录、查看列表，重复导入不重复写入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611A1A-E2DD-4A36-AF08-A352CA16F786}"/>
              </a:ext>
            </a:extLst>
          </p:cNvPr>
          <p:cNvGraphicFramePr/>
          <p:nvPr/>
        </p:nvGraphicFramePr>
        <p:xfrm>
          <a:off xmlns:a="http://schemas.openxmlformats.org/drawingml/2006/main" x="685800" y="1952625"/>
          <a:ext xmlns:a="http://schemas.openxmlformats.org/drawingml/2006/main" cx="10820400" cy="36385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3619500"/>
                <a:gridCol w="7200900"/>
              </a:tblGrid>
              <a:tr h="72771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真实需要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可以评估的起步结构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公开内容为主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静态页面或静态生成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私有交互与写入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组件化前端配 API，或全栈应用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公开内容与复杂交互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有服务端渲染能力的框架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采集或耗时计算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业务应用与独立任务入口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5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709A9D31-E1DF-4541-8031-7F61C55B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最终选择还取决于你能否维护、调试和部署</a:t>
            </a:r>
          </a:p>
        </p:txBody>
      </p:sp>
    </p:spTree>
    <p:extLst>
      <p:ext uri="{BB962C8B-B14F-4D97-AF65-F5344CB8AC3E}">
        <p14:creationId xmlns:p14="http://schemas.microsoft.com/office/powerpoint/2010/main" val="1658280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AF18C5F-DFD0-46A8-821E-5319F897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第一个功能的完整范围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E8A9CC5-5C8A-4C41-BD6B-010C8E89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label-0">
            <a:extLst xmlns:a="http://schemas.openxmlformats.org/drawingml/2006/main">
              <a:ext uri="{FF2B5EF4-FFF2-40B4-BE49-F238E27FC236}">
                <a16:creationId xmlns:a16="http://schemas.microsoft.com/office/drawing/2014/main" id="{BB64BD60-3530-4F28-A79F-A7CE8C2E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输入与身份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4322348B-CAE1-44F9-B9E6-932D71CE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76450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登录、校验输入与用户归属</a:t>
            </a:r>
          </a:p>
        </p:txBody>
      </p:sp>
      <p:sp>
        <p:nvSpPr>
          <p:cNvPr id="5" name="label-1">
            <a:extLst xmlns:a="http://schemas.openxmlformats.org/drawingml/2006/main">
              <a:ext uri="{FF2B5EF4-FFF2-40B4-BE49-F238E27FC236}">
                <a16:creationId xmlns:a16="http://schemas.microsoft.com/office/drawing/2014/main" id="{6B4D4A0F-4B7E-4BAD-93C4-4A184A56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规则与写入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F713B8D9-7948-44EB-82C1-F31FF493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52750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业务服务、事务与唯一约束</a:t>
            </a:r>
          </a:p>
        </p:txBody>
      </p:sp>
      <p:sp>
        <p:nvSpPr>
          <p:cNvPr id="7" name="label-2">
            <a:extLst xmlns:a="http://schemas.openxmlformats.org/drawingml/2006/main">
              <a:ext uri="{FF2B5EF4-FFF2-40B4-BE49-F238E27FC236}">
                <a16:creationId xmlns:a16="http://schemas.microsoft.com/office/drawing/2014/main" id="{B6719586-1552-4799-8AE9-4E4A7057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展示与失败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72BAB462-EB55-4605-9715-F6FFCB19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29050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列表、状态和失败保留</a:t>
            </a:r>
          </a:p>
        </p:txBody>
      </p:sp>
      <p:sp>
        <p:nvSpPr>
          <p:cNvPr id="9" name="label-3">
            <a:extLst xmlns:a="http://schemas.openxmlformats.org/drawingml/2006/main">
              <a:ext uri="{FF2B5EF4-FFF2-40B4-BE49-F238E27FC236}">
                <a16:creationId xmlns:a16="http://schemas.microsoft.com/office/drawing/2014/main" id="{16279CB5-454D-4452-B206-32D2C948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实际运行</a:t>
            </a:r>
          </a:p>
        </p:txBody>
      </p:sp>
      <p:sp>
        <p:nvSpPr>
          <p:cNvPr id="10" name="body-3">
            <a:extLst xmlns:a="http://schemas.openxmlformats.org/drawingml/2006/main">
              <a:ext uri="{FF2B5EF4-FFF2-40B4-BE49-F238E27FC236}">
                <a16:creationId xmlns:a16="http://schemas.microsoft.com/office/drawing/2014/main" id="{50B671C1-1897-4972-AA1D-C7E2430D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705350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接口、资源、版本与恢复步骤</a:t>
            </a:r>
          </a:p>
        </p:txBody>
      </p:sp>
      <p:sp>
        <p:nvSpPr>
          <p:cNvPr id="11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7F6C76A1-A90D-4E59-97D7-C1D4EE3F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练习：用一句话写出用户如何完成你项目的一件事</a:t>
            </a:r>
          </a:p>
        </p:txBody>
      </p:sp>
    </p:spTree>
    <p:extLst>
      <p:ext uri="{BB962C8B-B14F-4D97-AF65-F5344CB8AC3E}">
        <p14:creationId xmlns:p14="http://schemas.microsoft.com/office/powerpoint/2010/main" val="5225859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F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8FF5DB-15F7-4C4F-A121-594F8E4A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行情接口正常，页面为什么缺数据？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C8E1484-DD44-4B0A-9571-3BEE5A89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466B4BE8-9423-4212-BBBF-ED1A69BF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真实案例：部分 A 股旧价格、涨跌幅与盈亏为空</a:t>
            </a:r>
          </a:p>
        </p:txBody>
      </p:sp>
      <p:sp>
        <p:nvSpPr>
          <p:cNvPr id="4" name="label-0">
            <a:extLst xmlns:a="http://schemas.openxmlformats.org/drawingml/2006/main">
              <a:ext uri="{FF2B5EF4-FFF2-40B4-BE49-F238E27FC236}">
                <a16:creationId xmlns:a16="http://schemas.microsoft.com/office/drawing/2014/main" id="{2594BA8C-8D8B-4077-A12E-56BEC6F4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已知现象</a:t>
            </a:r>
          </a:p>
        </p:txBody>
      </p:sp>
      <p:sp>
        <p:nvSpPr>
          <p:cNvPr id="5" name="body-0">
            <a:extLst xmlns:a="http://schemas.openxmlformats.org/drawingml/2006/main">
              <a:ext uri="{FF2B5EF4-FFF2-40B4-BE49-F238E27FC236}">
                <a16:creationId xmlns:a16="http://schemas.microsoft.com/office/drawing/2014/main" id="{F6D88F6E-88B1-487B-9E63-B9C7D97F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90750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港股和可转债正常</a:t>
            </a:r>
          </a:p>
        </p:txBody>
      </p:sp>
      <p:sp>
        <p:nvSpPr>
          <p:cNvPr id="6" name="label-1">
            <a:extLst xmlns:a="http://schemas.openxmlformats.org/drawingml/2006/main">
              <a:ext uri="{FF2B5EF4-FFF2-40B4-BE49-F238E27FC236}">
                <a16:creationId xmlns:a16="http://schemas.microsoft.com/office/drawing/2014/main" id="{598D18E5-A976-4526-AEF0-6DE248FD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已经核对</a:t>
            </a:r>
          </a:p>
        </p:txBody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29B47074-8C33-4204-9496-D32E0A05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38500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外部行情接口返回正常</a:t>
            </a:r>
          </a:p>
        </p:txBody>
      </p:sp>
      <p:sp>
        <p:nvSpPr>
          <p:cNvPr id="8" name="label-2">
            <a:extLst xmlns:a="http://schemas.openxmlformats.org/drawingml/2006/main">
              <a:ext uri="{FF2B5EF4-FFF2-40B4-BE49-F238E27FC236}">
                <a16:creationId xmlns:a16="http://schemas.microsoft.com/office/drawing/2014/main" id="{08CEF9B7-C243-4684-9707-E4C991AE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你的选择</a:t>
            </a:r>
          </a:p>
        </p:txBody>
      </p:sp>
      <p:sp>
        <p:nvSpPr>
          <p:cNvPr id="9" name="body-2">
            <a:extLst xmlns:a="http://schemas.openxmlformats.org/drawingml/2006/main">
              <a:ext uri="{FF2B5EF4-FFF2-40B4-BE49-F238E27FC236}">
                <a16:creationId xmlns:a16="http://schemas.microsoft.com/office/drawing/2014/main" id="{F52ED354-7B58-4AB6-98E6-189F2316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86250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换来源、改页面，还是向前查身份？</a:t>
            </a:r>
          </a:p>
        </p:txBody>
      </p:sp>
      <p:sp>
        <p:nvSpPr>
          <p:cNvPr id="10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0CDE4466-361E-4B8C-BC2F-82A8EA1A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先定位最早偏差，你会拿哪两层结果做对照？</a:t>
            </a:r>
          </a:p>
        </p:txBody>
      </p:sp>
    </p:spTree>
    <p:extLst>
      <p:ext uri="{BB962C8B-B14F-4D97-AF65-F5344CB8AC3E}">
        <p14:creationId xmlns:p14="http://schemas.microsoft.com/office/powerpoint/2010/main" val="445980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825B88-A16A-42A2-A9D0-5ECA00AB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最早偏差出现在证券身份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EB81805-9D16-4C47-A7E7-201DE071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AB61E6-5069-4B5D-9641-32C8F346F1FB}"/>
              </a:ext>
            </a:extLst>
          </p:cNvPr>
          <p:cNvGraphicFramePr/>
          <p:nvPr/>
        </p:nvGraphicFramePr>
        <p:xfrm>
          <a:off xmlns:a="http://schemas.openxmlformats.org/drawingml/2006/main" x="685800" y="1952625"/>
          <a:ext xmlns:a="http://schemas.openxmlformats.org/drawingml/2006/main" cx="10820400" cy="36195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3619500"/>
                <a:gridCol w="7200900"/>
              </a:tblGrid>
              <a:tr h="7239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检查位置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当时查到的结果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数据源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报价正常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数据库身份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历史主档与标准主档重复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身份解析与适配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歧义，随后静默返回空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持仓页面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保留旧价，涨跌幅与盈亏缺失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4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633D1991-8F84-484B-9054-475F6AD1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同类核查发现 4,630 组重复，用户样本只是调查入口</a:t>
            </a:r>
          </a:p>
        </p:txBody>
      </p:sp>
    </p:spTree>
    <p:extLst>
      <p:ext uri="{BB962C8B-B14F-4D97-AF65-F5344CB8AC3E}">
        <p14:creationId xmlns:p14="http://schemas.microsoft.com/office/powerpoint/2010/main" val="17234309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C3648E-475B-4727-9574-B7BB7208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数据分层让问题可以追溯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CF6B21D-46A6-446D-8ABE-BE16D90E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E02C4-5CE7-4DCF-BD23-CB4F6D2E7E5E}"/>
              </a:ext>
            </a:extLst>
          </p:cNvPr>
          <p:cNvGraphicFramePr/>
          <p:nvPr/>
        </p:nvGraphicFramePr>
        <p:xfrm>
          <a:off xmlns:a="http://schemas.openxmlformats.org/drawingml/2006/main" x="685800" y="1952625"/>
          <a:ext xmlns:a="http://schemas.openxmlformats.org/drawingml/2006/main" cx="10820400" cy="36004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3619500"/>
                <a:gridCol w="7200900"/>
              </a:tblGrid>
              <a:tr h="72009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保存什么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为什么需要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原始证据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核对来源、更正和重解析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标准事实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稳定身份、权限与共同口径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派生结果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需要时保存输入时点与版本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页面查询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读取事实，权限内展示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4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7C0027F7-C244-438D-9958-96B7C655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练习：从一条页面记录，找到事实和来源证据</a:t>
            </a:r>
          </a:p>
        </p:txBody>
      </p:sp>
    </p:spTree>
    <p:extLst>
      <p:ext uri="{BB962C8B-B14F-4D97-AF65-F5344CB8AC3E}">
        <p14:creationId xmlns:p14="http://schemas.microsoft.com/office/powerpoint/2010/main" val="20897946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F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0330D31-9071-4C44-97EF-053030EC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处理 8 条，还剩 34 条：算完成吗？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3731442-A3A0-4873-A37E-3903F3FA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D04CCA78-F50C-489F-9DD8-F37E06C7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真实案例：资料补全运行显示成功</a:t>
            </a:r>
          </a:p>
        </p:txBody>
      </p:sp>
      <p:sp>
        <p:nvSpPr>
          <p:cNvPr id="4" name="eight">
            <a:extLst xmlns:a="http://schemas.openxmlformats.org/drawingml/2006/main">
              <a:ext uri="{FF2B5EF4-FFF2-40B4-BE49-F238E27FC236}">
                <a16:creationId xmlns:a16="http://schemas.microsoft.com/office/drawing/2014/main" id="{71D75591-69B2-4F64-A966-8586F5A1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5025"/>
            <a:ext cx="4381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8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8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0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5" name="eight-label">
            <a:extLst xmlns:a="http://schemas.openxmlformats.org/drawingml/2006/main">
              <a:ext uri="{FF2B5EF4-FFF2-40B4-BE49-F238E27FC236}">
                <a16:creationId xmlns:a16="http://schemas.microsoft.com/office/drawing/2014/main" id="{34BFD45F-604B-4515-8CF5-28D0CC9F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本次尝试的条数</a:t>
            </a:r>
          </a:p>
        </p:txBody>
      </p:sp>
      <p:sp>
        <p:nvSpPr>
          <p:cNvPr id="6" name="remaining">
            <a:extLst xmlns:a="http://schemas.openxmlformats.org/drawingml/2006/main">
              <a:ext uri="{FF2B5EF4-FFF2-40B4-BE49-F238E27FC236}">
                <a16:creationId xmlns:a16="http://schemas.microsoft.com/office/drawing/2014/main" id="{2F67D564-4255-4C52-8C6E-AAA9D894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105025"/>
            <a:ext cx="4476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7" name="remaining-label">
            <a:extLst xmlns:a="http://schemas.openxmlformats.org/drawingml/2006/main">
              <a:ext uri="{FF2B5EF4-FFF2-40B4-BE49-F238E27FC236}">
                <a16:creationId xmlns:a16="http://schemas.microsoft.com/office/drawing/2014/main" id="{6026CA5A-9B40-402A-91E0-57ABA86E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81952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仍然剩余的条数</a:t>
            </a:r>
          </a:p>
        </p:txBody>
      </p:sp>
      <p:sp>
        <p:nvSpPr>
          <p:cNvPr id="8" name="decision">
            <a:extLst xmlns:a="http://schemas.openxmlformats.org/drawingml/2006/main">
              <a:ext uri="{FF2B5EF4-FFF2-40B4-BE49-F238E27FC236}">
                <a16:creationId xmlns:a16="http://schemas.microsoft.com/office/drawing/2014/main" id="{37E5B8C1-BBA5-451E-A872-95936DDF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完全成功、部分完成、执行失败，你会选哪个？</a:t>
            </a:r>
          </a:p>
        </p:txBody>
      </p:sp>
      <p:sp>
        <p:nvSpPr>
          <p:cNvPr id="9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D177706A-BE9C-46DD-9491-E5371001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判断依据：这次任务到底承诺了什么范围？</a:t>
            </a:r>
          </a:p>
        </p:txBody>
      </p:sp>
    </p:spTree>
    <p:extLst>
      <p:ext uri="{BB962C8B-B14F-4D97-AF65-F5344CB8AC3E}">
        <p14:creationId xmlns:p14="http://schemas.microsoft.com/office/powerpoint/2010/main" val="3907190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11C3C3-5C87-45C3-97B2-8489AC9D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批次结束与任务完成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7512025-38D5-4B9D-942B-65D014C4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col-head-72">
            <a:extLst xmlns:a="http://schemas.openxmlformats.org/drawingml/2006/main">
              <a:ext uri="{FF2B5EF4-FFF2-40B4-BE49-F238E27FC236}">
                <a16:creationId xmlns:a16="http://schemas.microsoft.com/office/drawing/2014/main" id="{A2BD0538-73A7-46A3-992F-AFAB4997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5025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本次执行结束</a:t>
            </a:r>
          </a:p>
        </p:txBody>
      </p:sp>
      <p:sp>
        <p:nvSpPr>
          <p:cNvPr id="4" name="col-text-72-0">
            <a:extLst xmlns:a="http://schemas.openxmlformats.org/drawingml/2006/main">
              <a:ext uri="{FF2B5EF4-FFF2-40B4-BE49-F238E27FC236}">
                <a16:creationId xmlns:a16="http://schemas.microsoft.com/office/drawing/2014/main" id="{52B0A05D-393F-46D5-A07B-D9B1689E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5095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一批结果已经保存</a:t>
            </a:r>
          </a:p>
        </p:txBody>
      </p:sp>
      <p:sp>
        <p:nvSpPr>
          <p:cNvPr id="5" name="col-text-72-1">
            <a:extLst xmlns:a="http://schemas.openxmlformats.org/drawingml/2006/main">
              <a:ext uri="{FF2B5EF4-FFF2-40B4-BE49-F238E27FC236}">
                <a16:creationId xmlns:a16="http://schemas.microsoft.com/office/drawing/2014/main" id="{C4E79802-09A7-47EC-8E46-2664751B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5095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到达停止条件</a:t>
            </a:r>
          </a:p>
        </p:txBody>
      </p:sp>
      <p:sp>
        <p:nvSpPr>
          <p:cNvPr id="6" name="col-text-72-2">
            <a:extLst xmlns:a="http://schemas.openxmlformats.org/drawingml/2006/main">
              <a:ext uri="{FF2B5EF4-FFF2-40B4-BE49-F238E27FC236}">
                <a16:creationId xmlns:a16="http://schemas.microsoft.com/office/drawing/2014/main" id="{8F7C5184-1085-46D7-84B8-FFFB814D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5095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保存未完成工作</a:t>
            </a:r>
          </a:p>
        </p:txBody>
      </p:sp>
      <p:sp>
        <p:nvSpPr>
          <p:cNvPr id="7" name="col-head-673">
            <a:extLst xmlns:a="http://schemas.openxmlformats.org/drawingml/2006/main">
              <a:ext uri="{FF2B5EF4-FFF2-40B4-BE49-F238E27FC236}">
                <a16:creationId xmlns:a16="http://schemas.microsoft.com/office/drawing/2014/main" id="{39BC15C3-E796-4B9D-A98D-38BF9649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105025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业务任务完成</a:t>
            </a:r>
          </a:p>
        </p:txBody>
      </p:sp>
      <p:sp>
        <p:nvSpPr>
          <p:cNvPr id="8" name="col-text-673-0">
            <a:extLst xmlns:a="http://schemas.openxmlformats.org/drawingml/2006/main">
              <a:ext uri="{FF2B5EF4-FFF2-40B4-BE49-F238E27FC236}">
                <a16:creationId xmlns:a16="http://schemas.microsoft.com/office/drawing/2014/main" id="{FE0EC0B0-FB1D-4A95-B038-3877A560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914650"/>
            <a:ext cx="5095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目标集合覆盖完成</a:t>
            </a:r>
          </a:p>
        </p:txBody>
      </p:sp>
      <p:sp>
        <p:nvSpPr>
          <p:cNvPr id="9" name="col-text-673-1">
            <a:extLst xmlns:a="http://schemas.openxmlformats.org/drawingml/2006/main">
              <a:ext uri="{FF2B5EF4-FFF2-40B4-BE49-F238E27FC236}">
                <a16:creationId xmlns:a16="http://schemas.microsoft.com/office/drawing/2014/main" id="{25AAD13C-1B53-451A-84C5-D7E977F2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743325"/>
            <a:ext cx="5095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约定的数据已经发布</a:t>
            </a:r>
          </a:p>
        </p:txBody>
      </p:sp>
      <p:sp>
        <p:nvSpPr>
          <p:cNvPr id="10" name="col-text-673-2">
            <a:extLst xmlns:a="http://schemas.openxmlformats.org/drawingml/2006/main">
              <a:ext uri="{FF2B5EF4-FFF2-40B4-BE49-F238E27FC236}">
                <a16:creationId xmlns:a16="http://schemas.microsoft.com/office/drawing/2014/main" id="{242E6FA9-F80F-46FE-A210-FDB44243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572000"/>
            <a:ext cx="5095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数据日期正确，质量通过</a:t>
            </a:r>
          </a:p>
        </p:txBody>
      </p:sp>
      <p:sp>
        <p:nvSpPr>
          <p:cNvPr id="11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136495CE-79F3-4846-A231-B4398709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空结果也有区别：已核实无新增、请求失败、未执行</a:t>
            </a:r>
          </a:p>
        </p:txBody>
      </p:sp>
    </p:spTree>
    <p:extLst>
      <p:ext uri="{BB962C8B-B14F-4D97-AF65-F5344CB8AC3E}">
        <p14:creationId xmlns:p14="http://schemas.microsoft.com/office/powerpoint/2010/main" val="15357937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D020EF-1F22-4CBB-A58F-3A61C99B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重启之后，剩余工作在哪里？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F05101F-E41E-4AD4-A62B-78D2A465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label-0">
            <a:extLst xmlns:a="http://schemas.openxmlformats.org/drawingml/2006/main">
              <a:ext uri="{FF2B5EF4-FFF2-40B4-BE49-F238E27FC236}">
                <a16:creationId xmlns:a16="http://schemas.microsoft.com/office/drawing/2014/main" id="{8234BB79-1B97-4533-B867-20C5783D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统一入口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A3AD7611-9093-47B5-B122-F8BCBB2B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76450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自动、人工补跑和补偿调用同一服务</a:t>
            </a:r>
          </a:p>
        </p:txBody>
      </p:sp>
      <p:sp>
        <p:nvSpPr>
          <p:cNvPr id="5" name="label-1">
            <a:extLst xmlns:a="http://schemas.openxmlformats.org/drawingml/2006/main">
              <a:ext uri="{FF2B5EF4-FFF2-40B4-BE49-F238E27FC236}">
                <a16:creationId xmlns:a16="http://schemas.microsoft.com/office/drawing/2014/main" id="{6285EA51-767D-403F-9DFF-97A9CA02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保存进度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CE70106A-9FC1-46AE-8840-39B166C4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43225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已完成、剩余、停止原因与下次续跑</a:t>
            </a:r>
          </a:p>
        </p:txBody>
      </p:sp>
      <p:sp>
        <p:nvSpPr>
          <p:cNvPr id="7" name="label-2">
            <a:extLst xmlns:a="http://schemas.openxmlformats.org/drawingml/2006/main">
              <a:ext uri="{FF2B5EF4-FFF2-40B4-BE49-F238E27FC236}">
                <a16:creationId xmlns:a16="http://schemas.microsoft.com/office/drawing/2014/main" id="{07BC1A6D-A7F3-4096-AB00-F90914AD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保留事实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8F47429D-6595-4D90-A546-9CD8390A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10000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失败不覆盖有效值，不推进未核实水位</a:t>
            </a:r>
          </a:p>
        </p:txBody>
      </p:sp>
      <p:sp>
        <p:nvSpPr>
          <p:cNvPr id="9" name="label-3">
            <a:extLst xmlns:a="http://schemas.openxmlformats.org/drawingml/2006/main">
              <a:ext uri="{FF2B5EF4-FFF2-40B4-BE49-F238E27FC236}">
                <a16:creationId xmlns:a16="http://schemas.microsoft.com/office/drawing/2014/main" id="{EDDAF180-1E30-4AAA-BF2B-547661DA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完成证据</a:t>
            </a:r>
          </a:p>
        </p:txBody>
      </p:sp>
      <p:sp>
        <p:nvSpPr>
          <p:cNvPr id="10" name="body-3">
            <a:extLst xmlns:a="http://schemas.openxmlformats.org/drawingml/2006/main">
              <a:ext uri="{FF2B5EF4-FFF2-40B4-BE49-F238E27FC236}">
                <a16:creationId xmlns:a16="http://schemas.microsoft.com/office/drawing/2014/main" id="{3101D24D-E9F5-41E1-8080-5E12040D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676775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目标日、阶段产出、质量和剩余共同核查</a:t>
            </a:r>
          </a:p>
        </p:txBody>
      </p:sp>
      <p:sp>
        <p:nvSpPr>
          <p:cNvPr id="11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2659BDB2-C5D0-488A-9D5B-235DFF92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练习：隔离环境中途中停止，重启后检查续跑与去重</a:t>
            </a:r>
          </a:p>
        </p:txBody>
      </p:sp>
    </p:spTree>
    <p:extLst>
      <p:ext uri="{BB962C8B-B14F-4D97-AF65-F5344CB8AC3E}">
        <p14:creationId xmlns:p14="http://schemas.microsoft.com/office/powerpoint/2010/main" val="21380975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1F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6C83FE5-16DA-4B17-9E7A-810A3CF4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和上一页一样，为什么还是不同？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8993944-AD99-4849-9EF6-C967F8D3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321CD9CD-49C4-40A9-B68F-BEE0DFA6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第二张页面也能用，几处细节却开始分叉</a:t>
            </a:r>
          </a:p>
        </p:txBody>
      </p:sp>
      <p:sp>
        <p:nvSpPr>
          <p:cNvPr id="4" name="label-0">
            <a:extLst xmlns:a="http://schemas.openxmlformats.org/drawingml/2006/main">
              <a:ext uri="{FF2B5EF4-FFF2-40B4-BE49-F238E27FC236}">
                <a16:creationId xmlns:a16="http://schemas.microsoft.com/office/drawing/2014/main" id="{C8AB414F-DF06-446A-B7BD-924764C3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外观</a:t>
            </a:r>
          </a:p>
        </p:txBody>
      </p:sp>
      <p:sp>
        <p:nvSpPr>
          <p:cNvPr id="5" name="body-0">
            <a:extLst xmlns:a="http://schemas.openxmlformats.org/drawingml/2006/main">
              <a:ext uri="{FF2B5EF4-FFF2-40B4-BE49-F238E27FC236}">
                <a16:creationId xmlns:a16="http://schemas.microsoft.com/office/drawing/2014/main" id="{DFCD7816-2E8B-4C5B-B58B-E188FD28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38375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按钮高度、字号、间距各自调整</a:t>
            </a:r>
          </a:p>
        </p:txBody>
      </p:sp>
      <p:sp>
        <p:nvSpPr>
          <p:cNvPr id="6" name="label-1">
            <a:extLst xmlns:a="http://schemas.openxmlformats.org/drawingml/2006/main">
              <a:ext uri="{FF2B5EF4-FFF2-40B4-BE49-F238E27FC236}">
                <a16:creationId xmlns:a16="http://schemas.microsoft.com/office/drawing/2014/main" id="{400CBC27-3BD5-40A2-AEBE-D0655AAD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交互</a:t>
            </a:r>
          </a:p>
        </p:txBody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42469033-D295-437C-81AC-00014235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67075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空态、错误与筛选恢复方式不同</a:t>
            </a:r>
          </a:p>
        </p:txBody>
      </p:sp>
      <p:sp>
        <p:nvSpPr>
          <p:cNvPr id="8" name="label-2">
            <a:extLst xmlns:a="http://schemas.openxmlformats.org/drawingml/2006/main">
              <a:ext uri="{FF2B5EF4-FFF2-40B4-BE49-F238E27FC236}">
                <a16:creationId xmlns:a16="http://schemas.microsoft.com/office/drawing/2014/main" id="{7968DA9C-064D-4A08-BFDA-E3557142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手机</a:t>
            </a:r>
          </a:p>
        </p:txBody>
      </p:sp>
      <p:sp>
        <p:nvSpPr>
          <p:cNvPr id="9" name="body-2">
            <a:extLst xmlns:a="http://schemas.openxmlformats.org/drawingml/2006/main">
              <a:ext uri="{FF2B5EF4-FFF2-40B4-BE49-F238E27FC236}">
                <a16:creationId xmlns:a16="http://schemas.microsoft.com/office/drawing/2014/main" id="{8504A1D9-11FC-4ADE-9C2F-6EDDA8A5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95775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表格滚动和图表触屏又写了一套</a:t>
            </a:r>
          </a:p>
        </p:txBody>
      </p:sp>
      <p:sp>
        <p:nvSpPr>
          <p:cNvPr id="10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243C05A3-77E6-439F-B4F1-2730B86A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“统一一点”之外，你会给 AI 什么具体参照？</a:t>
            </a:r>
          </a:p>
        </p:txBody>
      </p:sp>
    </p:spTree>
    <p:extLst>
      <p:ext uri="{BB962C8B-B14F-4D97-AF65-F5344CB8AC3E}">
        <p14:creationId xmlns:p14="http://schemas.microsoft.com/office/powerpoint/2010/main" val="7945682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F02291-629B-48B7-B704-25F7A0DF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一张参考页与公共实现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2C7C8B4-4A03-48B2-8F1B-B47850E1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label-0">
            <a:extLst xmlns:a="http://schemas.openxmlformats.org/drawingml/2006/main">
              <a:ext uri="{FF2B5EF4-FFF2-40B4-BE49-F238E27FC236}">
                <a16:creationId xmlns:a16="http://schemas.microsoft.com/office/drawing/2014/main" id="{50D64440-D292-4ED5-882E-5F72B545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代表性页面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1F2BDC0A-A4E8-4F57-830E-8733E1E1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76450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常用控件与加载、空、错、权限、过期</a:t>
            </a:r>
          </a:p>
        </p:txBody>
      </p:sp>
      <p:sp>
        <p:nvSpPr>
          <p:cNvPr id="5" name="label-1">
            <a:extLst xmlns:a="http://schemas.openxmlformats.org/drawingml/2006/main">
              <a:ext uri="{FF2B5EF4-FFF2-40B4-BE49-F238E27FC236}">
                <a16:creationId xmlns:a16="http://schemas.microsoft.com/office/drawing/2014/main" id="{9BF39488-2D3C-4CFC-ABD3-251A32CD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设计规则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4A95F000-60AD-4E07-97A7-B7A1FF7F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43225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主题变量、尺寸、间距和数值表达</a:t>
            </a:r>
          </a:p>
        </p:txBody>
      </p:sp>
      <p:sp>
        <p:nvSpPr>
          <p:cNvPr id="7" name="label-2">
            <a:extLst xmlns:a="http://schemas.openxmlformats.org/drawingml/2006/main">
              <a:ext uri="{FF2B5EF4-FFF2-40B4-BE49-F238E27FC236}">
                <a16:creationId xmlns:a16="http://schemas.microsoft.com/office/drawing/2014/main" id="{113A7F52-1BB5-438D-A251-67937642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共享实现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04CE71B5-5F8C-4234-9893-B36CA03C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10000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表格、工具栏、表单与移动交互</a:t>
            </a:r>
          </a:p>
        </p:txBody>
      </p:sp>
      <p:sp>
        <p:nvSpPr>
          <p:cNvPr id="9" name="label-3">
            <a:extLst xmlns:a="http://schemas.openxmlformats.org/drawingml/2006/main">
              <a:ext uri="{FF2B5EF4-FFF2-40B4-BE49-F238E27FC236}">
                <a16:creationId xmlns:a16="http://schemas.microsoft.com/office/drawing/2014/main" id="{F05D78D2-FD65-4D28-B8F9-6F265B24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行为契约</a:t>
            </a:r>
          </a:p>
        </p:txBody>
      </p:sp>
      <p:sp>
        <p:nvSpPr>
          <p:cNvPr id="10" name="body-3">
            <a:extLst xmlns:a="http://schemas.openxmlformats.org/drawingml/2006/main">
              <a:ext uri="{FF2B5EF4-FFF2-40B4-BE49-F238E27FC236}">
                <a16:creationId xmlns:a16="http://schemas.microsoft.com/office/drawing/2014/main" id="{30304E7F-009A-410A-AB29-0B47D098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676775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状态保留、旧响应处理与缓存重绘</a:t>
            </a:r>
          </a:p>
        </p:txBody>
      </p:sp>
      <p:sp>
        <p:nvSpPr>
          <p:cNvPr id="11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C5262EAE-AB48-4979-8628-842165AC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公共不足扩展共享入口，页面保留字段宽度等业务差异</a:t>
            </a:r>
          </a:p>
        </p:txBody>
      </p:sp>
    </p:spTree>
    <p:extLst>
      <p:ext uri="{BB962C8B-B14F-4D97-AF65-F5344CB8AC3E}">
        <p14:creationId xmlns:p14="http://schemas.microsoft.com/office/powerpoint/2010/main" val="94983035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9EE37B-C61C-413E-988F-546EA65B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手机更好用了，哪些条件还要成立？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A7DA52C-B4C7-44B6-B503-42A709F5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6F8B4-0E69-49DA-9021-F20D55D5A935}"/>
              </a:ext>
            </a:extLst>
          </p:cNvPr>
          <p:cNvGraphicFramePr/>
          <p:nvPr/>
        </p:nvGraphicFramePr>
        <p:xfrm>
          <a:off xmlns:a="http://schemas.openxmlformats.org/drawingml/2006/main" x="685800" y="1952625"/>
          <a:ext xmlns:a="http://schemas.openxmlformats.org/drawingml/2006/main" cx="10820400" cy="36385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3619500"/>
                <a:gridCol w="7200900"/>
              </a:tblGrid>
              <a:tr h="72771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希望改善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需要同时核对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手机布局更紧凑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完整字段，宽内容局部横滑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操作更方便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触屏、键盘、焦点与弹窗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切换更顺畅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原状态、权限和旧响应处理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展示随尺寸变化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复用已取数据，桌面仍可操作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4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17F9CEC8-8AD3-4D94-AD0B-6579EEA6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练习：选一张页面，指出两项绝不能被简化掉的条件</a:t>
            </a:r>
          </a:p>
        </p:txBody>
      </p:sp>
    </p:spTree>
    <p:extLst>
      <p:ext uri="{BB962C8B-B14F-4D97-AF65-F5344CB8AC3E}">
        <p14:creationId xmlns:p14="http://schemas.microsoft.com/office/powerpoint/2010/main" val="158030632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1F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B63FDB-7438-4035-B3CC-6BCF8B95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增加一个市场，为什么到处都要改？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445A03E-1922-4771-8CF7-B4E5A6F2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DDDBAF19-2840-40E6-B7B2-898CB2DD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第一版的自然假设，扩展时变成了修改范围</a:t>
            </a:r>
          </a:p>
        </p:txBody>
      </p:sp>
      <p:sp>
        <p:nvSpPr>
          <p:cNvPr id="4" name="label-0">
            <a:extLst xmlns:a="http://schemas.openxmlformats.org/drawingml/2006/main">
              <a:ext uri="{FF2B5EF4-FFF2-40B4-BE49-F238E27FC236}">
                <a16:creationId xmlns:a16="http://schemas.microsoft.com/office/drawing/2014/main" id="{3CE67809-6AF4-4296-80B2-8E3047B2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对象代码</a:t>
            </a:r>
          </a:p>
        </p:txBody>
      </p:sp>
      <p:sp>
        <p:nvSpPr>
          <p:cNvPr id="5" name="body-0">
            <a:extLst xmlns:a="http://schemas.openxmlformats.org/drawingml/2006/main">
              <a:ext uri="{FF2B5EF4-FFF2-40B4-BE49-F238E27FC236}">
                <a16:creationId xmlns:a16="http://schemas.microsoft.com/office/drawing/2014/main" id="{E05D44B2-1E01-4D95-B8ED-B4D4CD74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90750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以前把一个供应商代码当唯一身份</a:t>
            </a:r>
          </a:p>
        </p:txBody>
      </p:sp>
      <p:sp>
        <p:nvSpPr>
          <p:cNvPr id="6" name="label-1">
            <a:extLst xmlns:a="http://schemas.openxmlformats.org/drawingml/2006/main">
              <a:ext uri="{FF2B5EF4-FFF2-40B4-BE49-F238E27FC236}">
                <a16:creationId xmlns:a16="http://schemas.microsoft.com/office/drawing/2014/main" id="{CDB2C2C5-0817-4932-9A00-CE038DCD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金额与时间</a:t>
            </a:r>
          </a:p>
        </p:txBody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4FF2EE47-64C1-4EC6-A663-574D78C0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19450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默认一种币种，日期直接取今天</a:t>
            </a:r>
          </a:p>
        </p:txBody>
      </p:sp>
      <p:sp>
        <p:nvSpPr>
          <p:cNvPr id="8" name="label-2">
            <a:extLst xmlns:a="http://schemas.openxmlformats.org/drawingml/2006/main">
              <a:ext uri="{FF2B5EF4-FFF2-40B4-BE49-F238E27FC236}">
                <a16:creationId xmlns:a16="http://schemas.microsoft.com/office/drawing/2014/main" id="{1F9D0633-93E5-40B6-BA58-9067413A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新功能</a:t>
            </a:r>
          </a:p>
        </p:txBody>
      </p:sp>
      <p:sp>
        <p:nvSpPr>
          <p:cNvPr id="9" name="body-2">
            <a:extLst xmlns:a="http://schemas.openxmlformats.org/drawingml/2006/main">
              <a:ext uri="{FF2B5EF4-FFF2-40B4-BE49-F238E27FC236}">
                <a16:creationId xmlns:a16="http://schemas.microsoft.com/office/drawing/2014/main" id="{6F7AD988-144D-46EA-B62A-E8650A15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48150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查询、计算、页面和任务都要改</a:t>
            </a:r>
          </a:p>
        </p:txBody>
      </p:sp>
      <p:sp>
        <p:nvSpPr>
          <p:cNvPr id="10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38692791-A483-4B6A-B7D4-6B29216B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你项目里有哪些“现在恰好成立”的假设？</a:t>
            </a:r>
          </a:p>
        </p:txBody>
      </p:sp>
    </p:spTree>
    <p:extLst>
      <p:ext uri="{BB962C8B-B14F-4D97-AF65-F5344CB8AC3E}">
        <p14:creationId xmlns:p14="http://schemas.microsoft.com/office/powerpoint/2010/main" val="194292228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40BC2B-E86A-4E86-A1CD-288C5D3A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变化的地方需要明确边界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D611161-3549-4596-A6E2-3A3945EE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5AB7C-7538-46A0-95BF-49A119720F56}"/>
              </a:ext>
            </a:extLst>
          </p:cNvPr>
          <p:cNvGraphicFramePr/>
          <p:nvPr/>
        </p:nvGraphicFramePr>
        <p:xfrm>
          <a:off xmlns:a="http://schemas.openxmlformats.org/drawingml/2006/main" x="685800" y="1952625"/>
          <a:ext xmlns:a="http://schemas.openxmlformats.org/drawingml/2006/main" cx="10820400" cy="38290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3619500"/>
                <a:gridCol w="7200900"/>
              </a:tblGrid>
              <a:tr h="6381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将来可能变化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第一版保留什么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代码与来源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内部 ID 与统一映射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字段与格式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正式列、证据与必要扩展区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时间与规则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业务日、事件/采集时刻与版本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业务入口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API、任务可复用的业务服务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用户与角色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所有权和服务端权限边界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4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9BD35DF8-1ED7-48AF-884C-96A4CF7F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新增前核对已有、可复用和缺口，扩展原入口</a:t>
            </a:r>
          </a:p>
        </p:txBody>
      </p:sp>
    </p:spTree>
    <p:extLst>
      <p:ext uri="{BB962C8B-B14F-4D97-AF65-F5344CB8AC3E}">
        <p14:creationId xmlns:p14="http://schemas.microsoft.com/office/powerpoint/2010/main" val="18049158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01F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6BBC82-9E31-428D-99EA-66075C7E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总资产和收益归因对不上，你会改哪里？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C914502-56FE-4E52-9DF8-34AB84FD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1CCAD6FA-918F-4C18-AE0A-9810DDEE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真实案例：休市时，两处结果出现差额</a:t>
            </a:r>
          </a:p>
        </p:txBody>
      </p:sp>
      <p:sp>
        <p:nvSpPr>
          <p:cNvPr id="4" name="label-0">
            <a:extLst xmlns:a="http://schemas.openxmlformats.org/drawingml/2006/main">
              <a:ext uri="{FF2B5EF4-FFF2-40B4-BE49-F238E27FC236}">
                <a16:creationId xmlns:a16="http://schemas.microsoft.com/office/drawing/2014/main" id="{81808AB9-C140-45C4-A8F9-D40E97D9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5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5" name="body-0">
            <a:extLst xmlns:a="http://schemas.openxmlformats.org/drawingml/2006/main">
              <a:ext uri="{FF2B5EF4-FFF2-40B4-BE49-F238E27FC236}">
                <a16:creationId xmlns:a16="http://schemas.microsoft.com/office/drawing/2014/main" id="{6C3429F1-8053-4ED9-9E74-208D6274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190750"/>
            <a:ext cx="95345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检查汇率是不是缺失</a:t>
            </a:r>
          </a:p>
        </p:txBody>
      </p:sp>
      <p:sp>
        <p:nvSpPr>
          <p:cNvPr id="6" name="label-1">
            <a:extLst xmlns:a="http://schemas.openxmlformats.org/drawingml/2006/main">
              <a:ext uri="{FF2B5EF4-FFF2-40B4-BE49-F238E27FC236}">
                <a16:creationId xmlns:a16="http://schemas.microsoft.com/office/drawing/2014/main" id="{A883A36B-9E81-4770-87C0-13C8CEAB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95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243AB89C-D1BD-40A0-9F2A-9CF44AEB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190875"/>
            <a:ext cx="95345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检查页面合计和展示</a:t>
            </a:r>
          </a:p>
        </p:txBody>
      </p:sp>
      <p:sp>
        <p:nvSpPr>
          <p:cNvPr id="8" name="label-2">
            <a:extLst xmlns:a="http://schemas.openxmlformats.org/drawingml/2006/main">
              <a:ext uri="{FF2B5EF4-FFF2-40B4-BE49-F238E27FC236}">
                <a16:creationId xmlns:a16="http://schemas.microsoft.com/office/drawing/2014/main" id="{4C498274-CFEF-4668-9319-50115B3C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95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9" name="body-2">
            <a:extLst xmlns:a="http://schemas.openxmlformats.org/drawingml/2006/main">
              <a:ext uri="{FF2B5EF4-FFF2-40B4-BE49-F238E27FC236}">
                <a16:creationId xmlns:a16="http://schemas.microsoft.com/office/drawing/2014/main" id="{A32D7614-676E-4DBD-B42A-CD9137BE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191000"/>
            <a:ext cx="95345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对照两边使用的价格输入</a:t>
            </a:r>
          </a:p>
        </p:txBody>
      </p:sp>
      <p:sp>
        <p:nvSpPr>
          <p:cNvPr id="10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514E7240-33B6-4884-813F-71E92E2F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先提出假设，再用两处计算的输入核对</a:t>
            </a:r>
          </a:p>
        </p:txBody>
      </p:sp>
    </p:spTree>
    <p:extLst>
      <p:ext uri="{BB962C8B-B14F-4D97-AF65-F5344CB8AC3E}">
        <p14:creationId xmlns:p14="http://schemas.microsoft.com/office/powerpoint/2010/main" val="209103888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5BCC55-1557-48BC-8861-8243440B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两种价格口径造成同一个差额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F58B5C9-4D54-40E1-86AC-80D99341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BA090-DE43-4FD7-A209-718FE51741EB}"/>
              </a:ext>
            </a:extLst>
          </p:cNvPr>
          <p:cNvGraphicFramePr/>
          <p:nvPr/>
        </p:nvGraphicFramePr>
        <p:xfrm>
          <a:off xmlns:a="http://schemas.openxmlformats.org/drawingml/2006/main" x="685800" y="1952625"/>
          <a:ext xmlns:a="http://schemas.openxmlformats.org/drawingml/2006/main" cx="10820400" cy="36195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3619500"/>
                <a:gridCol w="7200900"/>
              </a:tblGrid>
              <a:tr h="7239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使用的输入或处理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总资产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当前持仓价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休市收益归因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最近落库收盘价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原测试样本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两种价格相同，未暴露分支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修复与新反例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解释有证据的校准，覆盖价格不同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4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83123015-B713-42B4-96EF-3DA972B1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未知差额继续保留，正确口径与合计要共同验证</a:t>
            </a:r>
          </a:p>
        </p:txBody>
      </p:sp>
    </p:spTree>
    <p:extLst>
      <p:ext uri="{BB962C8B-B14F-4D97-AF65-F5344CB8AC3E}">
        <p14:creationId xmlns:p14="http://schemas.microsoft.com/office/powerpoint/2010/main" val="95488828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6AF249-9C25-4E10-86D7-D8FD9F16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本次改善与必须保持的条件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81F894B-C0A9-4CD2-9DA9-FFA0FAAC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CB238-4E2C-4547-8FA7-B120DDA348B8}"/>
              </a:ext>
            </a:extLst>
          </p:cNvPr>
          <p:cNvGraphicFramePr/>
          <p:nvPr/>
        </p:nvGraphicFramePr>
        <p:xfrm>
          <a:off xmlns:a="http://schemas.openxmlformats.org/drawingml/2006/main" x="685800" y="1952625"/>
          <a:ext xmlns:a="http://schemas.openxmlformats.org/drawingml/2006/main" cx="10820400" cy="36385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3619500"/>
                <a:gridCol w="7200900"/>
              </a:tblGrid>
              <a:tr h="72771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本次改善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还要同时成立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页面更快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日期、来源、权限正确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任务更稳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目标全覆盖，部分状态准确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手机更好用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字段、计算和桌面仍完整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少读资料、少用 token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必要约束与剩余事项能找到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4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DB89453D-A879-4A97-9FDA-4C1857E4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练习：为最近一个优化补一条“必须保持”，再设计反例</a:t>
            </a:r>
          </a:p>
        </p:txBody>
      </p:sp>
    </p:spTree>
    <p:extLst>
      <p:ext uri="{BB962C8B-B14F-4D97-AF65-F5344CB8AC3E}">
        <p14:creationId xmlns:p14="http://schemas.microsoft.com/office/powerpoint/2010/main" val="21002228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01F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854CB2-82CD-411C-AD11-A1AF9220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已经提醒第三遍，为什么还会再犯？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A7A00E6-826B-48AA-A985-3ED6F331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5994466A-9F11-4F0C-88C0-B0F1469C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再提醒一次之前，先核对这条规则怎样进入工作</a:t>
            </a:r>
          </a:p>
        </p:txBody>
      </p:sp>
      <p:sp>
        <p:nvSpPr>
          <p:cNvPr id="4" name="label-0">
            <a:extLst xmlns:a="http://schemas.openxmlformats.org/drawingml/2006/main">
              <a:ext uri="{FF2B5EF4-FFF2-40B4-BE49-F238E27FC236}">
                <a16:creationId xmlns:a16="http://schemas.microsoft.com/office/drawing/2014/main" id="{7123EFA5-FCD7-4EFB-8ED8-3AE87229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接续</a:t>
            </a:r>
          </a:p>
        </p:txBody>
      </p:sp>
      <p:sp>
        <p:nvSpPr>
          <p:cNvPr id="5" name="body-0">
            <a:extLst xmlns:a="http://schemas.openxmlformats.org/drawingml/2006/main">
              <a:ext uri="{FF2B5EF4-FFF2-40B4-BE49-F238E27FC236}">
                <a16:creationId xmlns:a16="http://schemas.microsoft.com/office/drawing/2014/main" id="{F0A8B9B9-384E-411A-B239-FE045CF2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28825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这次是否读到了当前规则？</a:t>
            </a:r>
          </a:p>
        </p:txBody>
      </p:sp>
      <p:sp>
        <p:nvSpPr>
          <p:cNvPr id="6" name="label-1">
            <a:extLst xmlns:a="http://schemas.openxmlformats.org/drawingml/2006/main">
              <a:ext uri="{FF2B5EF4-FFF2-40B4-BE49-F238E27FC236}">
                <a16:creationId xmlns:a16="http://schemas.microsoft.com/office/drawing/2014/main" id="{45803FAB-FB91-47EC-89E3-31828509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公共实现</a:t>
            </a:r>
          </a:p>
        </p:txBody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82ADF8BE-90D6-49B1-AF8C-0E1FD2B6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14650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相同逻辑是否又写了另一份？</a:t>
            </a:r>
          </a:p>
        </p:txBody>
      </p:sp>
      <p:sp>
        <p:nvSpPr>
          <p:cNvPr id="8" name="label-2">
            <a:extLst xmlns:a="http://schemas.openxmlformats.org/drawingml/2006/main">
              <a:ext uri="{FF2B5EF4-FFF2-40B4-BE49-F238E27FC236}">
                <a16:creationId xmlns:a16="http://schemas.microsoft.com/office/drawing/2014/main" id="{6849EF9C-AAF5-40D4-B7AC-B0653020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测试覆盖</a:t>
            </a:r>
          </a:p>
        </p:txBody>
      </p:sp>
      <p:sp>
        <p:nvSpPr>
          <p:cNvPr id="9" name="body-2">
            <a:extLst xmlns:a="http://schemas.openxmlformats.org/drawingml/2006/main">
              <a:ext uri="{FF2B5EF4-FFF2-40B4-BE49-F238E27FC236}">
                <a16:creationId xmlns:a16="http://schemas.microsoft.com/office/drawing/2014/main" id="{76FBBBCB-DE7C-44C6-B1BB-B1A1B9D1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00475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测试有没有覆盖旧错误的条件？</a:t>
            </a:r>
          </a:p>
        </p:txBody>
      </p:sp>
      <p:sp>
        <p:nvSpPr>
          <p:cNvPr id="10" name="label-3">
            <a:extLst xmlns:a="http://schemas.openxmlformats.org/drawingml/2006/main">
              <a:ext uri="{FF2B5EF4-FFF2-40B4-BE49-F238E27FC236}">
                <a16:creationId xmlns:a16="http://schemas.microsoft.com/office/drawing/2014/main" id="{B36E7C10-893C-4CAC-A991-0DA10798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运行</a:t>
            </a:r>
          </a:p>
        </p:txBody>
      </p:sp>
      <p:sp>
        <p:nvSpPr>
          <p:cNvPr id="11" name="body-3">
            <a:extLst xmlns:a="http://schemas.openxmlformats.org/drawingml/2006/main">
              <a:ext uri="{FF2B5EF4-FFF2-40B4-BE49-F238E27FC236}">
                <a16:creationId xmlns:a16="http://schemas.microsoft.com/office/drawing/2014/main" id="{563EF5CC-020E-48EF-8FFF-02027D46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686300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旧数据、缓存或进程是否还没更新？</a:t>
            </a:r>
          </a:p>
        </p:txBody>
      </p:sp>
      <p:sp>
        <p:nvSpPr>
          <p:cNvPr id="12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726AB92D-A235-49B3-80C9-1AD5BECB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哪一个方向有证据，哪一个还只是猜测？</a:t>
            </a:r>
          </a:p>
        </p:txBody>
      </p:sp>
    </p:spTree>
    <p:extLst>
      <p:ext uri="{BB962C8B-B14F-4D97-AF65-F5344CB8AC3E}">
        <p14:creationId xmlns:p14="http://schemas.microsoft.com/office/powerpoint/2010/main" val="128329239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1C04F8-AEA3-439D-B06F-AFE7B8D9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时区设置正确，日期仍然错了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5EFB169-A3F8-4E72-A859-40BFE671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A1D42-4196-4142-B237-524D4E349977}"/>
              </a:ext>
            </a:extLst>
          </p:cNvPr>
          <p:cNvGraphicFramePr/>
          <p:nvPr/>
        </p:nvGraphicFramePr>
        <p:xfrm>
          <a:off xmlns:a="http://schemas.openxmlformats.org/drawingml/2006/main" x="685800" y="1952625"/>
          <a:ext xmlns:a="http://schemas.openxmlformats.org/drawingml/2006/main" cx="10820400" cy="36385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3619500"/>
                <a:gridCol w="7200900"/>
              </a:tblGrid>
              <a:tr h="72771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核对项目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当时的结果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汇率数据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当天有效记录已经入库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服务器与数据库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时区均为 Asia/Shanghai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驱动返回日期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上海 09-25 午夜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错误转换后的键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UTC 日期成了 09-24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4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DF46173C-EBEC-42D2-8AFA-6FC81C09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重复运行无法修复逻辑，业务日期和真实时刻分别处理</a:t>
            </a:r>
          </a:p>
        </p:txBody>
      </p:sp>
    </p:spTree>
    <p:extLst>
      <p:ext uri="{BB962C8B-B14F-4D97-AF65-F5344CB8AC3E}">
        <p14:creationId xmlns:p14="http://schemas.microsoft.com/office/powerpoint/2010/main" val="170043066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092B46-32F9-4265-8C7F-7628F3DB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一条提醒怎样变成可验证的保护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AA16134-8D02-4319-8A8D-007769F8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D87D44-73E7-45D3-A4DD-280AFADC11DD}"/>
              </a:ext>
            </a:extLst>
          </p:cNvPr>
          <p:cNvGraphicFramePr/>
          <p:nvPr/>
        </p:nvGraphicFramePr>
        <p:xfrm>
          <a:off xmlns:a="http://schemas.openxmlformats.org/drawingml/2006/main" x="685800" y="1952625"/>
          <a:ext xmlns:a="http://schemas.openxmlformats.org/drawingml/2006/main" cx="10820400" cy="3819525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857500"/>
                <a:gridCol w="7962900"/>
              </a:tblGrid>
              <a:tr h="6365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需要连上的一段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可以核对的证据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6365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权威位置与适用条件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65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公共函数或数据库约束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65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反例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旧错误出现时检查确实失败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65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本地交付或 CI 真的运行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65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版本、环境、结果与剩余缺口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4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F60BDE47-67F5-4B05-830E-610DF077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仅文字、待接入、待验证和已验证分别记录</a:t>
            </a:r>
          </a:p>
        </p:txBody>
      </p:sp>
    </p:spTree>
    <p:extLst>
      <p:ext uri="{BB962C8B-B14F-4D97-AF65-F5344CB8AC3E}">
        <p14:creationId xmlns:p14="http://schemas.microsoft.com/office/powerpoint/2010/main" val="44528394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01F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E0AA2AF-7D0D-42BA-9F14-3B1C279C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换个会话，你会给 AI 哪份资料？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E559932-0DA4-458F-AC27-AF57D16B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1D1CB69C-9BC1-44A1-BBE2-533F4EA9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你希望它记住决定，也希望减少重复阅读</a:t>
            </a:r>
          </a:p>
        </p:txBody>
      </p:sp>
      <p:sp>
        <p:nvSpPr>
          <p:cNvPr id="4" name="label-0">
            <a:extLst xmlns:a="http://schemas.openxmlformats.org/drawingml/2006/main">
              <a:ext uri="{FF2B5EF4-FFF2-40B4-BE49-F238E27FC236}">
                <a16:creationId xmlns:a16="http://schemas.microsoft.com/office/drawing/2014/main" id="{BBA3C700-F601-4A78-B0DE-1945ED92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95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5" name="body-0">
            <a:extLst xmlns:a="http://schemas.openxmlformats.org/drawingml/2006/main">
              <a:ext uri="{FF2B5EF4-FFF2-40B4-BE49-F238E27FC236}">
                <a16:creationId xmlns:a16="http://schemas.microsoft.com/office/drawing/2014/main" id="{2B290037-DD54-4C16-8F11-A4AE0A87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209800"/>
            <a:ext cx="95345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所有历史聊天，尽量不遗漏</a:t>
            </a:r>
          </a:p>
        </p:txBody>
      </p:sp>
      <p:sp>
        <p:nvSpPr>
          <p:cNvPr id="6" name="label-1">
            <a:extLst xmlns:a="http://schemas.openxmlformats.org/drawingml/2006/main">
              <a:ext uri="{FF2B5EF4-FFF2-40B4-BE49-F238E27FC236}">
                <a16:creationId xmlns:a16="http://schemas.microsoft.com/office/drawing/2014/main" id="{F9D4237D-EE55-4246-8C8B-FD449083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95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C639F82F-33AE-4DB8-AF1C-0452DFE6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209925"/>
            <a:ext cx="95345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上一会话的总结，接续更快</a:t>
            </a:r>
          </a:p>
        </p:txBody>
      </p:sp>
      <p:sp>
        <p:nvSpPr>
          <p:cNvPr id="8" name="label-2">
            <a:extLst xmlns:a="http://schemas.openxmlformats.org/drawingml/2006/main">
              <a:ext uri="{FF2B5EF4-FFF2-40B4-BE49-F238E27FC236}">
                <a16:creationId xmlns:a16="http://schemas.microsoft.com/office/drawing/2014/main" id="{ACA84D11-0B6B-4219-A1EB-BC3612A6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95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9" name="body-2">
            <a:extLst xmlns:a="http://schemas.openxmlformats.org/drawingml/2006/main">
              <a:ext uri="{FF2B5EF4-FFF2-40B4-BE49-F238E27FC236}">
                <a16:creationId xmlns:a16="http://schemas.microsoft.com/office/drawing/2014/main" id="{6F31DB68-1520-4B74-8AAB-E5A3A029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210050"/>
            <a:ext cx="95345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当前知识入口与短任务卡</a:t>
            </a:r>
          </a:p>
        </p:txBody>
      </p:sp>
      <p:sp>
        <p:nvSpPr>
          <p:cNvPr id="10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45F3BACE-7CAF-41F7-B927-B43F59DD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它怎样分辨“当前事实”“旧方案”和“还没完成”？</a:t>
            </a:r>
          </a:p>
        </p:txBody>
      </p:sp>
    </p:spTree>
    <p:extLst>
      <p:ext uri="{BB962C8B-B14F-4D97-AF65-F5344CB8AC3E}">
        <p14:creationId xmlns:p14="http://schemas.microsoft.com/office/powerpoint/2010/main" val="71826448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00FF5B-45A2-46F1-A818-DF235311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当前事实有固定位置，历史按需回查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92E0389-1E57-4B3C-903D-624597F9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23209-159E-46D1-AC29-C0947B8C4C57}"/>
              </a:ext>
            </a:extLst>
          </p:cNvPr>
          <p:cNvGraphicFramePr/>
          <p:nvPr/>
        </p:nvGraphicFramePr>
        <p:xfrm>
          <a:off xmlns:a="http://schemas.openxmlformats.org/drawingml/2006/main" x="685800" y="2133600"/>
          <a:ext xmlns:a="http://schemas.openxmlformats.org/drawingml/2006/main" cx="10820400" cy="29337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3619500"/>
                <a:gridCol w="7200900"/>
              </a:tblGrid>
              <a:tr h="7334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起步文件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承担什么工作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AGENTS.md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规则、真实配置与完成标准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知识索引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主题入口与未完成去向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当前技术架构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实际模块、数据与运行边界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4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25CB4AB9-0E84-4C46-9327-CE62D5B7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同一机制服务记忆、token 和协作，决定/事故/任务按需增加</a:t>
            </a:r>
          </a:p>
        </p:txBody>
      </p:sp>
    </p:spTree>
    <p:extLst>
      <p:ext uri="{BB962C8B-B14F-4D97-AF65-F5344CB8AC3E}">
        <p14:creationId xmlns:p14="http://schemas.microsoft.com/office/powerpoint/2010/main" val="198685991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5A7035-1E14-4C07-AD99-F5C3B42C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一次小任务，需要读多少资料？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106096E-86FC-4F77-AB84-A977FBBB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3" name="label-0">
            <a:extLst xmlns:a="http://schemas.openxmlformats.org/drawingml/2006/main">
              <a:ext uri="{FF2B5EF4-FFF2-40B4-BE49-F238E27FC236}">
                <a16:creationId xmlns:a16="http://schemas.microsoft.com/office/drawing/2014/main" id="{A738A4AF-B2EB-4502-BEAD-43190B2D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开始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80CD64DA-CBF9-4E25-9C95-18D6FF9C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76450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规则、索引、基线与任务边界</a:t>
            </a:r>
          </a:p>
        </p:txBody>
      </p:sp>
      <p:sp>
        <p:nvSpPr>
          <p:cNvPr id="5" name="label-1">
            <a:extLst xmlns:a="http://schemas.openxmlformats.org/drawingml/2006/main">
              <a:ext uri="{FF2B5EF4-FFF2-40B4-BE49-F238E27FC236}">
                <a16:creationId xmlns:a16="http://schemas.microsoft.com/office/drawing/2014/main" id="{EA868B6B-EEE3-4AD1-A41B-EB333767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按需展开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BC9BCD9D-5E97-40FB-8B3F-A007FA5B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43225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命中章节、共享入口、代码和旧反例</a:t>
            </a:r>
          </a:p>
        </p:txBody>
      </p:sp>
      <p:sp>
        <p:nvSpPr>
          <p:cNvPr id="7" name="label-2">
            <a:extLst xmlns:a="http://schemas.openxmlformats.org/drawingml/2006/main">
              <a:ext uri="{FF2B5EF4-FFF2-40B4-BE49-F238E27FC236}">
                <a16:creationId xmlns:a16="http://schemas.microsoft.com/office/drawing/2014/main" id="{34E9F9DC-3C93-48F0-B954-D47D700C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必要时扩大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80C4AA45-60D2-46CC-BEAA-DDC60E19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10000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根因不明、跨模块与高风险</a:t>
            </a:r>
          </a:p>
        </p:txBody>
      </p:sp>
      <p:sp>
        <p:nvSpPr>
          <p:cNvPr id="9" name="label-3">
            <a:extLst xmlns:a="http://schemas.openxmlformats.org/drawingml/2006/main">
              <a:ext uri="{FF2B5EF4-FFF2-40B4-BE49-F238E27FC236}">
                <a16:creationId xmlns:a16="http://schemas.microsoft.com/office/drawing/2014/main" id="{26FFDD12-7E45-4893-876F-FAEA4030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收尾</a:t>
            </a:r>
          </a:p>
        </p:txBody>
      </p:sp>
      <p:sp>
        <p:nvSpPr>
          <p:cNvPr id="10" name="body-3">
            <a:extLst xmlns:a="http://schemas.openxmlformats.org/drawingml/2006/main">
              <a:ext uri="{FF2B5EF4-FFF2-40B4-BE49-F238E27FC236}">
                <a16:creationId xmlns:a16="http://schemas.microsoft.com/office/drawing/2014/main" id="{50DB1A39-7FE0-4FFE-BEC7-72B9A523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676775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原位更新事实，交接保留增量与剩余</a:t>
            </a:r>
          </a:p>
        </p:txBody>
      </p:sp>
      <p:sp>
        <p:nvSpPr>
          <p:cNvPr id="11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C7BB9684-C821-47F9-BF62-D94F4D9F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练习：换会话只给入口与任务卡，检查能否继续正确工作</a:t>
            </a:r>
          </a:p>
        </p:txBody>
      </p:sp>
    </p:spTree>
    <p:extLst>
      <p:ext uri="{BB962C8B-B14F-4D97-AF65-F5344CB8AC3E}">
        <p14:creationId xmlns:p14="http://schemas.microsoft.com/office/powerpoint/2010/main" val="1960620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01F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CC503C-114D-499B-A3AF-441C26C8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两个 Agent 都完成了，组合却失败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ACD6921-168E-4AF9-B920-FEAACB9C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BD412F1A-5CBE-4FE2-B010-E5E47CEB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假设前端、后端分别实现同一个新功能</a:t>
            </a:r>
          </a:p>
        </p:txBody>
      </p:sp>
      <p:sp>
        <p:nvSpPr>
          <p:cNvPr id="4" name="label-0">
            <a:extLst xmlns:a="http://schemas.openxmlformats.org/drawingml/2006/main">
              <a:ext uri="{FF2B5EF4-FFF2-40B4-BE49-F238E27FC236}">
                <a16:creationId xmlns:a16="http://schemas.microsoft.com/office/drawing/2014/main" id="{D58502A8-3636-49BC-835E-32B1AF89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前端预期</a:t>
            </a:r>
          </a:p>
        </p:txBody>
      </p:sp>
      <p:sp>
        <p:nvSpPr>
          <p:cNvPr id="5" name="body-0">
            <a:extLst xmlns:a="http://schemas.openxmlformats.org/drawingml/2006/main">
              <a:ext uri="{FF2B5EF4-FFF2-40B4-BE49-F238E27FC236}">
                <a16:creationId xmlns:a16="http://schemas.microsoft.com/office/drawing/2014/main" id="{70759697-F101-4D0D-A4A7-DF35B04F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09800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按 A 字段显示列表</a:t>
            </a:r>
          </a:p>
        </p:txBody>
      </p:sp>
      <p:sp>
        <p:nvSpPr>
          <p:cNvPr id="6" name="label-1">
            <a:extLst xmlns:a="http://schemas.openxmlformats.org/drawingml/2006/main">
              <a:ext uri="{FF2B5EF4-FFF2-40B4-BE49-F238E27FC236}">
                <a16:creationId xmlns:a16="http://schemas.microsoft.com/office/drawing/2014/main" id="{50D17127-2780-42FD-B67C-60223CE9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后端返回</a:t>
            </a:r>
          </a:p>
        </p:txBody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CF2B7DF6-9A67-4BA1-B45B-BFEF9261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19450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采用 B 字段与另一种空值语义</a:t>
            </a:r>
          </a:p>
        </p:txBody>
      </p:sp>
      <p:sp>
        <p:nvSpPr>
          <p:cNvPr id="8" name="label-2">
            <a:extLst xmlns:a="http://schemas.openxmlformats.org/drawingml/2006/main">
              <a:ext uri="{FF2B5EF4-FFF2-40B4-BE49-F238E27FC236}">
                <a16:creationId xmlns:a16="http://schemas.microsoft.com/office/drawing/2014/main" id="{8A273CE6-FB63-417B-9F17-1E029261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共同资源</a:t>
            </a:r>
          </a:p>
        </p:txBody>
      </p:sp>
      <p:sp>
        <p:nvSpPr>
          <p:cNvPr id="9" name="body-2">
            <a:extLst xmlns:a="http://schemas.openxmlformats.org/drawingml/2006/main">
              <a:ext uri="{FF2B5EF4-FFF2-40B4-BE49-F238E27FC236}">
                <a16:creationId xmlns:a16="http://schemas.microsoft.com/office/drawing/2014/main" id="{E5906992-0E68-4EDF-9E06-54A0F72A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29100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共享文件或测试库都有写入</a:t>
            </a:r>
          </a:p>
        </p:txBody>
      </p:sp>
      <p:sp>
        <p:nvSpPr>
          <p:cNvPr id="10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4688AEFF-8002-4897-8108-24F11270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分工前，哪些内容应由同一人协调？</a:t>
            </a:r>
          </a:p>
        </p:txBody>
      </p:sp>
    </p:spTree>
    <p:extLst>
      <p:ext uri="{BB962C8B-B14F-4D97-AF65-F5344CB8AC3E}">
        <p14:creationId xmlns:p14="http://schemas.microsoft.com/office/powerpoint/2010/main" val="127072677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E8F4C6-5823-4EAB-BCD4-2B36142D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共同契约与最终集成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89E4A18-8C55-44ED-9DCE-83C6CA59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A9033-9E19-476B-A865-D99E91F55584}"/>
              </a:ext>
            </a:extLst>
          </p:cNvPr>
          <p:cNvGraphicFramePr/>
          <p:nvPr/>
        </p:nvGraphicFramePr>
        <p:xfrm>
          <a:off xmlns:a="http://schemas.openxmlformats.org/drawingml/2006/main" x="685800" y="1952625"/>
          <a:ext xmlns:a="http://schemas.openxmlformats.org/drawingml/2006/main" cx="10820400" cy="36385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3810000"/>
                <a:gridCol w="7010400"/>
              </a:tblGrid>
              <a:tr h="72771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分工前约定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怎样判断组合成功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共同契约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字段、语义、权限与完成条件一致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写入边界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每人可写文件与依赖明确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共享资源负责人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迁移、样式、锁文件和环境协调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最终集成者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合并后完整链路共同验收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4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48744336-2405-479F-836C-1B0085CC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文件隔离之外，数据库、端口和外部副作用单独安排</a:t>
            </a:r>
          </a:p>
        </p:txBody>
      </p:sp>
    </p:spTree>
    <p:extLst>
      <p:ext uri="{BB962C8B-B14F-4D97-AF65-F5344CB8AC3E}">
        <p14:creationId xmlns:p14="http://schemas.microsoft.com/office/powerpoint/2010/main" val="193141054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01F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75046FB-081E-4236-8807-CBA1F3CE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测试通过，用户为什么还看到旧问题？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522DB48-A86E-4566-876B-224F53F7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66B01EB4-4BD9-4B61-8297-B6D7B7B1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代码改了，测试也通过了，用户感受的是运行组合</a:t>
            </a:r>
          </a:p>
        </p:txBody>
      </p:sp>
      <p:sp>
        <p:nvSpPr>
          <p:cNvPr id="4" name="label-0">
            <a:extLst xmlns:a="http://schemas.openxmlformats.org/drawingml/2006/main">
              <a:ext uri="{FF2B5EF4-FFF2-40B4-BE49-F238E27FC236}">
                <a16:creationId xmlns:a16="http://schemas.microsoft.com/office/drawing/2014/main" id="{70CF1761-F1FA-4669-90CC-B068C44A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Web 与资源</a:t>
            </a:r>
          </a:p>
        </p:txBody>
      </p:sp>
      <p:sp>
        <p:nvSpPr>
          <p:cNvPr id="5" name="body-0">
            <a:extLst xmlns:a="http://schemas.openxmlformats.org/drawingml/2006/main">
              <a:ext uri="{FF2B5EF4-FFF2-40B4-BE49-F238E27FC236}">
                <a16:creationId xmlns:a16="http://schemas.microsoft.com/office/drawing/2014/main" id="{480A6964-5731-4F9B-ABB7-7B3CD0C6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09800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进程或静态文件仍可能是旧版本</a:t>
            </a:r>
          </a:p>
        </p:txBody>
      </p:sp>
      <p:sp>
        <p:nvSpPr>
          <p:cNvPr id="6" name="label-1">
            <a:extLst xmlns:a="http://schemas.openxmlformats.org/drawingml/2006/main">
              <a:ext uri="{FF2B5EF4-FFF2-40B4-BE49-F238E27FC236}">
                <a16:creationId xmlns:a16="http://schemas.microsoft.com/office/drawing/2014/main" id="{6DDFF753-C79F-4318-A874-6C506F14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28975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Worker</a:t>
            </a:r>
          </a:p>
        </p:txBody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81C74444-3575-456A-BBDA-0F9E7D38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28975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任务定义或进程版本可能没更新</a:t>
            </a:r>
          </a:p>
        </p:txBody>
      </p:sp>
      <p:sp>
        <p:nvSpPr>
          <p:cNvPr id="8" name="label-2">
            <a:extLst xmlns:a="http://schemas.openxmlformats.org/drawingml/2006/main">
              <a:ext uri="{FF2B5EF4-FFF2-40B4-BE49-F238E27FC236}">
                <a16:creationId xmlns:a16="http://schemas.microsoft.com/office/drawing/2014/main" id="{F8A2209A-9005-4DB0-90CD-A84E6BAF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数据库</a:t>
            </a:r>
          </a:p>
        </p:txBody>
      </p:sp>
      <p:sp>
        <p:nvSpPr>
          <p:cNvPr id="9" name="body-2">
            <a:extLst xmlns:a="http://schemas.openxmlformats.org/drawingml/2006/main">
              <a:ext uri="{FF2B5EF4-FFF2-40B4-BE49-F238E27FC236}">
                <a16:creationId xmlns:a16="http://schemas.microsoft.com/office/drawing/2014/main" id="{2B0E3E41-0520-49D1-8BFE-8914FCD8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48150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存量事实、配置与迁移仍需核对</a:t>
            </a:r>
          </a:p>
        </p:txBody>
      </p:sp>
      <p:sp>
        <p:nvSpPr>
          <p:cNvPr id="10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9EDB0359-D8C0-4483-9C91-1223B740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“已经完成”的证据，除了测试还需要什么？</a:t>
            </a:r>
          </a:p>
        </p:txBody>
      </p:sp>
    </p:spTree>
    <p:extLst>
      <p:ext uri="{BB962C8B-B14F-4D97-AF65-F5344CB8AC3E}">
        <p14:creationId xmlns:p14="http://schemas.microsoft.com/office/powerpoint/2010/main" val="67979651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0FE541-8CBC-4218-8ADE-824B17CF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完成要落到实际运行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0F80FDB-8E2E-47A2-80AE-9CAADF43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3" name="label-0">
            <a:extLst xmlns:a="http://schemas.openxmlformats.org/drawingml/2006/main">
              <a:ext uri="{FF2B5EF4-FFF2-40B4-BE49-F238E27FC236}">
                <a16:creationId xmlns:a16="http://schemas.microsoft.com/office/drawing/2014/main" id="{7D0532FC-C9CD-4745-BC1E-8284B9C8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版本一致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C3E69B45-831D-4BF5-BF68-4ED81C54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76450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提交、健康版本和静态资源匹配</a:t>
            </a:r>
          </a:p>
        </p:txBody>
      </p:sp>
      <p:sp>
        <p:nvSpPr>
          <p:cNvPr id="5" name="label-1">
            <a:extLst xmlns:a="http://schemas.openxmlformats.org/drawingml/2006/main">
              <a:ext uri="{FF2B5EF4-FFF2-40B4-BE49-F238E27FC236}">
                <a16:creationId xmlns:a16="http://schemas.microsoft.com/office/drawing/2014/main" id="{B7B94335-1B2C-4D12-8339-86E4B40E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功能可用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0AB1DAC0-FF4E-4DF0-9602-3AF91D91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43225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目标接口与页面字段符合预期</a:t>
            </a:r>
          </a:p>
        </p:txBody>
      </p:sp>
      <p:sp>
        <p:nvSpPr>
          <p:cNvPr id="7" name="label-2">
            <a:extLst xmlns:a="http://schemas.openxmlformats.org/drawingml/2006/main">
              <a:ext uri="{FF2B5EF4-FFF2-40B4-BE49-F238E27FC236}">
                <a16:creationId xmlns:a16="http://schemas.microsoft.com/office/drawing/2014/main" id="{22C56690-9FDB-4A75-86FD-9AB89CD3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任务有产出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324BA972-3746-4812-8294-6548A98E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10000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目标分区、质量和剩余状态正确</a:t>
            </a:r>
          </a:p>
        </p:txBody>
      </p:sp>
      <p:sp>
        <p:nvSpPr>
          <p:cNvPr id="9" name="label-3">
            <a:extLst xmlns:a="http://schemas.openxmlformats.org/drawingml/2006/main">
              <a:ext uri="{FF2B5EF4-FFF2-40B4-BE49-F238E27FC236}">
                <a16:creationId xmlns:a16="http://schemas.microsoft.com/office/drawing/2014/main" id="{BBF91A36-414B-4406-B708-7523D96D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范围真实</a:t>
            </a:r>
          </a:p>
        </p:txBody>
      </p:sp>
      <p:sp>
        <p:nvSpPr>
          <p:cNvPr id="10" name="body-3">
            <a:extLst xmlns:a="http://schemas.openxmlformats.org/drawingml/2006/main">
              <a:ext uri="{FF2B5EF4-FFF2-40B4-BE49-F238E27FC236}">
                <a16:creationId xmlns:a16="http://schemas.microsoft.com/office/drawing/2014/main" id="{7A02EE41-CF23-46F3-ABC7-A032ED44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676775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权限、同类、未验证与恢复有记录</a:t>
            </a:r>
          </a:p>
        </p:txBody>
      </p:sp>
      <p:sp>
        <p:nvSpPr>
          <p:cNvPr id="11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BB001FB9-49A2-4E80-A5DC-61ED222F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健康接口提供部分证据，业务结果还需要核查</a:t>
            </a:r>
          </a:p>
        </p:txBody>
      </p:sp>
    </p:spTree>
    <p:extLst>
      <p:ext uri="{BB962C8B-B14F-4D97-AF65-F5344CB8AC3E}">
        <p14:creationId xmlns:p14="http://schemas.microsoft.com/office/powerpoint/2010/main" val="72766179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71C10B-74D4-4FF0-8935-200FF36D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一次标准发布的放行证据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C76A224-8978-42C3-A0D7-40A0B6E8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38455-912A-4ED2-86A2-03EA00CC4CE1}"/>
              </a:ext>
            </a:extLst>
          </p:cNvPr>
          <p:cNvGraphicFramePr/>
          <p:nvPr/>
        </p:nvGraphicFramePr>
        <p:xfrm>
          <a:off xmlns:a="http://schemas.openxmlformats.org/drawingml/2006/main" x="685800" y="1952625"/>
          <a:ext xmlns:a="http://schemas.openxmlformats.org/drawingml/2006/main" cx="10820400" cy="38100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3524250"/>
                <a:gridCol w="7296150"/>
              </a:tblGrid>
              <a:tr h="635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发布走到哪里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可以继续的依据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版本与检查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记录、代码、适用检查一致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正式提交推送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精确范围，目标提交可追溯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标准部署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配置、迁移、服务按受控入口执行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部署后验收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版本、服务、字段、任务与质量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失败恢复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明确触发、步骤与恢复后的证据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4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AD219820-9BDD-41F4-BAE3-698EB3EF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生产写入按本次需要与明确授权的对象、日期和范围执行</a:t>
            </a:r>
          </a:p>
        </p:txBody>
      </p:sp>
    </p:spTree>
    <p:extLst>
      <p:ext uri="{BB962C8B-B14F-4D97-AF65-F5344CB8AC3E}">
        <p14:creationId xmlns:p14="http://schemas.microsoft.com/office/powerpoint/2010/main" val="19897575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730E3D3-6026-424C-9A73-CED689D7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备份文件生成了，能恢复吗？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CEF9737-DFD3-416C-927B-DF884E4C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FFC7EEC4-7B4C-4D04-A0BC-DC70B944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把恢复当作一次独立的用户流程来核对</a:t>
            </a:r>
          </a:p>
        </p:txBody>
      </p:sp>
      <p:sp>
        <p:nvSpPr>
          <p:cNvPr id="4" name="label-0">
            <a:extLst xmlns:a="http://schemas.openxmlformats.org/drawingml/2006/main">
              <a:ext uri="{FF2B5EF4-FFF2-40B4-BE49-F238E27FC236}">
                <a16:creationId xmlns:a16="http://schemas.microsoft.com/office/drawing/2014/main" id="{15F7DC4B-02F6-4264-9751-CE6E0942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恢复材料</a:t>
            </a:r>
          </a:p>
        </p:txBody>
      </p:sp>
      <p:sp>
        <p:nvSpPr>
          <p:cNvPr id="5" name="body-0">
            <a:extLst xmlns:a="http://schemas.openxmlformats.org/drawingml/2006/main">
              <a:ext uri="{FF2B5EF4-FFF2-40B4-BE49-F238E27FC236}">
                <a16:creationId xmlns:a16="http://schemas.microsoft.com/office/drawing/2014/main" id="{DC4AC871-9730-4080-8E4A-60003903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76450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数据库、配置与必要模型/文件齐全</a:t>
            </a:r>
          </a:p>
        </p:txBody>
      </p:sp>
      <p:sp>
        <p:nvSpPr>
          <p:cNvPr id="6" name="label-1">
            <a:extLst xmlns:a="http://schemas.openxmlformats.org/drawingml/2006/main">
              <a:ext uri="{FF2B5EF4-FFF2-40B4-BE49-F238E27FC236}">
                <a16:creationId xmlns:a16="http://schemas.microsoft.com/office/drawing/2014/main" id="{D49CDCB2-EB9A-4AA4-A53F-F0FAE80E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隔离恢复</a:t>
            </a:r>
          </a:p>
        </p:txBody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CBD1E206-3071-4A90-918F-A0324DA3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43225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在隔离环境按步骤恢复并对账</a:t>
            </a:r>
          </a:p>
        </p:txBody>
      </p:sp>
      <p:sp>
        <p:nvSpPr>
          <p:cNvPr id="8" name="label-2">
            <a:extLst xmlns:a="http://schemas.openxmlformats.org/drawingml/2006/main">
              <a:ext uri="{FF2B5EF4-FFF2-40B4-BE49-F238E27FC236}">
                <a16:creationId xmlns:a16="http://schemas.microsoft.com/office/drawing/2014/main" id="{2C9F6476-EDE4-4F61-A2BB-FF80E896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核心流程</a:t>
            </a:r>
          </a:p>
        </p:txBody>
      </p:sp>
      <p:sp>
        <p:nvSpPr>
          <p:cNvPr id="9" name="body-2">
            <a:extLst xmlns:a="http://schemas.openxmlformats.org/drawingml/2006/main">
              <a:ext uri="{FF2B5EF4-FFF2-40B4-BE49-F238E27FC236}">
                <a16:creationId xmlns:a16="http://schemas.microsoft.com/office/drawing/2014/main" id="{36F925B8-62B0-4CDA-9C6F-7F28AAED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10000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登录、读取、写入与权限可验证</a:t>
            </a:r>
          </a:p>
        </p:txBody>
      </p:sp>
      <p:sp>
        <p:nvSpPr>
          <p:cNvPr id="10" name="label-3">
            <a:extLst xmlns:a="http://schemas.openxmlformats.org/drawingml/2006/main">
              <a:ext uri="{FF2B5EF4-FFF2-40B4-BE49-F238E27FC236}">
                <a16:creationId xmlns:a16="http://schemas.microsoft.com/office/drawing/2014/main" id="{4C2E17C3-FF52-4369-B27A-D5C45D36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真实记录</a:t>
            </a:r>
          </a:p>
        </p:txBody>
      </p:sp>
      <p:sp>
        <p:nvSpPr>
          <p:cNvPr id="11" name="body-3">
            <a:extLst xmlns:a="http://schemas.openxmlformats.org/drawingml/2006/main">
              <a:ext uri="{FF2B5EF4-FFF2-40B4-BE49-F238E27FC236}">
                <a16:creationId xmlns:a16="http://schemas.microsoft.com/office/drawing/2014/main" id="{19DDD537-FB99-48F2-B7A9-26535DA0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676775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实际耗时、缺项与未演练范围</a:t>
            </a:r>
          </a:p>
        </p:txBody>
      </p:sp>
      <p:sp>
        <p:nvSpPr>
          <p:cNvPr id="12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E0EBB643-6287-4593-AA43-09ED3DC0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练习：列出你的恢复需要哪些材料，哪一项还没验证</a:t>
            </a:r>
          </a:p>
        </p:txBody>
      </p:sp>
    </p:spTree>
    <p:extLst>
      <p:ext uri="{BB962C8B-B14F-4D97-AF65-F5344CB8AC3E}">
        <p14:creationId xmlns:p14="http://schemas.microsoft.com/office/powerpoint/2010/main" val="40161803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101F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50657AD-01CC-45B5-A954-C7A2F9DD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你的下一项功能任务卡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75DD51B-B4A8-4182-80B3-A6A69371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7BCBF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3" name="intro">
            <a:extLst xmlns:a="http://schemas.openxmlformats.org/drawingml/2006/main">
              <a:ext uri="{FF2B5EF4-FFF2-40B4-BE49-F238E27FC236}">
                <a16:creationId xmlns:a16="http://schemas.microsoft.com/office/drawing/2014/main" id="{CA844D68-3148-406F-9679-0A609C40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假设新增“导入外部记录并展示列表”</a:t>
            </a:r>
          </a:p>
        </p:txBody>
      </p:sp>
      <p:sp>
        <p:nvSpPr>
          <p:cNvPr id="4" name="label-0">
            <a:extLst xmlns:a="http://schemas.openxmlformats.org/drawingml/2006/main">
              <a:ext uri="{FF2B5EF4-FFF2-40B4-BE49-F238E27FC236}">
                <a16:creationId xmlns:a16="http://schemas.microsoft.com/office/drawing/2014/main" id="{21B19935-6813-4A3C-82EE-38E02248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用户与范围</a:t>
            </a:r>
          </a:p>
        </p:txBody>
      </p:sp>
      <p:sp>
        <p:nvSpPr>
          <p:cNvPr id="5" name="body-0">
            <a:extLst xmlns:a="http://schemas.openxmlformats.org/drawingml/2006/main">
              <a:ext uri="{FF2B5EF4-FFF2-40B4-BE49-F238E27FC236}">
                <a16:creationId xmlns:a16="http://schemas.microsoft.com/office/drawing/2014/main" id="{38EC8082-BD10-4679-8ADB-D3263745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57400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第一版怎样算完成？</a:t>
            </a:r>
          </a:p>
        </p:txBody>
      </p:sp>
      <p:sp>
        <p:nvSpPr>
          <p:cNvPr id="6" name="label-1">
            <a:extLst xmlns:a="http://schemas.openxmlformats.org/drawingml/2006/main">
              <a:ext uri="{FF2B5EF4-FFF2-40B4-BE49-F238E27FC236}">
                <a16:creationId xmlns:a16="http://schemas.microsoft.com/office/drawing/2014/main" id="{EB0F1508-DAC9-43FC-9A01-C1791732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数据与展示</a:t>
            </a:r>
          </a:p>
        </p:txBody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7D0BFDD6-8518-41AB-BA57-19CCE098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33700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写入归谁，页面复用哪里？</a:t>
            </a:r>
          </a:p>
        </p:txBody>
      </p:sp>
      <p:sp>
        <p:nvSpPr>
          <p:cNvPr id="8" name="label-2">
            <a:extLst xmlns:a="http://schemas.openxmlformats.org/drawingml/2006/main">
              <a:ext uri="{FF2B5EF4-FFF2-40B4-BE49-F238E27FC236}">
                <a16:creationId xmlns:a16="http://schemas.microsoft.com/office/drawing/2014/main" id="{6C51498B-BE9C-4FBD-AB02-A1EF19D1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共同条件</a:t>
            </a:r>
          </a:p>
        </p:txBody>
      </p:sp>
      <p:sp>
        <p:nvSpPr>
          <p:cNvPr id="9" name="body-2">
            <a:extLst xmlns:a="http://schemas.openxmlformats.org/drawingml/2006/main">
              <a:ext uri="{FF2B5EF4-FFF2-40B4-BE49-F238E27FC236}">
                <a16:creationId xmlns:a16="http://schemas.microsoft.com/office/drawing/2014/main" id="{68EB2087-725B-4D48-B90A-6F48E1EA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10000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优化后哪些能力还要保持？</a:t>
            </a:r>
          </a:p>
        </p:txBody>
      </p:sp>
      <p:sp>
        <p:nvSpPr>
          <p:cNvPr id="10" name="label-3">
            <a:extLst xmlns:a="http://schemas.openxmlformats.org/drawingml/2006/main">
              <a:ext uri="{FF2B5EF4-FFF2-40B4-BE49-F238E27FC236}">
                <a16:creationId xmlns:a16="http://schemas.microsoft.com/office/drawing/2014/main" id="{8E7AF964-617A-4FD4-AB6C-278E9B8C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5CDAC4"/>
                </a:solidFill>
                <a:latin typeface="Microsoft YaHei"/>
                <a:ea typeface="Microsoft YaHei"/>
                <a:cs typeface="Microsoft YaHei"/>
              </a:rPr>
              <a:t>运行与接续</a:t>
            </a:r>
          </a:p>
        </p:txBody>
      </p:sp>
      <p:sp>
        <p:nvSpPr>
          <p:cNvPr id="11" name="body-3">
            <a:extLst xmlns:a="http://schemas.openxmlformats.org/drawingml/2006/main">
              <a:ext uri="{FF2B5EF4-FFF2-40B4-BE49-F238E27FC236}">
                <a16:creationId xmlns:a16="http://schemas.microsoft.com/office/drawing/2014/main" id="{FD31E64C-CE33-42B5-8B22-FD341CD9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686300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怎样验收、恢复，换会话怎样继续？</a:t>
            </a:r>
          </a:p>
        </p:txBody>
      </p:sp>
      <p:sp>
        <p:nvSpPr>
          <p:cNvPr id="12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51229C78-A00A-400A-BA5F-6063CD22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8D6D9"/>
                </a:solidFill>
                <a:latin typeface="Microsoft YaHei"/>
                <a:ea typeface="Microsoft YaHei"/>
                <a:cs typeface="Microsoft YaHei"/>
              </a:rPr>
              <a:t>先写自己的答案，再看下一页的参考做法</a:t>
            </a:r>
          </a:p>
        </p:txBody>
      </p:sp>
    </p:spTree>
    <p:extLst>
      <p:ext uri="{BB962C8B-B14F-4D97-AF65-F5344CB8AC3E}">
        <p14:creationId xmlns:p14="http://schemas.microsoft.com/office/powerpoint/2010/main" val="97680493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958884-0229-4527-8B13-0D8DA212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一个导入功能的参考做法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8C169F1-499C-47C8-9283-57374FA0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B913F3-E875-4CD2-8A14-A9C62944AEA4}"/>
              </a:ext>
            </a:extLst>
          </p:cNvPr>
          <p:cNvGraphicFramePr/>
          <p:nvPr/>
        </p:nvGraphicFramePr>
        <p:xfrm>
          <a:off xmlns:a="http://schemas.openxmlformats.org/drawingml/2006/main" x="685800" y="1952625"/>
          <a:ext xmlns:a="http://schemas.openxmlformats.org/drawingml/2006/main" cx="10820400" cy="38100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4191000"/>
                <a:gridCol w="6629400"/>
              </a:tblGrid>
              <a:tr h="635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你要解决的问题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示例做法</a:t>
                      </a:r>
                    </a:p>
                  </a:txBody>
                  <a:tcPr marL="171450" marR="171450" marT="114300" marB="114300" anchor="ctr">
                    <a:solidFill>
                      <a:srgbClr val="101F34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第一次导入与重复导入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统一写入，身份/日期/唯一键明确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中断、失败与重启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保留事实，保存进度并续跑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新页面与手机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复用代表页、状态与共享控件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新功能与旧能力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共同条件、反例和同类验收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换会话与实际交付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原位知识、短交接、运行与恢复</a:t>
                      </a:r>
                    </a:p>
                  </a:txBody>
                  <a:tcPr marL="171450" marR="171450" marT="114300" marB="114300" anchor="ctr"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4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26363CD2-2565-4ABB-BBF3-99F32C6D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比较你的答案：缺哪段证据，就先补哪段能力</a:t>
            </a:r>
          </a:p>
        </p:txBody>
      </p:sp>
    </p:spTree>
    <p:extLst>
      <p:ext uri="{BB962C8B-B14F-4D97-AF65-F5344CB8AC3E}">
        <p14:creationId xmlns:p14="http://schemas.microsoft.com/office/powerpoint/2010/main" val="195147614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FC0455-3A8C-4C1A-889F-A060475A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1F34"/>
                </a:solidFill>
                <a:latin typeface="Microsoft YaHei"/>
                <a:ea typeface="Microsoft YaHei"/>
                <a:cs typeface="Microsoft YaHei"/>
              </a:rPr>
              <a:t>你项目的下一次实践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2C46014-BFD8-411C-953E-723DB295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3" name="label-0">
            <a:extLst xmlns:a="http://schemas.openxmlformats.org/drawingml/2006/main">
              <a:ext uri="{FF2B5EF4-FFF2-40B4-BE49-F238E27FC236}">
                <a16:creationId xmlns:a16="http://schemas.microsoft.com/office/drawing/2014/main" id="{CBAAEFC9-D87C-4187-9C0E-17BDA1E4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选一个真实问题</a:t>
            </a:r>
          </a:p>
        </p:txBody>
      </p:sp>
      <p:sp>
        <p:nvSpPr>
          <p:cNvPr id="4" name="body-0">
            <a:extLst xmlns:a="http://schemas.openxmlformats.org/drawingml/2006/main">
              <a:ext uri="{FF2B5EF4-FFF2-40B4-BE49-F238E27FC236}">
                <a16:creationId xmlns:a16="http://schemas.microsoft.com/office/drawing/2014/main" id="{9EEC0CF8-5D5C-4DF1-B6BE-47A507EA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76450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记录现象、影响和用户流程</a:t>
            </a:r>
          </a:p>
        </p:txBody>
      </p:sp>
      <p:sp>
        <p:nvSpPr>
          <p:cNvPr id="5" name="label-1">
            <a:extLst xmlns:a="http://schemas.openxmlformats.org/drawingml/2006/main">
              <a:ext uri="{FF2B5EF4-FFF2-40B4-BE49-F238E27FC236}">
                <a16:creationId xmlns:a16="http://schemas.microsoft.com/office/drawing/2014/main" id="{79896308-6D14-481A-BFE2-4E457EAD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让 AI 核对现状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300A63E2-4248-4611-A7CC-C4CD66F3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43225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已有能力、复用入口和真正缺口</a:t>
            </a:r>
          </a:p>
        </p:txBody>
      </p:sp>
      <p:sp>
        <p:nvSpPr>
          <p:cNvPr id="7" name="label-2">
            <a:extLst xmlns:a="http://schemas.openxmlformats.org/drawingml/2006/main">
              <a:ext uri="{FF2B5EF4-FFF2-40B4-BE49-F238E27FC236}">
                <a16:creationId xmlns:a16="http://schemas.microsoft.com/office/drawing/2014/main" id="{CB2780A8-AA4C-438A-8CE2-F81BB24F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生成具体做法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D979B348-0D29-4674-AB23-1086E9D5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10000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实际文件、契约、检查与运行证据</a:t>
            </a:r>
          </a:p>
        </p:txBody>
      </p:sp>
      <p:sp>
        <p:nvSpPr>
          <p:cNvPr id="9" name="label-3">
            <a:extLst xmlns:a="http://schemas.openxmlformats.org/drawingml/2006/main">
              <a:ext uri="{FF2B5EF4-FFF2-40B4-BE49-F238E27FC236}">
                <a16:creationId xmlns:a16="http://schemas.microsoft.com/office/drawing/2014/main" id="{21F4C0CC-D846-4245-89C5-A229478C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2428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877E"/>
                </a:solidFill>
                <a:latin typeface="Microsoft YaHei"/>
                <a:ea typeface="Microsoft YaHei"/>
                <a:cs typeface="Microsoft YaHei"/>
              </a:rPr>
              <a:t>按反馈增加机制</a:t>
            </a:r>
          </a:p>
        </p:txBody>
      </p:sp>
      <p:sp>
        <p:nvSpPr>
          <p:cNvPr id="10" name="body-3">
            <a:extLst xmlns:a="http://schemas.openxmlformats.org/drawingml/2006/main">
              <a:ext uri="{FF2B5EF4-FFF2-40B4-BE49-F238E27FC236}">
                <a16:creationId xmlns:a16="http://schemas.microsoft.com/office/drawing/2014/main" id="{C7DE5725-ABA2-43DE-B282-1C0E543C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676775"/>
            <a:ext cx="8058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每次建设都说明解决了哪种困难</a:t>
            </a:r>
          </a:p>
        </p:txBody>
      </p:sp>
      <p:sp>
        <p:nvSpPr>
          <p:cNvPr id="11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24C846E6-EB9B-4D17-B410-F508C7C5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674"/>
                </a:solidFill>
                <a:latin typeface="Microsoft YaHei"/>
                <a:ea typeface="Microsoft YaHei"/>
                <a:cs typeface="Microsoft YaHei"/>
              </a:rPr>
              <a:t>完整复制模板与项目适配提示词见分享正文和对应讲者备注</a:t>
            </a:r>
          </a:p>
        </p:txBody>
      </p:sp>
    </p:spTree>
    <p:extLst>
      <p:ext uri="{BB962C8B-B14F-4D97-AF65-F5344CB8AC3E}">
        <p14:creationId xmlns:p14="http://schemas.microsoft.com/office/powerpoint/2010/main" val="13395031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2026-10-09T11:15:22.7870000Z</dcterms:created>
  <dcterms:modified xsi:type="dcterms:W3CDTF">2026-10-09T11:15:22.7870000Z</dcterms:modified>
</coreProperties>
</file>