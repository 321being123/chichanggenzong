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7b3de248d4583" /><Relationship Type="http://schemas.openxmlformats.org/officeDocument/2006/relationships/extended-properties" Target="/docProps/app.xml" Id="R0bde31a7ac6d41bc" /><Relationship Type="http://schemas.openxmlformats.org/officeDocument/2006/relationships/officeDocument" Target="/ppt/presentation.xml" Id="R6bef99de22f8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63a046e7d440a8"/>
  </p:sldMasterIdLst>
  <p:notesMasterIdLst>
    <p:notesMasterId xmlns:r="http://schemas.openxmlformats.org/officeDocument/2006/relationships" r:id="Rb9c7c17c1ca740c9"/>
  </p:notesMasterIdLst>
  <p:sldIdLst>
    <p:sldId xmlns:r="http://schemas.openxmlformats.org/officeDocument/2006/relationships" id="256" r:id="Rb0e0040f9aba40f1"/>
    <p:sldId xmlns:r="http://schemas.openxmlformats.org/officeDocument/2006/relationships" id="257" r:id="Rb4526fe6e8d74445"/>
    <p:sldId xmlns:r="http://schemas.openxmlformats.org/officeDocument/2006/relationships" id="258" r:id="R329ecc8608b7493f"/>
    <p:sldId xmlns:r="http://schemas.openxmlformats.org/officeDocument/2006/relationships" id="259" r:id="Rc9790b9df4c24583"/>
    <p:sldId xmlns:r="http://schemas.openxmlformats.org/officeDocument/2006/relationships" id="260" r:id="R8c1ce00fd8a74f9e"/>
    <p:sldId xmlns:r="http://schemas.openxmlformats.org/officeDocument/2006/relationships" id="261" r:id="R79d0f526100b4c90"/>
    <p:sldId xmlns:r="http://schemas.openxmlformats.org/officeDocument/2006/relationships" id="262" r:id="R261f341439d8481b"/>
    <p:sldId xmlns:r="http://schemas.openxmlformats.org/officeDocument/2006/relationships" id="263" r:id="R5939b62543014974"/>
    <p:sldId xmlns:r="http://schemas.openxmlformats.org/officeDocument/2006/relationships" id="264" r:id="Ra2383e3637bf4898"/>
    <p:sldId xmlns:r="http://schemas.openxmlformats.org/officeDocument/2006/relationships" id="265" r:id="R3b63bc5763aa4c4e"/>
    <p:sldId xmlns:r="http://schemas.openxmlformats.org/officeDocument/2006/relationships" id="266" r:id="R49fbf30b528d48c6"/>
    <p:sldId xmlns:r="http://schemas.openxmlformats.org/officeDocument/2006/relationships" id="267" r:id="R4b45dd8b6e5340dc"/>
    <p:sldId xmlns:r="http://schemas.openxmlformats.org/officeDocument/2006/relationships" id="268" r:id="Ra2e0cf15e5914514"/>
    <p:sldId xmlns:r="http://schemas.openxmlformats.org/officeDocument/2006/relationships" id="269" r:id="R4db8505e6c314d68"/>
    <p:sldId xmlns:r="http://schemas.openxmlformats.org/officeDocument/2006/relationships" id="270" r:id="Rd66073a187ab45da"/>
    <p:sldId xmlns:r="http://schemas.openxmlformats.org/officeDocument/2006/relationships" id="271" r:id="Rb403a6d31baa4c79"/>
    <p:sldId xmlns:r="http://schemas.openxmlformats.org/officeDocument/2006/relationships" id="272" r:id="R6df0d747701c4734"/>
    <p:sldId xmlns:r="http://schemas.openxmlformats.org/officeDocument/2006/relationships" id="273" r:id="Rd52c6c9ce3244efa"/>
    <p:sldId xmlns:r="http://schemas.openxmlformats.org/officeDocument/2006/relationships" id="274" r:id="Rc9cdce7ecace4e16"/>
    <p:sldId xmlns:r="http://schemas.openxmlformats.org/officeDocument/2006/relationships" id="275" r:id="R2815017664fb4358"/>
    <p:sldId xmlns:r="http://schemas.openxmlformats.org/officeDocument/2006/relationships" id="276" r:id="Ra10776cf339547cd"/>
    <p:sldId xmlns:r="http://schemas.openxmlformats.org/officeDocument/2006/relationships" id="277" r:id="Rd214aec45b984ad1"/>
    <p:sldId xmlns:r="http://schemas.openxmlformats.org/officeDocument/2006/relationships" id="278" r:id="R0aff1845f85c4cfa"/>
    <p:sldId xmlns:r="http://schemas.openxmlformats.org/officeDocument/2006/relationships" id="279" r:id="R5a69a6e8f5ea461d"/>
    <p:sldId xmlns:r="http://schemas.openxmlformats.org/officeDocument/2006/relationships" id="280" r:id="R86f130d506cc4f0c"/>
    <p:sldId xmlns:r="http://schemas.openxmlformats.org/officeDocument/2006/relationships" id="281" r:id="R694d6fb411ea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9bb2dfed6d4a40" /><Relationship Type="http://schemas.openxmlformats.org/officeDocument/2006/relationships/slideMaster" Target="/ppt/slideMasters/slideMaster1.xml" Id="Rec63a046e7d440a8" /><Relationship Type="http://schemas.openxmlformats.org/officeDocument/2006/relationships/notesMaster" Target="/ppt/notesMasters/notesMaster1.xml" Id="Rb9c7c17c1ca740c9" /><Relationship Type="http://schemas.openxmlformats.org/officeDocument/2006/relationships/presProps" Target="/ppt/presProps.xml" Id="Rf70f68f585d54223" /><Relationship Type="http://schemas.openxmlformats.org/officeDocument/2006/relationships/tableStyles" Target="/ppt/tableStyles.xml" Id="R2d1661eec3cf4985" /><Relationship Type="http://schemas.openxmlformats.org/officeDocument/2006/relationships/slide" Target="/ppt/slides/slide1.xml" Id="Rb0e0040f9aba40f1" /><Relationship Type="http://schemas.openxmlformats.org/officeDocument/2006/relationships/slide" Target="/ppt/slides/slide2.xml" Id="Rb4526fe6e8d74445" /><Relationship Type="http://schemas.openxmlformats.org/officeDocument/2006/relationships/slide" Target="/ppt/slides/slide3.xml" Id="R329ecc8608b7493f" /><Relationship Type="http://schemas.openxmlformats.org/officeDocument/2006/relationships/slide" Target="/ppt/slides/slide4.xml" Id="Rc9790b9df4c24583" /><Relationship Type="http://schemas.openxmlformats.org/officeDocument/2006/relationships/slide" Target="/ppt/slides/slide5.xml" Id="R8c1ce00fd8a74f9e" /><Relationship Type="http://schemas.openxmlformats.org/officeDocument/2006/relationships/slide" Target="/ppt/slides/slide6.xml" Id="R79d0f526100b4c90" /><Relationship Type="http://schemas.openxmlformats.org/officeDocument/2006/relationships/slide" Target="/ppt/slides/slide7.xml" Id="R261f341439d8481b" /><Relationship Type="http://schemas.openxmlformats.org/officeDocument/2006/relationships/slide" Target="/ppt/slides/slide8.xml" Id="R5939b62543014974" /><Relationship Type="http://schemas.openxmlformats.org/officeDocument/2006/relationships/slide" Target="/ppt/slides/slide9.xml" Id="Ra2383e3637bf4898" /><Relationship Type="http://schemas.openxmlformats.org/officeDocument/2006/relationships/slide" Target="/ppt/slides/slide10.xml" Id="R3b63bc5763aa4c4e" /><Relationship Type="http://schemas.openxmlformats.org/officeDocument/2006/relationships/slide" Target="/ppt/slides/slide11.xml" Id="R49fbf30b528d48c6" /><Relationship Type="http://schemas.openxmlformats.org/officeDocument/2006/relationships/slide" Target="/ppt/slides/slide12.xml" Id="R4b45dd8b6e5340dc" /><Relationship Type="http://schemas.openxmlformats.org/officeDocument/2006/relationships/slide" Target="/ppt/slides/slide13.xml" Id="Ra2e0cf15e5914514" /><Relationship Type="http://schemas.openxmlformats.org/officeDocument/2006/relationships/slide" Target="/ppt/slides/slide14.xml" Id="R4db8505e6c314d68" /><Relationship Type="http://schemas.openxmlformats.org/officeDocument/2006/relationships/slide" Target="/ppt/slides/slide15.xml" Id="Rd66073a187ab45da" /><Relationship Type="http://schemas.openxmlformats.org/officeDocument/2006/relationships/slide" Target="/ppt/slides/slide16.xml" Id="Rb403a6d31baa4c79" /><Relationship Type="http://schemas.openxmlformats.org/officeDocument/2006/relationships/slide" Target="/ppt/slides/slide17.xml" Id="R6df0d747701c4734" /><Relationship Type="http://schemas.openxmlformats.org/officeDocument/2006/relationships/slide" Target="/ppt/slides/slide18.xml" Id="Rd52c6c9ce3244efa" /><Relationship Type="http://schemas.openxmlformats.org/officeDocument/2006/relationships/slide" Target="/ppt/slides/slide19.xml" Id="Rc9cdce7ecace4e16" /><Relationship Type="http://schemas.openxmlformats.org/officeDocument/2006/relationships/slide" Target="/ppt/slides/slide20.xml" Id="R2815017664fb4358" /><Relationship Type="http://schemas.openxmlformats.org/officeDocument/2006/relationships/slide" Target="/ppt/slides/slide21.xml" Id="Ra10776cf339547cd" /><Relationship Type="http://schemas.openxmlformats.org/officeDocument/2006/relationships/slide" Target="/ppt/slides/slide22.xml" Id="Rd214aec45b984ad1" /><Relationship Type="http://schemas.openxmlformats.org/officeDocument/2006/relationships/slide" Target="/ppt/slides/slide23.xml" Id="R0aff1845f85c4cfa" /><Relationship Type="http://schemas.openxmlformats.org/officeDocument/2006/relationships/slide" Target="/ppt/slides/slide24.xml" Id="R5a69a6e8f5ea461d" /><Relationship Type="http://schemas.openxmlformats.org/officeDocument/2006/relationships/slide" Target="/ppt/slides/slide25.xml" Id="R86f130d506cc4f0c" /><Relationship Type="http://schemas.openxmlformats.org/officeDocument/2006/relationships/slide" Target="/ppt/slides/slide26.xml" Id="R694d6fb411ea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aceb9f23054a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4a6071580f4e28" /><Relationship Type="http://schemas.openxmlformats.org/officeDocument/2006/relationships/notesMaster" Target="/ppt/notesMasters/notesMaster1.xml" Id="R71b995c7ac3644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1cde2c609e4e4a" /><Relationship Type="http://schemas.openxmlformats.org/officeDocument/2006/relationships/notesMaster" Target="/ppt/notesMasters/notesMaster1.xml" Id="Rb4273038d8fc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2de036c3e0486b" /><Relationship Type="http://schemas.openxmlformats.org/officeDocument/2006/relationships/notesMaster" Target="/ppt/notesMasters/notesMaster1.xml" Id="R9110e84adb134e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6a0773f0f4f1e" /><Relationship Type="http://schemas.openxmlformats.org/officeDocument/2006/relationships/notesMaster" Target="/ppt/notesMasters/notesMaster1.xml" Id="R8b5b5f38a52246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7111f0b2ae430c" /><Relationship Type="http://schemas.openxmlformats.org/officeDocument/2006/relationships/notesMaster" Target="/ppt/notesMasters/notesMaster1.xml" Id="Re247c5738b824d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2a2779e8494c16" /><Relationship Type="http://schemas.openxmlformats.org/officeDocument/2006/relationships/notesMaster" Target="/ppt/notesMasters/notesMaster1.xml" Id="Rccf173726d7e4f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414a57238a4b35" /><Relationship Type="http://schemas.openxmlformats.org/officeDocument/2006/relationships/notesMaster" Target="/ppt/notesMasters/notesMaster1.xml" Id="R3c8b4019055b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38e4c4f7c4c23" /><Relationship Type="http://schemas.openxmlformats.org/officeDocument/2006/relationships/notesMaster" Target="/ppt/notesMasters/notesMaster1.xml" Id="R122d605375cc4e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1be5b16d184df0" /><Relationship Type="http://schemas.openxmlformats.org/officeDocument/2006/relationships/notesMaster" Target="/ppt/notesMasters/notesMaster1.xml" Id="Re23764cf21a44a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a3eca328cf47d4" /><Relationship Type="http://schemas.openxmlformats.org/officeDocument/2006/relationships/notesMaster" Target="/ppt/notesMasters/notesMaster1.xml" Id="R0701caa36f0248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4e72205d704a67" /><Relationship Type="http://schemas.openxmlformats.org/officeDocument/2006/relationships/notesMaster" Target="/ppt/notesMasters/notesMaster1.xml" Id="Rc6ff28a19d8148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2c05ff03c64e9d" /><Relationship Type="http://schemas.openxmlformats.org/officeDocument/2006/relationships/notesMaster" Target="/ppt/notesMasters/notesMaster1.xml" Id="Rbde58042dc0349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74c63ab3c94c1b" /><Relationship Type="http://schemas.openxmlformats.org/officeDocument/2006/relationships/notesMaster" Target="/ppt/notesMasters/notesMaster1.xml" Id="Rfc6b2f40651d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4bc404f35d4c28" /><Relationship Type="http://schemas.openxmlformats.org/officeDocument/2006/relationships/notesMaster" Target="/ppt/notesMasters/notesMaster1.xml" Id="R0968a92bd36440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759b5aacef426a" /><Relationship Type="http://schemas.openxmlformats.org/officeDocument/2006/relationships/notesMaster" Target="/ppt/notesMasters/notesMaster1.xml" Id="Rba38d08d089340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61cb2403374fc7" /><Relationship Type="http://schemas.openxmlformats.org/officeDocument/2006/relationships/notesMaster" Target="/ppt/notesMasters/notesMaster1.xml" Id="R1c58205ef26940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6bddbcfcd24f89" /><Relationship Type="http://schemas.openxmlformats.org/officeDocument/2006/relationships/notesMaster" Target="/ppt/notesMasters/notesMaster1.xml" Id="R5b5eee87fb2246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611111a95544d7" /><Relationship Type="http://schemas.openxmlformats.org/officeDocument/2006/relationships/notesMaster" Target="/ppt/notesMasters/notesMaster1.xml" Id="Ra5b108333d7548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55ac965e974d2a" /><Relationship Type="http://schemas.openxmlformats.org/officeDocument/2006/relationships/notesMaster" Target="/ppt/notesMasters/notesMaster1.xml" Id="Rf26d3898d67d4b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808917982345ce" /><Relationship Type="http://schemas.openxmlformats.org/officeDocument/2006/relationships/notesMaster" Target="/ppt/notesMasters/notesMaster1.xml" Id="R627b7ce88c6d43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7807d8191e41f8" /><Relationship Type="http://schemas.openxmlformats.org/officeDocument/2006/relationships/notesMaster" Target="/ppt/notesMasters/notesMaster1.xml" Id="R10e629541e2149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df73772f9143d5" /><Relationship Type="http://schemas.openxmlformats.org/officeDocument/2006/relationships/notesMaster" Target="/ppt/notesMasters/notesMaster1.xml" Id="Re39517e29c9143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177745d7ca4718" /><Relationship Type="http://schemas.openxmlformats.org/officeDocument/2006/relationships/notesMaster" Target="/ppt/notesMasters/notesMaster1.xml" Id="R22017d8d5b5e4b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a79bb6344f4232" /><Relationship Type="http://schemas.openxmlformats.org/officeDocument/2006/relationships/notesMaster" Target="/ppt/notesMasters/notesMaster1.xml" Id="R08e8f31237694d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ed5f9fcf304620" /><Relationship Type="http://schemas.openxmlformats.org/officeDocument/2006/relationships/notesMaster" Target="/ppt/notesMasters/notesMaster1.xml" Id="Rea78733bb7c1447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ee2303e01a45e4" /><Relationship Type="http://schemas.openxmlformats.org/officeDocument/2006/relationships/notesMaster" Target="/ppt/notesMasters/notesMaster1.xml" Id="Ra7e5ebf5cf5e41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存在小站从持仓和交易导入开始，逐步增加多账户、收益分析、公告解析、可转债和后台任务。分享重点是如果重新开始，应怎样确定业务边界、数据归属、共享实现和验收条件，同时组织 AI 长期协作。项目经历与新项目建议分别说明，技术栈建议不代表现有网站已迁移。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  <a:p xmlns:a="http://schemas.openxmlformats.org/drawingml/2006/main">
            <a:r>
              <a:t>视觉来源：ImageGen 生成的分层结构概念插图，非真实系统截图。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技术五问关注网站的结构与持续扩展，AI 六问关注重复错误、协作与长期接续。整场按两部分展开，最后用任务契约和起步顺序落到实际行动。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先向 AI 说明用户类型、公开内容、交互、写入与后台任务，再比较两种候选架构。维护者能理解和接续方案也是选择依据。功能数量并不能单独决定是否需要微服务。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这些是面向新项目的参考选择。公开内容与登录工具有不同需求。Vue 官方提供基于 Vite 的工具链，React 官方建议新应用优先评估框架，Next.js 提供服务端与客户端组件边界。若 JS/TS 是主要语言，可评估 Node 后端；熟悉 Python 者可评估 Django。全栈框架内也可组织业务服务，无需另建重复后端。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https://expressjs.com/en/guide/using-middleware.html</a:t>
            </a:r>
          </a:p>
          <a:p xmlns:a="http://schemas.openxmlformats.org/drawingml/2006/main">
            <a:r>
              <a:t>https://docs.djangoproject.com/en/5.2/intro/overview/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起步可以使用一个仓库、一个业务应用，按职责组织模块。前后端分层不要求立即分别部署。后台服务函数不要绑死 HTTP 对象，耗时或可靠续跑需求出现后能够移到 Worker。存在小站当前使用原生前端、Express、PostgreSQL 和 Python，生产已拆分 Web 与 Worker。新项目 Vue 建议不代表本项目已经使用 Vue。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数据分层是职责划分，起步可以放在同一个数据库。原始记录用于追溯和重解析，标准事实供业务共享，计算结果需要时保存版本或快照，页面按权限查询。简单页面不必提前建立专属快照。SQLite 适合低并发工具，多进程和并发写入已经明确时可评估 PostgreSQL。不要长期维护两份都能修改的权威事实。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  <a:p xmlns:a="http://schemas.openxmlformats.org/drawingml/2006/main">
            <a:r>
              <a:t>https://www.sqlite.org/whentouse.html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证券代码带市场和来源，内部关联采用统一证券与公司 ID。代码用文本保留前导零。用户数据明确所有权。业务日期、事件时间、采集时间分开。金额等精确数值可用 NUMERIC，应用层仍要正确处理十进制和传输。高频字段用正式列，未标准化字段可用 JSONB，逐字节原文单独保留。唯一性按真实业务身份判断，不能误合并同日多笔交易。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D:/存在小站/docs/incidents/INC-0003-历史证券主档冲突导致持仓行情缺失.md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数据源明确首次范围、增量依据、更正窗口、去重、缓存、失败保留和完成证据。失败不推进覆盖水位，不覆盖上一份有效数据。最新日期不能证明中间完整。普通页面打开、图表切换和布局调整只读数据库或缓存；明确人工刷新走统一受控入口。后台、补跑、离线脚本复用同一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D:/存在小站/docs/incidents/INC-0016-页面读取绕过数据层导致行情页面慢加载.md</a:t>
            </a:r>
          </a:p>
          <a:p xmlns:a="http://schemas.openxmlformats.org/drawingml/2006/main">
            <a:r>
              <a:t>D:/存在小站/docs/incidents/INC-0032-全项目日期时间边界审计与整改方案.md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本项目出现过固定处理 8 条却标记整个资料补全成功的事故。批次只是执行方式，不是业务完成条件。任务需要目标日、依赖、产出、质量与阶段状态；部分完成保存剩余队列、未完成阶段和下一次时间。没有执行的阶段与失败阶段分开。只有范围完整的成功空结果才可记录核验无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D:/存在小站/docs/incidents/INC-0018-IPO资料补全固定8条及多重隐性上限.md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三问讨论合理冗余。原文、必要历史、可重算快照和明确扩展字段值得保留，重复的权威表、采集入口、计算实现会引入冲突。先给变化留边界，真实需求出现后再实现。新链路验证后再迁移，明确旧权威写入退出条件。功能数量增加先按模块拆分，独立扩容与发布需求再评估服务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做包含标题、统计、工具栏、表格、表单、弹窗和手机状态的代表性页面，再扩展同类页面。采用组件库时选定主题和封装方式。原生前端也能通过共享样式与交互形成同样的职责。业务页只保留列宽等差异，公共样式回到共享入口。给 AI 明确读取路径和参考页，而不是仅说简洁美观。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式统一也包括交互统一。金融宽表在自己的容器横滑，保留字段与数值。手机菜单、触屏、键盘、弹窗需同时设计。加载、空、错误、过期与无权限统一。旧请求晚返回不能覆盖当前页。屏幕旋转、缩放和布局变化不额外取数。本项目正文手机分界 760px、导航 900px，其他项目可选自己的统一断点。未做真机测试应保留未验证范围。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五问要求研发共同规则。可用一个文档的六节，不必分别写六份长方案。先走通登录、写入、校验、事务、查询、桌面与手机展示、发布验收的完整功能。外部采集加入失败、重复和续跑案例。目录职责清楚还要落实调用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完成与发布完成分开。本项目曾出现本地修复没有进入生产、旧前端文件仍生效。测试、健康接口和单个任务成功不单独证明业务可用。需核对当前提交版本、静态资源、接口字段、目标数据和质量状态。迁移账号与运行账号职责区分。代码回滚不会自动恢复被删除的数据，破坏性迁移需备份和恢复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D:/存在小站/docs/incidents/INC-0017-IPO发行阶段详情修复未进入生产.md</a:t>
            </a:r>
          </a:p>
          <a:p xmlns:a="http://schemas.openxmlformats.org/drawingml/2006/main">
            <a:r>
              <a:t>D:/存在小站/docs/生产部署流程.md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接下来讨论六个问题：重复犯错、多 Agent 协作、遗漏、token、知识库、跷跷板式修复。共同基础是可接续的仓库事实、可执行的约束与可验证的交付。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反复犯错不一定只是忘记。文档冲突、规则模糊、实现分散、测试预期错误或运行状态未更新都可能导致重复。对应修复机制不同。日期问题中散落的转换和只模拟字符串的测试漏掉真实 PG 类型，需统一入口和真实边界。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D:/存在小站/docs/incidents/INC-0032-全项目日期时间边界审计与整改方案.md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可复现反例，再形成不变量、更新原权威位置、收敛共享实现、加入失败检查、核查同类与存量影响、核对运行版本与恢复证据。本项目规定同类第三次出现升级为通用不变量检查；次数是项目规则，可复用结论是重复故障推动公共机制，而不是持续增加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D:/存在小站/docs/incidents/INC-0032-全项目日期时间边界审计与整改方案.md</a:t>
            </a:r>
          </a:p>
          <a:p xmlns:a="http://schemas.openxmlformats.org/drawingml/2006/main">
            <a:r>
              <a:t>D:/存在小站/AGENTS.md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二问的协作方法。开始前固定共同契约、基线和允许修改范围，再分数据、前端与复核。迁移、共享样式、锁文件和权威文档明确负责人。worktree 隔离文件而非数据库、端口与凭据。写入测试库或串行迁移，共享凭据仍走统一保护。集成者验收合并后的版本。小任务不必并行。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三问通过影响范围约束分析，不要求每个小改动全量审查系统。金融计算、权限、数据、任务和部署扩大检查。新增收益字段时检查交易、价格、汇率、日期、费用、缺失与用户权限，再检查快照重算和手机展示。要求区分事实、推测和未知。休市估值测试曾用相同的当前与历史价格，遗漏口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D:/存在小站/docs/incidents/INC-0034-休市持仓估值与归因价格口径错位.md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四问关注读取、输出、重复工作与返工的总成本。索引后读主题权威，必要时追历史。搜索命中符号与上下文，输出关键日志。一个任务保持独立交付边界。并行有重复上下文和集成成本。交接保存目标、改动、决定、检查版本、未知与下一步，不复制整个聊天。项目必需门禁不因节省 token 省略，没有测量不承诺比例。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五问的起点来自实际接续问题：会话不了解已有能力、修复规则未接续、新旧文件冲突、全量历史读取成本高。先采用 Git 文件体系，三个入口足够起步。规模与遗漏风险增加后再加入决定、事故、任务和机器路由，不需要先建设向量库。事实归属清楚后才有可靠检索。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D:/存在小站/docs/知识索引.md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知识不是把所有事实塞一个文件，同一个事实有一个权威位置。当前实现进架构，取舍进决策，根因和证据进事故，未完成进交接，索引只导航。新增前检索旧结论，优先更新原段落。保留独立根因、来源、授权、验收和未闭环证据。任务开始按描述读，结束按实际文件反向核对更新。check:knowledge 不能自动裁决文字语义是否正确。平台私有记忆只作指针。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D:/存在小站/docs/知识索引.md</a:t>
            </a:r>
          </a:p>
          <a:p xmlns:a="http://schemas.openxmlformats.org/drawingml/2006/main">
            <a:r>
              <a:t>D:/存在小站/docs/技术架构.md</a:t>
            </a:r>
          </a:p>
          <a:p xmlns:a="http://schemas.openxmlformats.org/drawingml/2006/main">
            <a:r>
              <a:t>D:/存在小站/docs/../governance/knowledge-map.json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六问要求同时列出目标改善和原能力不变量。页面速度、任务运行时长、手机布局和少调用接口都要共同守住数据口径、目标覆盖和完整字段。单案例、既有能力与同类范围分别核查。保护性等待不能冒充上游错误扩大熔断。真实目标冲突时说明取舍、降级和恢复条件，不能弱化测试或改变事实掩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D:/存在小站/docs/incidents/INC-0018-IPO资料补全固定8条及多重隐性上限.md</a:t>
            </a:r>
          </a:p>
          <a:p xmlns:a="http://schemas.openxmlformats.org/drawingml/2006/main">
            <a:r>
              <a:t>D:/存在小站/docs/incidents/INC-0006-港币汇率预算等待误熔断.md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模板可用于启动新网站、新增功能和修复。启动时说明用户、核心流程、公开内容、登录私有数据、后台任务、维护语言与资源。要求比较候选技术栈，分别列现在必建、预留边界、以后触发。每次任务固定目标、原能力、验收条件、事实入口与改动范围，再要求链路分析、复用、同类核查、知识更新、门禁与未验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可复制模板：</a:t>
            </a:r>
          </a:p>
          <a:p xmlns:a="http://schemas.openxmlformats.org/drawingml/2006/main">
            <a:r>
              <a:t>我要做【】，主要用户是【】，核心流程是【】。公开内容需求【】，私有数据与后台任务【】，可维护语言与部署资源【】。请比较两个候选架构，明确模块、对象、数据契约、共享样式、验证和发布，分别列必建、预留与后续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目标【】，复现或预期【】，必须保持【】，完成标准【】。先按索引读取并核对代码，说明已有能力、可复用能力和真正缺口。检查来源、数据库、服务、接口、页面、任务、权限和环境。复用公共入口，核查同类与存量影响，更新原权威段落，交付适用检查、实际运行证据和未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践顺序可按六步推进：一个真实使用流程，架构与归属，数据契约，代表性页面与共享能力，完整功能发布验证，知识入口。前期保留边界而不是预先实现全部未来能力。真正故障、长期取舍与接续需求出现后，逐渐增加决策、事故与自动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本文基于分享文档与截至 2026-10-09 仓库中的既有实现和事故证据。来源链接在各页备注中。新项目的 Vue、TypeScript、目录、契约等建议不表示本项目已上线。当前项目事实以权威架构与已验证状态为准。工程门禁不能代替语义、真实运行和真机证据。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bae91aa3346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f3d81e48e40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e1604357d48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199c24a9a49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e47ff11b44c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367807d54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E92E7-9796-407B-8DB4-F605ADFA1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9B04F-1B33-4A61-965A-046D44C65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0A60D-31EE-45B8-941C-9AB38635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F4D9C-A80B-4DD3-AC6A-A5804BDE1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8A0AC2-121F-4D6B-A1B7-302E32E10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53A29-1D44-4EB4-81FE-2F056BF15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1D51C-35D5-45DF-A47C-0BEDD1472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0FC7FE-876B-48C1-B15F-431EA6317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51FA5-8E7C-470B-9122-E25F8E7A3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4522CE-12EE-41DE-B8E1-B9CDACE63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d8f7b140c54874" /><Relationship Type="http://schemas.openxmlformats.org/officeDocument/2006/relationships/slideLayout" Target="/ppt/slideLayouts/slideLayout1.xml" Id="Rb8369f34c4844770" /><Relationship Type="http://schemas.openxmlformats.org/officeDocument/2006/relationships/slideLayout" Target="/ppt/slideLayouts/slideLayout2.xml" Id="Rf56a802b916044c0" /><Relationship Type="http://schemas.openxmlformats.org/officeDocument/2006/relationships/slideLayout" Target="/ppt/slideLayouts/slideLayout3.xml" Id="R61b4a8177ce043ee" /><Relationship Type="http://schemas.openxmlformats.org/officeDocument/2006/relationships/slideLayout" Target="/ppt/slideLayouts/slideLayout4.xml" Id="R1eb5f3d3ee584324" /><Relationship Type="http://schemas.openxmlformats.org/officeDocument/2006/relationships/slideLayout" Target="/ppt/slideLayouts/slideLayout5.xml" Id="R3e8fa6fd90f648ba" /><Relationship Type="http://schemas.openxmlformats.org/officeDocument/2006/relationships/slideLayout" Target="/ppt/slideLayouts/slideLayout6.xml" Id="Refed981d56a441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69f34c4844770"/>
    <p:sldLayoutId xmlns:r="http://schemas.openxmlformats.org/officeDocument/2006/relationships" id="2147483650" r:id="Rf56a802b916044c0"/>
    <p:sldLayoutId xmlns:r="http://schemas.openxmlformats.org/officeDocument/2006/relationships" id="2147483651" r:id="R61b4a8177ce043ee"/>
    <p:sldLayoutId xmlns:r="http://schemas.openxmlformats.org/officeDocument/2006/relationships" id="2147483652" r:id="R1eb5f3d3ee584324"/>
    <p:sldLayoutId xmlns:r="http://schemas.openxmlformats.org/officeDocument/2006/relationships" id="2147483653" r:id="R3e8fa6fd90f648ba"/>
    <p:sldLayoutId xmlns:r="http://schemas.openxmlformats.org/officeDocument/2006/relationships" id="2147483654" r:id="Refed981d56a4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36703886a4cc1" /><Relationship Type="http://schemas.openxmlformats.org/officeDocument/2006/relationships/image" Target="/ppt/media/image.png" Id="R68f91f87425b4a88" /><Relationship Type="http://schemas.openxmlformats.org/officeDocument/2006/relationships/notesSlide" Target="/ppt/notesSlides/notesSlide1.xml" Id="R82a04b616284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f3117e8c74027" /><Relationship Type="http://schemas.openxmlformats.org/officeDocument/2006/relationships/notesSlide" Target="/ppt/notesSlides/notesSlide2.xml" Id="Rd5bdbd7798d7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470a8864d454f" /><Relationship Type="http://schemas.openxmlformats.org/officeDocument/2006/relationships/notesSlide" Target="/ppt/notesSlides/notesSlide3.xml" Id="R768c7c88bd6d44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d7095acba46c5" /><Relationship Type="http://schemas.openxmlformats.org/officeDocument/2006/relationships/notesSlide" Target="/ppt/notesSlides/notesSlide4.xml" Id="Rc3f1963beeab4f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cbfd66b314dc7" /><Relationship Type="http://schemas.openxmlformats.org/officeDocument/2006/relationships/notesSlide" Target="/ppt/notesSlides/notesSlide5.xml" Id="R861f59fa6e1848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a39d818c84e45" /><Relationship Type="http://schemas.openxmlformats.org/officeDocument/2006/relationships/notesSlide" Target="/ppt/notesSlides/notesSlide6.xml" Id="R1c9e4de128574e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9d94b8cc94b88" /><Relationship Type="http://schemas.openxmlformats.org/officeDocument/2006/relationships/notesSlide" Target="/ppt/notesSlides/notesSlide7.xml" Id="R173bff0ad0fc46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5e6b5a9e44af3" /><Relationship Type="http://schemas.openxmlformats.org/officeDocument/2006/relationships/notesSlide" Target="/ppt/notesSlides/notesSlide8.xml" Id="R8805e43232e847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22c2d84744f49" /><Relationship Type="http://schemas.openxmlformats.org/officeDocument/2006/relationships/notesSlide" Target="/ppt/notesSlides/notesSlide9.xml" Id="Re8e680fb71ee47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c54b4b0cb4cc1" /><Relationship Type="http://schemas.openxmlformats.org/officeDocument/2006/relationships/notesSlide" Target="/ppt/notesSlides/notesSlide10.xml" Id="R1b896aa4847049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f14cd8c234b80" /><Relationship Type="http://schemas.openxmlformats.org/officeDocument/2006/relationships/notesSlide" Target="/ppt/notesSlides/notesSlide11.xml" Id="Rfe33329b602448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b54700fcf49d9" /><Relationship Type="http://schemas.openxmlformats.org/officeDocument/2006/relationships/notesSlide" Target="/ppt/notesSlides/notesSlide12.xml" Id="R0d36b9c873de4f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96113d4514d50" /><Relationship Type="http://schemas.openxmlformats.org/officeDocument/2006/relationships/notesSlide" Target="/ppt/notesSlides/notesSlide13.xml" Id="R44e72a4cfee943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a7efe56144c6b" /><Relationship Type="http://schemas.openxmlformats.org/officeDocument/2006/relationships/notesSlide" Target="/ppt/notesSlides/notesSlide14.xml" Id="R7edeb882a67741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26e707b014097" /><Relationship Type="http://schemas.openxmlformats.org/officeDocument/2006/relationships/notesSlide" Target="/ppt/notesSlides/notesSlide15.xml" Id="R8fb736191ed14f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06a057bf4462d" /><Relationship Type="http://schemas.openxmlformats.org/officeDocument/2006/relationships/notesSlide" Target="/ppt/notesSlides/notesSlide16.xml" Id="R1935479d2f9b47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0148000a941dd" /><Relationship Type="http://schemas.openxmlformats.org/officeDocument/2006/relationships/notesSlide" Target="/ppt/notesSlides/notesSlide17.xml" Id="Reb49755220cc4d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d2225b284c4346" /><Relationship Type="http://schemas.openxmlformats.org/officeDocument/2006/relationships/notesSlide" Target="/ppt/notesSlides/notesSlide18.xml" Id="R837088e567fc47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46bb93532460e" /><Relationship Type="http://schemas.openxmlformats.org/officeDocument/2006/relationships/notesSlide" Target="/ppt/notesSlides/notesSlide19.xml" Id="R56dd68f2870046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b23efcc3046f2" /><Relationship Type="http://schemas.openxmlformats.org/officeDocument/2006/relationships/notesSlide" Target="/ppt/notesSlides/notesSlide20.xml" Id="Rb7365ec46c8742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07f8fdb894e3f" /><Relationship Type="http://schemas.openxmlformats.org/officeDocument/2006/relationships/notesSlide" Target="/ppt/notesSlides/notesSlide21.xml" Id="R7290782db0e240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22ede1c9c40ee" /><Relationship Type="http://schemas.openxmlformats.org/officeDocument/2006/relationships/notesSlide" Target="/ppt/notesSlides/notesSlide22.xml" Id="R4cde05b96e6148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a91e45da848d0" /><Relationship Type="http://schemas.openxmlformats.org/officeDocument/2006/relationships/notesSlide" Target="/ppt/notesSlides/notesSlide23.xml" Id="Rfc0ee3cfb92341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aef6183634188" /><Relationship Type="http://schemas.openxmlformats.org/officeDocument/2006/relationships/notesSlide" Target="/ppt/notesSlides/notesSlide24.xml" Id="R824ea1c2d4a24b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30849d68d4cb5" /><Relationship Type="http://schemas.openxmlformats.org/officeDocument/2006/relationships/notesSlide" Target="/ppt/notesSlides/notesSlide25.xml" Id="R9a8113a8ac644d9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5788a86154433" /><Relationship Type="http://schemas.openxmlformats.org/officeDocument/2006/relationships/hyperlink" Target="D:/&#23384;&#22312;&#23567;&#31449;/docs/&#23384;&#22312;&#23567;&#31449;&#24320;&#21457;&#19982;AI&#21327;&#20316;&#32463;&#39564;&#20998;&#20139;.md" TargetMode="External" Id="Rdd21debdeb1f48dc" /><Relationship Type="http://schemas.openxmlformats.org/officeDocument/2006/relationships/notesSlide" Target="/ppt/notesSlides/notesSlide26.xml" Id="R2cb62ab224ad46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50970-DA09-4394-9B5A-0A9EAC536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91f87425b4a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5DB4CA-5829-4DBE-B18E-77E9BDC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238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存在小站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开发与 AI 协作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经验分享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C6383D-2CD8-4368-A554-4F26B5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网站架构与 AI 协作的 11 个问题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CCF8E5B-3FA3-423A-9022-C4FD6B5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AI 建站新手与独立开发者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F986788-37B1-43BE-ACDE-2A08897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2432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EEDE01-6681-4EE0-BD60-8847EE1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分享路线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A84A5-4469-4E1A-AE67-8D15A3D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375EA867-09D0-4EA9-9648-348FF15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网站设计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2033FDB2-EE63-468D-B7CD-C269D5AE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01  前后端选型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40EB9118-8693-469C-8EC7-4EB6D75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02  数据架构与处理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EB778E71-301D-4652-AC22-DAA15F0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03  扩展空间与合理冗余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63FF06E4-5815-48EB-AE41-72437B6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04  统一样式与交互</a:t>
            </a:r>
          </a:p>
        </p:txBody>
      </p:sp>
      <p:sp>
        <p:nvSpPr>
          <p:cNvPr id="8" name="column-line-72-4">
            <a:extLst xmlns:a="http://schemas.openxmlformats.org/drawingml/2006/main">
              <a:ext uri="{FF2B5EF4-FFF2-40B4-BE49-F238E27FC236}">
                <a16:creationId xmlns:a16="http://schemas.microsoft.com/office/drawing/2014/main" id="{9D1968C7-3BAA-4316-A277-C31B385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05  研发与发布闭环</a:t>
            </a:r>
          </a:p>
        </p:txBody>
      </p:sp>
      <p:sp>
        <p:nvSpPr>
          <p:cNvPr id="9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A91FF815-F0F7-4E0F-A20F-3E40AA2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AI 协作</a:t>
            </a:r>
          </a:p>
        </p:txBody>
      </p:sp>
      <p:sp>
        <p:nvSpPr>
          <p:cNvPr id="10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B03DFABE-77B6-46D0-99C5-12E21938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01  重复犯错</a:t>
            </a:r>
          </a:p>
        </p:txBody>
      </p:sp>
      <p:sp>
        <p:nvSpPr>
          <p:cNvPr id="11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A8E8FF6E-944D-442E-A38B-CD328AF5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02  多 Agent 协作</a:t>
            </a:r>
          </a:p>
        </p:txBody>
      </p:sp>
      <p:sp>
        <p:nvSpPr>
          <p:cNvPr id="12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97882053-A40E-49E2-8B20-D124CE2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03  考虑遗漏</a:t>
            </a:r>
          </a:p>
        </p:txBody>
      </p:sp>
      <p:sp>
        <p:nvSpPr>
          <p:cNvPr id="13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1FB0346B-6C51-40F3-979F-B8DF3BAA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04  token 使用</a:t>
            </a:r>
          </a:p>
        </p:txBody>
      </p:sp>
      <p:sp>
        <p:nvSpPr>
          <p:cNvPr id="14" name="column-line-690-4">
            <a:extLst xmlns:a="http://schemas.openxmlformats.org/drawingml/2006/main">
              <a:ext uri="{FF2B5EF4-FFF2-40B4-BE49-F238E27FC236}">
                <a16:creationId xmlns:a16="http://schemas.microsoft.com/office/drawing/2014/main" id="{7B5FA676-5B3D-4AD6-822D-A1072DA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05  统一知识库</a:t>
            </a:r>
          </a:p>
        </p:txBody>
      </p:sp>
      <p:sp>
        <p:nvSpPr>
          <p:cNvPr id="15" name="column-line-690-5">
            <a:extLst xmlns:a="http://schemas.openxmlformats.org/drawingml/2006/main">
              <a:ext uri="{FF2B5EF4-FFF2-40B4-BE49-F238E27FC236}">
                <a16:creationId xmlns:a16="http://schemas.microsoft.com/office/drawing/2014/main" id="{6EA76CB6-1C35-4604-8C9F-721E941F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245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06  共同验收条件</a:t>
            </a:r>
          </a:p>
        </p:txBody>
      </p:sp>
    </p:spTree>
    <p:extLst>
      <p:ext uri="{BB962C8B-B14F-4D97-AF65-F5344CB8AC3E}">
        <p14:creationId xmlns:p14="http://schemas.microsoft.com/office/powerpoint/2010/main" val="1475696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4876C7-44E9-433F-B806-3E3DEB31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技术栈选型的五个依据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0EBE50-2AA3-4077-8951-4F2515F3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90CA05B-2567-4741-83F0-FD2D682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1：需求与维护能力共同决定架构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2F85B1E6-2315-4D8F-A8EF-23F50CE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D8A6CFD9-BD34-4103-B32A-D07A1FE5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用户与内容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706994EA-A445-41D6-A2E9-06296120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812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公开内容是否需要搜索收录与首屏展示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4F6B6075-DB74-49CD-A68D-D47B239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327C1177-86C1-4ABF-BAF5-30C6705F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交互复杂度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0F1AD6E3-A246-4F21-9BF4-AB87C94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051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表格、筛选、表单、图表是否共享状态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3B078453-9EE9-40D5-A386-674D8788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680411D6-C49D-4F03-AB1C-282520D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数据写入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3042BEEF-C83E-4D9F-BA33-8913CBC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是否多用户、私有数据和并发修改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FEC59335-1A84-444F-9D57-7CBF66F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FA287BB3-A90D-4B1A-AEE7-F82BF74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后台工作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DB5DEFF3-F14C-4618-9F5A-17D7FF1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529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是否有定时采集、批量导入和耗时计算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0A0B8201-39B5-49CF-B99E-69228AB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24FD55D1-3B38-4B6B-9123-D9024F16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维护与部署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FB676E5F-214A-42DE-BF34-EBAA07C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768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自己能维护的语言与运行成本</a:t>
            </a:r>
          </a:p>
        </p:txBody>
      </p:sp>
    </p:spTree>
    <p:extLst>
      <p:ext uri="{BB962C8B-B14F-4D97-AF65-F5344CB8AC3E}">
        <p14:creationId xmlns:p14="http://schemas.microsoft.com/office/powerpoint/2010/main" val="790623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3DB488-8B42-4F5E-8EC5-5BA3B19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三类网站的起步方案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03712-5254-40B3-9E4B-3E67F8D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A3478CB-F279-4788-8193-E5353EB2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新项目建议：先匹配场景，再比较成本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3B96E-25BE-43DF-A651-EB92EEE51AD0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3905250"/>
                <a:gridCol w="4057650"/>
              </a:tblGrid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可评估的起点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主要考虑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展示与少量内容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 HTML/CSS/JS</a:t>
                      </a:r>
                    </a:p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或静态生成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简单发布与内容维护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登录后的数据工具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+ Vite</a:t>
                      </a:r>
                    </a:p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 React 框架方案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组件、路由与共享状态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公开内容加复杂交互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Next.js 等服务端</a:t>
                      </a:r>
                    </a:p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渲染框架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渲染、缓存与部署边界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FF76BA3-E25B-46DF-9F87-290CFA2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同类新项目可评估 Vue + TypeScript、Node 后端与 PostgreSQL</a:t>
            </a:r>
          </a:p>
        </p:txBody>
      </p:sp>
    </p:spTree>
    <p:extLst>
      <p:ext uri="{BB962C8B-B14F-4D97-AF65-F5344CB8AC3E}">
        <p14:creationId xmlns:p14="http://schemas.microsoft.com/office/powerpoint/2010/main" val="1101134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864A2A-954E-403E-A66F-8ECE707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模块化单体的职责边界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DAEFC9-A7A1-4F67-BEA9-7B8CE3C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ABED00D-0AD9-40D7-BEB4-4EAA4B8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同一套业务服务支持页面请求与后台任务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B5FA3-1E76-4A33-AD5D-90A2C28D2003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290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90875"/>
                <a:gridCol w="7629525"/>
              </a:tblGrid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前端与共享 UI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展示、交互、页面状态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身份、权限、入参与响应契约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业务服务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计算规则、事务、统一读写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数据访问与来源适配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标准事实读写、外部来源转换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调度、目标日期、执行进度与续跑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5D78F55-D4F0-4E20-9AB1-F583B4F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本项目当前：原生前端、Express、PostgreSQL、Python、Web/Worker</a:t>
            </a:r>
          </a:p>
        </p:txBody>
      </p:sp>
    </p:spTree>
    <p:extLst>
      <p:ext uri="{BB962C8B-B14F-4D97-AF65-F5344CB8AC3E}">
        <p14:creationId xmlns:p14="http://schemas.microsoft.com/office/powerpoint/2010/main" val="1314405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7662F0-3E78-4AFB-B546-89178FD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数据分层与权威写入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04B5A6-D09D-44F6-B117-AC9A239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720A5E63-79E0-4698-95F0-038633C9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2：每项事实有明确归属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C201A-F5DC-4283-B2DB-A278C6554102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476500"/>
                <a:gridCol w="4686300"/>
                <a:gridCol w="3657600"/>
              </a:tblGrid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响应、文件、原文与来源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追溯与重解析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对象身份、交易、行情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统一业务口径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计算结果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指标、计算版本与快照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复用与历史解释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页面读取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权限内字段、必要缓存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快速且一致的展示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C6CFA57-0991-4E1F-925F-9F9C778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项目经历：SQLite 与 JSON 兼容路径逐步收敛到结构化数据库</a:t>
            </a:r>
          </a:p>
        </p:txBody>
      </p:sp>
    </p:spTree>
    <p:extLst>
      <p:ext uri="{BB962C8B-B14F-4D97-AF65-F5344CB8AC3E}">
        <p14:creationId xmlns:p14="http://schemas.microsoft.com/office/powerpoint/2010/main" val="1837364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E5DE83-4B2C-4430-99BC-9883636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数据契约中的六项定义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253300-10D4-4CE7-B317-7900724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CCAB7323-9DD1-49B9-BD3D-AA28AAB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0F1821CD-6EAE-464A-B191-5F88E261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身份与归属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65C90948-22C0-4302-A3C5-6B97624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52600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内部对象 ID、外部映射、用户所有权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FCF2F057-AFAC-4C75-93A9-FB7934FF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4EACDA7A-5778-45EA-8FAC-B4C50AB6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日期与时间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79477B98-E13E-434D-BCB6-60F4155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业务日期、事件时间、采集时间分开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37D7D549-FA90-495A-8515-67877483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10EED288-CCD7-4A8E-A6F6-D874C302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数值与单位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B1A5275D-6577-4F15-A635-3ABD944A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05150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币种、精度、舍入规则、缺失与零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9F907CA2-E9FF-47D5-B5BC-4620E906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E94AD629-5BDE-4B45-BF70-1B3D7027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唯一性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E392BA37-32B8-4719-87DD-484072A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81425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真实业务去重键，保留合法多笔记录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EA218019-B127-4928-B26A-BCE3C4CA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F0A0EBF7-1A7F-4918-AF7D-6C018E4B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证据与版本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A453C6ED-2495-48B2-A741-56DC95E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57700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来源关联、解析版本、必要历史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E006F4A8-0578-4A97-A16C-3FB182F9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236D5B89-0998-4849-848D-DF98CA4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更新与约束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E759169C-0070-4D29-9996-95AB67E4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33975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事务、外键、唯一键和索引</a:t>
            </a:r>
          </a:p>
        </p:txBody>
      </p:sp>
    </p:spTree>
    <p:extLst>
      <p:ext uri="{BB962C8B-B14F-4D97-AF65-F5344CB8AC3E}">
        <p14:creationId xmlns:p14="http://schemas.microsoft.com/office/powerpoint/2010/main" val="1322174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A29BD2-72C5-4F57-AA9F-CE8AD78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增量更新与失败保留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D6656D-A204-457B-98CA-9152CCBF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257FE5D-B798-4D2D-BC5B-E2F6E3D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来源契约决定怎样取数、怎样保留与怎样补漏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33775-AEA8-495A-9069-DCF348D82C06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4286250"/>
                <a:gridCol w="44386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需要留下的证据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首次采集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明确对象与时间范围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范围、来源与完整分页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日常增量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游标或业务日增量更新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成功覆盖与必要更正窗口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保留有效事实，记录失败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对象、原因与剩余进度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历史补漏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检查日期差集，定向回补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缺口、修正版本与回归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1D240DD-D8D4-49E7-9A6D-4CD06000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普通浏览读取已落库结果；人工刷新仍通过统一受控入口</a:t>
            </a:r>
          </a:p>
        </p:txBody>
      </p:sp>
    </p:spTree>
    <p:extLst>
      <p:ext uri="{BB962C8B-B14F-4D97-AF65-F5344CB8AC3E}">
        <p14:creationId xmlns:p14="http://schemas.microsoft.com/office/powerpoint/2010/main" val="1286930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823F52-A332-48F7-A22F-65C98D5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任务完成与可续跑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BE78B6-7FD8-4E45-BADC-940F314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98222269-E7CE-4F29-9A35-71E5A449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执行进度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F9C43226-1D87-480C-AD0C-BD258A1D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本批处理了哪些对象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EAE628AB-0322-4B4E-9580-3851AA82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剩余对象与未完成阶段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A8D1AFB8-FBBE-46C8-B92E-0A148327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下次执行时间与原因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89A10ECC-C89E-4CE2-9E20-C98A1D61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目标业务日期保持一致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700ABDE9-D27C-4F35-8B83-19EAE08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完成证据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CAED73AD-A9EF-47CC-814C-23BBF06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声明的数据集全部发布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B2D51116-23A1-4495-ADF5-DFE06485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目标范围与日期匹配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E40255B4-6CF5-420C-90D2-1ECBF03F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质量检查通过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2F82475A-45DD-4632-A2ED-3FFB048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没有遗留失败对象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ADAA4B4-2D1C-4B3A-BF61-9BE5B015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项目案例：只处理 8 条仍有剩余工作，曾被误报为整体成功</a:t>
            </a:r>
          </a:p>
        </p:txBody>
      </p:sp>
    </p:spTree>
    <p:extLst>
      <p:ext uri="{BB962C8B-B14F-4D97-AF65-F5344CB8AC3E}">
        <p14:creationId xmlns:p14="http://schemas.microsoft.com/office/powerpoint/2010/main" val="1766597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795880-FB7F-4E8B-BFC9-FCA097A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功能扩展的预留边界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C0DCBC-7021-4710-8F35-A435044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1B836452-F4D8-4072-AAAC-A27AF9C8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3：保留证据、历史与扩展接口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EC047-956B-489B-BEFC-2085B40CE9D9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381250"/>
                <a:gridCol w="4429125"/>
                <a:gridCol w="4010025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起步时保留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升级依据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市场与币种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统一身份与明确数值语义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出现新市场需求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来源与指标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适配边界与共享计算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接入新来源或指标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用户与任务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所有权、模式与进度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实际并发与执行压力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字段与性能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迁移、兼容接口与可测查询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新增字段或性能瓶颈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D688D50-37EC-4BF9-9CBD-D853FD3A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扩展前先确认：现有负责人、可复用入口、新增入口的必要性</a:t>
            </a:r>
          </a:p>
        </p:txBody>
      </p:sp>
    </p:spTree>
    <p:extLst>
      <p:ext uri="{BB962C8B-B14F-4D97-AF65-F5344CB8AC3E}">
        <p14:creationId xmlns:p14="http://schemas.microsoft.com/office/powerpoint/2010/main" val="2126540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DB477-0135-498F-90A7-2361D7D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统一前端的三类资产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675BB4-D88E-48C8-90B1-6ABAE50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1D543DA-BDCE-418D-BAA9-D876A6A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4：AI 需要可查找、可复用、可验证的规范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402858F3-314A-4574-9248-9CE1CEC6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200FD10B-4351-4664-9148-449305D0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479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设计规则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D4726DE2-5AC9-420F-90E4-761097D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479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颜色、字号、间距、控件与响应断点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45A1B589-8656-46BC-A5D2-B6EB04D4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58DC865D-E009-40A7-8BA8-4D1F2FE9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718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共享实现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A796D23C-5503-4032-BB8F-4672C23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71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布局、按钮、表格、弹窗和公共交互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756C1D5C-2659-4642-BFC9-5ADD636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286674DB-5C91-41FA-A48C-F631792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958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参考状态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F1ADD6B1-1058-4A2B-8B4B-54DF0738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常规、加载、空、错误、无权限与手机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621FFDE-198E-4CB2-ADBF-B38CA70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新增页面先复用；公共能力不足时扩展原共享入口</a:t>
            </a:r>
          </a:p>
        </p:txBody>
      </p:sp>
    </p:spTree>
    <p:extLst>
      <p:ext uri="{BB962C8B-B14F-4D97-AF65-F5344CB8AC3E}">
        <p14:creationId xmlns:p14="http://schemas.microsoft.com/office/powerpoint/2010/main" val="5707981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38D0A3-BFD3-4A72-AFD9-F8B3742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手机适配与统一交互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F3E241-20DA-4667-9820-7E43D2C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4B8EF-2FCC-44E0-B6D6-5646EF3652C1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5052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8248650"/>
              </a:tblGrid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检查面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共同要求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布局与输入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手机重排、局部横滑、可触达控件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加载、空、失败、过期、权限一致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异步与取数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保留筛选，旧响应失效，布局变化不取数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桌面、手机、触屏与键盘分别检查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D3A3205-5A45-4310-81BB-21D5B116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本项目统一入口：shared/style.css、表格、手机与图表公共能力</a:t>
            </a:r>
          </a:p>
        </p:txBody>
      </p:sp>
    </p:spTree>
    <p:extLst>
      <p:ext uri="{BB962C8B-B14F-4D97-AF65-F5344CB8AC3E}">
        <p14:creationId xmlns:p14="http://schemas.microsoft.com/office/powerpoint/2010/main" val="650765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73F277-43C7-4C73-AF4D-327073A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起步阶段的六项研发设计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72F59F-D92D-4401-AE87-16BB7E7D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CF93B6F4-3949-47FC-A612-6330E018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99E3F21C-F080-4470-A689-5A431A5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业务边界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665F0668-0C5C-44F9-B099-D59E8096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核心对象、共享事实、所有权与修改权限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B8981410-2BA0-4997-BF66-83C546C2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63400AA3-62FC-4FC6-A5E1-EE360165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模块调用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C3B83AB8-4D72-4A5B-B130-CBB3FC0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288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路由、服务、数据访问、来源和任务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5EA8A466-4ED3-407D-B036-0E21A6D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7862EF5D-8A37-4435-8F3B-C8CDE7D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接口契约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2BE2CF74-7D6B-4EBF-968D-DF407AE6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类型、单位、日期、分页、错误与兼容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70437EF4-F1A6-41F6-B1BF-80B8CDB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2524B142-A57A-4009-8C81-D4D077C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数据与任务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B198D7EF-D061-4202-8649-A0E4233C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增量、失败保留、依赖、产出与完成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8ED69B6F-BC1A-4751-894B-3499BEC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DA854302-A643-459D-B322-1D3945EC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业务验证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527D29ED-FB3B-474D-8D83-7C8BF7F2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57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长期不变量与能够触发问题的反例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82421967-D272-4DA3-88B2-7F6D8F8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211C7628-170F-4C1E-A25C-43D6BD30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环境发布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B2A38DB4-70B3-4F9D-AF70-A0B5424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33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配置、迁移、版本、备份与恢复</a:t>
            </a:r>
          </a:p>
        </p:txBody>
      </p:sp>
    </p:spTree>
    <p:extLst>
      <p:ext uri="{BB962C8B-B14F-4D97-AF65-F5344CB8AC3E}">
        <p14:creationId xmlns:p14="http://schemas.microsoft.com/office/powerpoint/2010/main" val="154351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7CA6E5-FCE1-4637-953E-3E89E8B3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发布后的业务验收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F94385-8F59-4914-A39D-FAE2A4EC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E6091B86-AB5E-426C-BB93-E38919B5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版本与请求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D023F3EC-D088-43BB-8537-2E42214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提交与应用版本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6CB86F84-6F0D-4E16-A24A-D1AA8DE7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加载的静态资源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FDAE02E2-52FF-41FA-8728-D6D77CB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相关接口与实际字段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68E0FD7D-2BAD-4D12-996C-A0C32BCA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原权限和同类功能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F5A4681B-5C42-4D0B-AC4C-A110073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数据与运行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D3C877D8-0558-4504-8300-BDD0351A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任务运行记录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EAD4EFB5-D8A7-462D-A30B-D6A5164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目标分区与质量状态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2BE9DCB4-7B2D-41C3-B6CA-F0E279D1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剩余对象与恢复证据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0F2A4F41-5B7D-49DE-989A-F2D0CB0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迁移、备份与恢复能力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A5C5B9B-2EBC-4940-ABBA-045A87A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项目案例：本地修复完成后，生产仍使用旧代码与旧前端</a:t>
            </a:r>
          </a:p>
        </p:txBody>
      </p:sp>
    </p:spTree>
    <p:extLst>
      <p:ext uri="{BB962C8B-B14F-4D97-AF65-F5344CB8AC3E}">
        <p14:creationId xmlns:p14="http://schemas.microsoft.com/office/powerpoint/2010/main" val="1910485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757EC-72C7-4C67-96F5-3E255D8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协作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BBA2C5-4A06-4565-84B6-74298402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section-lead">
            <a:extLst xmlns:a="http://schemas.openxmlformats.org/drawingml/2006/main">
              <a:ext uri="{FF2B5EF4-FFF2-40B4-BE49-F238E27FC236}">
                <a16:creationId xmlns:a16="http://schemas.microsoft.com/office/drawing/2014/main" id="{826AFC76-8CEC-4F69-9492-95BBCD1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001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长期协作需要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可接续的事实与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可验证的交付</a:t>
            </a:r>
          </a:p>
        </p:txBody>
      </p:sp>
      <p:sp>
        <p:nvSpPr>
          <p:cNvPr id="4" name="section-detail">
            <a:extLst xmlns:a="http://schemas.openxmlformats.org/drawingml/2006/main">
              <a:ext uri="{FF2B5EF4-FFF2-40B4-BE49-F238E27FC236}">
                <a16:creationId xmlns:a16="http://schemas.microsoft.com/office/drawing/2014/main" id="{71B4EE46-E16D-4C59-9BC2-6AFC91B1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重复错误、协作边界、知识维护与共同验收</a:t>
            </a:r>
          </a:p>
        </p:txBody>
      </p:sp>
    </p:spTree>
    <p:extLst>
      <p:ext uri="{BB962C8B-B14F-4D97-AF65-F5344CB8AC3E}">
        <p14:creationId xmlns:p14="http://schemas.microsoft.com/office/powerpoint/2010/main" val="13584326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5EF23-2712-4EAD-A7D1-111D73E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重复犯错的原因与对应措施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BFF548-D899-4507-BB45-DDD5CC7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A18F7EA-C8C1-45EC-9CD9-C01762CB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AI 1：原因定位决定防复发方式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2CA0B-C3FA-42E5-BCF2-AA5D1D255734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905250"/>
                <a:gridCol w="69151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对应措施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缺少上下文或新旧冲突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固定入口，修正原权威段落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约束模糊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写出可判定的不变量与反例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公共实现分散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修复共享入口与数据库约束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测试未触及问题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核对业务预期，加入真实边界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旧数据与旧运行状态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处理存量影响并核对实际版本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734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4E770-43B9-479C-B8D1-89B9A15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重复故障的防复发流程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ED30C5-8122-49D9-9BD9-2035EDA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E426B-B1E8-4C72-80F4-E7D7F2EBC8EE}"/>
              </a:ext>
            </a:extLst>
          </p:cNvPr>
          <p:cNvGraphicFramePr/>
          <p:nvPr/>
        </p:nvGraphicFramePr>
        <p:xfrm>
          <a:off xmlns:a="http://schemas.openxmlformats.org/drawingml/2006/main" x="685800" y="1609725"/>
          <a:ext xmlns:a="http://schemas.openxmlformats.org/drawingml/2006/main" cx="10820400" cy="43434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409950"/>
                <a:gridCol w="7410450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要形成的结果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复现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明确输入、触发条件和错误输出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定义不变量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能够判断对错的业务条件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更新权威知识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修正原位置与旧结论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收敛实现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统一服务、公共函数或数据库约束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防复发检查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错误再次出现时检查会失败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同类与存量核查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覆盖其他对象和历史影响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 运行证据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实际版本、结果与恢复状态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4682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7DE6AD-1E69-4377-BFA7-0D06043B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多 Agent 的分工与集成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0EAEA1-ABFA-4DE9-A7BD-7B8C6EB1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F25A722-A10D-49D3-9DD2-0B150E0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AI 2：共同契约、独立范围、统一收尾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AF3FB-B9C6-4329-95F4-4280FA099A49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4095750"/>
                <a:gridCol w="415290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主要责任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共同输入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协调与集成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定边界、合并、验收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基线与接口契约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数据与后端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迁移、服务与质量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字段、日期与权限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共享组件与页面交互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契约与参考页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反例与完整链路检查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最终集成的代码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5EA8C41-2F12-4621-A0F8-5D0590BA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worktree 只隔离文件；数据库、端口、配置与凭据需要单独管理</a:t>
            </a:r>
          </a:p>
        </p:txBody>
      </p:sp>
    </p:spTree>
    <p:extLst>
      <p:ext uri="{BB962C8B-B14F-4D97-AF65-F5344CB8AC3E}">
        <p14:creationId xmlns:p14="http://schemas.microsoft.com/office/powerpoint/2010/main" val="18051345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1D1FDD-52D8-4D23-8551-FF7CB46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避免遗漏的影响检查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5C310D-6138-441D-A92C-209B241C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844ECC99-18D8-48D8-A5B8-F2111EA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1E9532C0-87FC-4E01-A9EB-0830597A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现有能力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5E1DE2CA-7ABC-46B6-B834-998DE4F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2405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已有实现、可复用入口与真正缺口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5377BF26-FC35-47AE-BCCB-D913EFE4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09B0404B-3E17-4718-91B0-938D5E6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57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完整链路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6F318472-DF06-4715-8B52-C6515AE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57475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来源、库、计算、接口、页面与任务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2FE845F1-76A6-4AF0-A39D-72DEB860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E58A605B-74A5-48F3-BB55-ED331A5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权限与环境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0161AC59-95A2-4A32-9A90-16AEB437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9090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用户隔离、日期时区与实际运行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0B77EC43-D035-48C9-B735-29D9046F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C98E40C8-1F1B-4DE2-A8E6-D7BBAE24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243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失败与边界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C4FA61F0-84CE-4524-B8BD-4002643B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24325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空值、半完成、重复、晚返回与跨日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E9B018CC-8F02-4609-A8A5-68414E60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2711162F-99F8-4B81-AB0B-419D5ED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证据状态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4053D59A-37E2-49C9-8104-8F5F79CE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5775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已确认事实、待验证推测和未知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50B26F7C-42C9-4D6C-B472-0A7B7C0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案例提醒：相同的模拟价格，可能掩盖当前与历史口径差异</a:t>
            </a:r>
          </a:p>
        </p:txBody>
      </p:sp>
    </p:spTree>
    <p:extLst>
      <p:ext uri="{BB962C8B-B14F-4D97-AF65-F5344CB8AC3E}">
        <p14:creationId xmlns:p14="http://schemas.microsoft.com/office/powerpoint/2010/main" val="7893892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4FD858-C944-4546-AF98-EF3CE97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token 使用与增量交接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B75585-2C6A-4507-AAB2-B8FF2D8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5C0D4D3D-7625-4D1A-8036-8FF3703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按需读取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98976683-F37C-4C9F-9B7D-580981E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固定入口与主题路由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8DFE7825-164C-4F86-80FC-4F0C277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当前权威段落优先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4C34C267-D6F0-48B8-B9C4-5E1ECD2F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符号、路径与命中上下文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E6F2D801-C8D3-465C-8714-0EE5919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历史仅按需要回查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857F9D63-C94F-4D6A-B8E9-A47308C1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增量交接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03A87D16-E450-41C3-A50D-9FAEDDD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目标、基线与改动文件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F0272AF8-22A2-4165-9420-83D2A39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已确认原因与决定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22DC8B6C-15C6-4C9C-9599-34900F1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检查版本与未知项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3A8CAEF2-8241-4ACC-9126-13F47E0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下一步和权威入口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EF1EA7D-A696-4CEE-A0CD-50490AE5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减少重复上下文与返工，同时保留适用的检查门禁</a:t>
            </a:r>
          </a:p>
        </p:txBody>
      </p:sp>
    </p:spTree>
    <p:extLst>
      <p:ext uri="{BB962C8B-B14F-4D97-AF65-F5344CB8AC3E}">
        <p14:creationId xmlns:p14="http://schemas.microsoft.com/office/powerpoint/2010/main" val="16191795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8E2757-E00A-45B4-A5F0-0D5BCDE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统一知识库的起步结构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5704AF-1ED4-4309-8BD6-B72DB732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CCBD8812-7E2F-4B9C-BE2C-68B146C8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AI 5：项目复杂后，聊天记录难以独立承担事实入口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1FA9A-44CB-490B-A5F8-D9478419A6A2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27051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762375"/>
                <a:gridCol w="7058025"/>
              </a:tblGrid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起步职责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简短研发约束与交付标准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知识索引.md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主题入口、权威位置与未完成事项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技术架构.md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当前模块、数据、接口、任务与发布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05D14C1-7E0F-4411-81D9-9616DAFB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增长后再加：决策、事故、交接，以及按 read/update/checks 路由</a:t>
            </a:r>
          </a:p>
        </p:txBody>
      </p:sp>
    </p:spTree>
    <p:extLst>
      <p:ext uri="{BB962C8B-B14F-4D97-AF65-F5344CB8AC3E}">
        <p14:creationId xmlns:p14="http://schemas.microsoft.com/office/powerpoint/2010/main" val="15375329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85FED-33E9-4F2D-B43E-3C09547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知识更新的归属与替代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624B4D-8C6F-4B8C-BF5D-5039DEF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31A279CB-BB3C-46D2-9EDD-62A3B276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50EAA96-11C2-496B-AB70-D68C6C36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62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先检索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E8CB5F30-F91D-45CE-B63C-773B1091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6215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找到原结论，判断是否必要新增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B210FB24-A6A4-4630-B24E-B557AC2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5746F605-5292-4EAE-A47B-CA26B94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定归属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1ED38F84-2E9C-4BD9-B7B1-AFEAC3B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95575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现状、取舍、事故、未完成各归其位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28572AC7-440E-497E-B1FE-DE6B3DF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A93BC5BE-5C13-4EB9-9F40-09C605A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就地替换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A9651FC7-DEEF-40B6-B6D8-A2070CED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同步旧段落、索引与相关引用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E7668CD7-5C81-4CA8-BDFC-7398F58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D3423F58-3B64-4927-8209-A9FC120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24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保留证据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E6CAD520-8F3C-481D-9DAF-923CEAE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62425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归档历史，保留根因与真实未闭环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7683BC46-1F93-4056-8D9A-35588107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3609F9B2-CB73-4198-B635-DCF5F725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双向核对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2641C241-3DAF-4616-A370-15349EA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89585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开始按主题读取，收尾按改动更新</a:t>
            </a:r>
          </a:p>
        </p:txBody>
      </p:sp>
    </p:spTree>
    <p:extLst>
      <p:ext uri="{BB962C8B-B14F-4D97-AF65-F5344CB8AC3E}">
        <p14:creationId xmlns:p14="http://schemas.microsoft.com/office/powerpoint/2010/main" val="2132253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375860-8D61-46C1-83DE-810BE6A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避免跷跷板的共同验收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D91A80-B213-4CDE-9001-2E60601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A4C41-563B-430F-9F4B-76BA16D13F92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286000"/>
                <a:gridCol w="4286250"/>
                <a:gridCol w="4248150"/>
              </a:tblGrid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改善目标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同时保持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共同解法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页面更快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来源、日期、权限与口径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读取与采集分开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批量任务更稳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最终覆盖全部目标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分批、保存进度、续跑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手机更好用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字段完整、桌面仍可用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共享重排与局部横滑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少调用接口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更正和缺口可发现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增量水位与定向补漏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3B5F70AC-13CF-4145-AAB7-B5B20B6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验收三个方向：当前案例、既有能力、同类范围</a:t>
            </a:r>
          </a:p>
        </p:txBody>
      </p:sp>
    </p:spTree>
    <p:extLst>
      <p:ext uri="{BB962C8B-B14F-4D97-AF65-F5344CB8AC3E}">
        <p14:creationId xmlns:p14="http://schemas.microsoft.com/office/powerpoint/2010/main" val="6916282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ABF041-6A4B-4309-BBE0-85E850C5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交给 AI 的任务契约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38B8D8-B2D2-410D-A20D-F12B7622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38A78A88-3DFA-4958-99D6-2B5F0B6A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93B81BD-D1E0-432A-9955-1B2B237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目标与边界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C640C1B2-C59D-4F10-AC2D-9BC87E4D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用户、场景、复现和完成标准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11234FE3-336A-4CCF-BAEB-D970D9E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DB408627-FCEA-4CA9-82DD-19E72CD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已有事实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FFD6750D-AFF1-42E4-A8C6-06295D02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288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基线、权威资料、事实与未知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B376289C-DE24-4AE5-8908-522BB04D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0A877440-E529-49B9-8295-0CD39EE0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完整影响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2004772C-108A-4427-9AC3-E9FFE5B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数据链路、权限、运行环境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8C96D202-A912-4BE5-872F-544E8D3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C015DDE5-D4B9-42B0-B2C4-7189F6F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共同约束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8ABDD6A5-4BF7-482F-92BF-00FA821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本次改善与必须保持的原能力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F81043B4-F83C-4051-B8C3-DAF5E42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3EF3180C-1AD6-451B-91B6-E9D8974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实施与协作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2B9CAF26-4434-4907-B7BB-6634217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57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复用入口、允许文件、集成负责人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F2E9CE95-7975-4EA3-AAD8-C78B006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4ABE0BDB-24B5-45CC-AFB8-3D2C88E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22D44D70-00B3-4332-8EFF-921832FA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33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检查结果、同类范围、知识与未完成</a:t>
            </a:r>
          </a:p>
        </p:txBody>
      </p:sp>
    </p:spTree>
    <p:extLst>
      <p:ext uri="{BB962C8B-B14F-4D97-AF65-F5344CB8AC3E}">
        <p14:creationId xmlns:p14="http://schemas.microsoft.com/office/powerpoint/2010/main" val="8149097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F2A96-8E49-4EBC-853A-72E3423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建站的起步顺序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854F5-7D5E-49AC-B03A-A528A11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12752DA0-65D5-4AB0-81DC-99B4115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0869FE3A-AAFF-485D-8245-11880F3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真实流程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CFAC6D70-EF48-4FD7-8E9A-6D758DF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526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核心用户、一次完整使用与业务条件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B6D78A76-EB11-4C8F-8AB9-0408BCA7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957D524B-0FD0-41BE-9558-22BFDC55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技术与职责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5A51A425-1893-41D4-9456-ADC059AC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选择架构，明确调用与数据归属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25521A13-117E-4D77-9653-AD9FCD7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2E366F27-04CF-4AE5-9992-6305198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数据契约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59C58802-B8F8-4490-AD8C-905204EA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字段、约束、增量与失败策略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0C610E44-2D1F-44F1-9D93-5DB1D7B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EC674EE1-F6EA-46B9-BD09-B75152A6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共享前端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B237BDD3-557E-4337-B0EE-FEA363F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814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代表性页面、公共样式与交互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40CB2AD1-EA9D-421B-A868-48C11B4A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46087FCC-78F0-45FD-9AD3-5195F4E3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完整交付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05110E21-792B-468C-901B-9CCF2DE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577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把一个功能走通到发布后的验收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6F625952-601E-41A5-B0DA-11F0F5C4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07588F1C-EB6D-482A-BB9C-34EEF7E6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知识入口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E2EA6A67-9ACC-4ED4-971D-5D335E7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规则、索引与架构；随后按需扩展</a:t>
            </a:r>
          </a:p>
        </p:txBody>
      </p:sp>
    </p:spTree>
    <p:extLst>
      <p:ext uri="{BB962C8B-B14F-4D97-AF65-F5344CB8AC3E}">
        <p14:creationId xmlns:p14="http://schemas.microsoft.com/office/powerpoint/2010/main" val="15088464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892F94-B5F0-4D16-88B0-88F96B6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资料与适用边界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CE065A-BD57-498E-8B07-188E0E59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sources-1">
            <a:extLst xmlns:a="http://schemas.openxmlformats.org/drawingml/2006/main">
              <a:ext uri="{FF2B5EF4-FFF2-40B4-BE49-F238E27FC236}">
                <a16:creationId xmlns:a16="http://schemas.microsoft.com/office/drawing/2014/main" id="{CA870952-95C3-4C0A-81EE-CEF34A8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分享正文</a:t>
            </a:r>
          </a:p>
        </p:txBody>
      </p:sp>
      <p:sp>
        <p:nvSpPr>
          <p:cNvPr id="4" name="source-md">
            <a:extLst xmlns:a="http://schemas.openxmlformats.org/drawingml/2006/main">
              <a:ext uri="{FF2B5EF4-FFF2-40B4-BE49-F238E27FC236}">
                <a16:creationId xmlns:a16="http://schemas.microsoft.com/office/drawing/2014/main" id="{1EE71F1E-4C52-4F89-AE87-B5B601F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21debdeb1f48dc"/>
              </a:rPr>
              <a:t>存在小站开发与 AI 协作经验分享</a:t>
            </a:r>
          </a:p>
        </p:txBody>
      </p:sp>
      <p:sp>
        <p:nvSpPr>
          <p:cNvPr id="5" name="sources-2">
            <a:extLst xmlns:a="http://schemas.openxmlformats.org/drawingml/2006/main">
              <a:ext uri="{FF2B5EF4-FFF2-40B4-BE49-F238E27FC236}">
                <a16:creationId xmlns:a16="http://schemas.microsoft.com/office/drawing/2014/main" id="{FA668154-BD54-4865-BAD9-B9413332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项目依据</a:t>
            </a:r>
          </a:p>
        </p:txBody>
      </p:sp>
      <p:sp>
        <p:nvSpPr>
          <p:cNvPr id="6" name="source-arch">
            <a:extLst xmlns:a="http://schemas.openxmlformats.org/drawingml/2006/main">
              <a:ext uri="{FF2B5EF4-FFF2-40B4-BE49-F238E27FC236}">
                <a16:creationId xmlns:a16="http://schemas.microsoft.com/office/drawing/2014/main" id="{A9DDA99D-4D49-44EC-87D3-E17B9CDF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技术架构、知识索引、决策与事故记录</a:t>
            </a:r>
          </a:p>
        </p:txBody>
      </p:sp>
      <p:sp>
        <p:nvSpPr>
          <p:cNvPr id="7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6D18DBA-DACD-43A1-8E65-E184E78D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新项目建议与既有能力分别说明；详细来源见各页讲者备注</a:t>
            </a:r>
          </a:p>
        </p:txBody>
      </p:sp>
    </p:spTree>
    <p:extLst>
      <p:ext uri="{BB962C8B-B14F-4D97-AF65-F5344CB8AC3E}">
        <p14:creationId xmlns:p14="http://schemas.microsoft.com/office/powerpoint/2010/main" val="1843685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2026-10-09T07:07:48.9870000Z</dcterms:created>
  <dcterms:modified xsi:type="dcterms:W3CDTF">2026-10-09T07:07:48.9870000Z</dcterms:modified>
</coreProperties>
</file>